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gif"/><Relationship Id="rId5" Type="http://schemas.openxmlformats.org/officeDocument/2006/relationships/image" Target="../media/image10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jpeg"/><Relationship Id="rId3" Type="http://schemas.openxmlformats.org/officeDocument/2006/relationships/image" Target="../media/image3.png"/><Relationship Id="rId4" Type="http://schemas.openxmlformats.org/officeDocument/2006/relationships/image" Target="../media/image20.jp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3.pn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jpe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3.pn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530280" y="98748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2026 </a:t>
            </a:r>
            <a:r>
              <a:rPr lang="zh-CN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30280" y="132588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3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线下答辩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67000" y="2011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智能体决策算法 </a:t>
            </a: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中部赛区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567000" y="2541960"/>
            <a:ext cx="3062880" cy="27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03360" y="288036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赛道信息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417320" y="288036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D01-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智能体决策算法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603360" y="32094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答辩团队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417320" y="32094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FedExing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603360" y="35388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团队编号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417320" y="3538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T2600875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603360" y="386784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演讲人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417320" y="3867840"/>
            <a:ext cx="356580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目录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 dirty="0">
                <a:solidFill>
                  <a:srgbClr val="ADCCE8"/>
                </a:solidFill>
                <a:effectLst/>
                <a:uFillTx/>
                <a:latin typeface="微软雅黑"/>
              </a:rPr>
              <a:t>02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四段式讲清：赛题、算法、创新、落地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93276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13400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93860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赛题理解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193860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从绝悟发展与赛题目标出发，明确智能体应学会什么。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632772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52896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733356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算法设计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733356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用网络、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PPO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、特征、奖励、工程五层构成训练闭环。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93276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113400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93860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创新挖掘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93860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解释每个设计为什么能提高样本效率和训练稳定性。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9"/>
          <p:cNvSpPr/>
          <p:nvPr/>
        </p:nvSpPr>
        <p:spPr>
          <a:xfrm>
            <a:off x="632772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652896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733356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未来展望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733356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给出可继续优化的算法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/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工程路线与泛化应用。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绝悟从模仿学习走向自博弈与通用智能体基座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6" name="Connector 7"/>
          <p:cNvCxnSpPr/>
          <p:nvPr/>
        </p:nvCxnSpPr>
        <p:spPr>
          <a:xfrm>
            <a:off x="1161000" y="2267640"/>
            <a:ext cx="9675000" cy="360"/>
          </a:xfrm>
          <a:prstGeom prst="straightConnector1">
            <a:avLst/>
          </a:prstGeom>
          <a:ln w="15240">
            <a:solidFill>
              <a:srgbClr val="00E5FF"/>
            </a:solidFill>
            <a:round/>
          </a:ln>
        </p:spPr>
      </p:cxnSp>
      <p:sp>
        <p:nvSpPr>
          <p:cNvPr id="107" name="Oval 8"/>
          <p:cNvSpPr/>
          <p:nvPr/>
        </p:nvSpPr>
        <p:spPr>
          <a:xfrm>
            <a:off x="8413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89604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0"/>
          <p:cNvSpPr/>
          <p:nvPr/>
        </p:nvSpPr>
        <p:spPr>
          <a:xfrm>
            <a:off x="45720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62172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监督学习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2172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复刻职业操作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跻身顶尖业余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val 13"/>
          <p:cNvSpPr/>
          <p:nvPr/>
        </p:nvSpPr>
        <p:spPr>
          <a:xfrm>
            <a:off x="29628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301752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5"/>
          <p:cNvSpPr/>
          <p:nvPr/>
        </p:nvSpPr>
        <p:spPr>
          <a:xfrm>
            <a:off x="25786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274320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自博弈强化学习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274320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个月完成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→ 5v5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进阶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18"/>
          <p:cNvSpPr/>
          <p:nvPr/>
        </p:nvSpPr>
        <p:spPr>
          <a:xfrm>
            <a:off x="50839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51390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20"/>
          <p:cNvSpPr/>
          <p:nvPr/>
        </p:nvSpPr>
        <p:spPr>
          <a:xfrm>
            <a:off x="47001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1"/>
          <p:cNvSpPr/>
          <p:nvPr/>
        </p:nvSpPr>
        <p:spPr>
          <a:xfrm>
            <a:off x="48646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全英雄开放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2"/>
          <p:cNvSpPr/>
          <p:nvPr/>
        </p:nvSpPr>
        <p:spPr>
          <a:xfrm>
            <a:off x="48646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 </a:t>
            </a: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96.2%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val 23"/>
          <p:cNvSpPr/>
          <p:nvPr/>
        </p:nvSpPr>
        <p:spPr>
          <a:xfrm>
            <a:off x="72054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4"/>
          <p:cNvSpPr/>
          <p:nvPr/>
        </p:nvSpPr>
        <p:spPr>
          <a:xfrm>
            <a:off x="726048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25"/>
          <p:cNvSpPr/>
          <p:nvPr/>
        </p:nvSpPr>
        <p:spPr>
          <a:xfrm>
            <a:off x="68212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698616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BP + </a:t>
            </a: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全局博弈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7"/>
          <p:cNvSpPr/>
          <p:nvPr/>
        </p:nvSpPr>
        <p:spPr>
          <a:xfrm>
            <a:off x="698616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BP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胜率测算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临场动态调策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28"/>
          <p:cNvSpPr/>
          <p:nvPr/>
        </p:nvSpPr>
        <p:spPr>
          <a:xfrm>
            <a:off x="932688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9"/>
          <p:cNvSpPr/>
          <p:nvPr/>
        </p:nvSpPr>
        <p:spPr>
          <a:xfrm>
            <a:off x="93816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2021+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30"/>
          <p:cNvSpPr/>
          <p:nvPr/>
        </p:nvSpPr>
        <p:spPr>
          <a:xfrm>
            <a:off x="89427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1"/>
          <p:cNvSpPr/>
          <p:nvPr/>
        </p:nvSpPr>
        <p:spPr>
          <a:xfrm>
            <a:off x="91072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跨场景基座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2"/>
          <p:cNvSpPr/>
          <p:nvPr/>
        </p:nvSpPr>
        <p:spPr>
          <a:xfrm>
            <a:off x="91072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从游戏到产业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多智能体泛化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33"/>
          <p:cNvSpPr/>
          <p:nvPr/>
        </p:nvSpPr>
        <p:spPr>
          <a:xfrm>
            <a:off x="93276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106992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96.2%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5"/>
          <p:cNvSpPr/>
          <p:nvPr/>
        </p:nvSpPr>
        <p:spPr>
          <a:xfrm>
            <a:off x="106992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2020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高难模式胜率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6"/>
          <p:cNvSpPr/>
          <p:nvPr/>
        </p:nvSpPr>
        <p:spPr>
          <a:xfrm>
            <a:off x="306324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7"/>
          <p:cNvSpPr/>
          <p:nvPr/>
        </p:nvSpPr>
        <p:spPr>
          <a:xfrm>
            <a:off x="320040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3</a:t>
            </a:r>
            <a:r>
              <a:rPr lang="zh-CN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个月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8"/>
          <p:cNvSpPr/>
          <p:nvPr/>
        </p:nvSpPr>
        <p:spPr>
          <a:xfrm>
            <a:off x="320040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到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5v5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39"/>
          <p:cNvSpPr/>
          <p:nvPr/>
        </p:nvSpPr>
        <p:spPr>
          <a:xfrm>
            <a:off x="519372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0"/>
          <p:cNvSpPr/>
          <p:nvPr/>
        </p:nvSpPr>
        <p:spPr>
          <a:xfrm>
            <a:off x="533088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BP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1"/>
          <p:cNvSpPr/>
          <p:nvPr/>
        </p:nvSpPr>
        <p:spPr>
          <a:xfrm>
            <a:off x="533088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临场动态决策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核心目标不是“会动”，而是围绕推塔目标形成可迁移策略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841320" y="1297764"/>
            <a:ext cx="11153211" cy="9140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1051919" y="166409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训练目标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2011680" y="1617267"/>
            <a:ext cx="943980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让 </a:t>
            </a:r>
            <a:r>
              <a:rPr lang="en-US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agent </a:t>
            </a: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在训练中逐渐感知英雄身份、理解游戏特性，并把操作选择收敛到“率先推掉敌方第一座塔”。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84132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100584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基本操作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100584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开局走中、保持距离、减少受控与被击、残血撤退、跟随兵线进塔。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452628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469080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进阶博弈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469080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技能连招、释放时机、拿血包、打野怪、越塔强杀、塔外磨塔、硬推塔。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821124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837576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现实约束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837576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算力与时间有限，设计必须提升训练效率，并平衡效果、稳定性与可复现。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or 19"/>
          <p:cNvCxnSpPr/>
          <p:nvPr/>
        </p:nvCxnSpPr>
        <p:spPr>
          <a:xfrm>
            <a:off x="2423160" y="4069080"/>
            <a:ext cx="360" cy="82332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cxnSp>
        <p:nvCxnSpPr>
          <p:cNvPr id="160" name="Connector 20"/>
          <p:cNvCxnSpPr/>
          <p:nvPr/>
        </p:nvCxnSpPr>
        <p:spPr>
          <a:xfrm>
            <a:off x="6098760" y="4069080"/>
            <a:ext cx="360" cy="82332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cxnSp>
        <p:nvCxnSpPr>
          <p:cNvPr id="161" name="Connector 21"/>
          <p:cNvCxnSpPr/>
          <p:nvPr/>
        </p:nvCxnSpPr>
        <p:spPr>
          <a:xfrm>
            <a:off x="9784080" y="4069080"/>
            <a:ext cx="360" cy="823320"/>
          </a:xfrm>
          <a:prstGeom prst="straightConnector1">
            <a:avLst/>
          </a:prstGeom>
          <a:ln w="17780">
            <a:solidFill>
              <a:srgbClr val="FFBE4A"/>
            </a:solidFill>
            <a:round/>
          </a:ln>
        </p:spPr>
      </p:cxnSp>
      <p:sp>
        <p:nvSpPr>
          <p:cNvPr id="162" name="Rounded Rectangle 22"/>
          <p:cNvSpPr/>
          <p:nvPr/>
        </p:nvSpPr>
        <p:spPr>
          <a:xfrm>
            <a:off x="2011680" y="4892040"/>
            <a:ext cx="8137800" cy="74952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2286000" y="510228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设计原则：把先验知识写进观测、动作偏置、奖励分组和训练工程，而不是只堆训练轮次。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五层闭环把 </a:t>
            </a: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从“能训练”推进到“可诊断、可恢复、可扩展”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0" name="Connector 7"/>
          <p:cNvCxnSpPr/>
          <p:nvPr/>
        </p:nvCxnSpPr>
        <p:spPr>
          <a:xfrm>
            <a:off x="2359080" y="1892520"/>
            <a:ext cx="3712680" cy="1171080"/>
          </a:xfrm>
          <a:prstGeom prst="straightConnector1">
            <a:avLst/>
          </a:prstGeom>
          <a:ln w="12700">
            <a:solidFill>
              <a:srgbClr val="00E5FF"/>
            </a:solidFill>
            <a:round/>
          </a:ln>
        </p:spPr>
      </p:cxnSp>
      <p:cxnSp>
        <p:nvCxnSpPr>
          <p:cNvPr id="171" name="Connector 8"/>
          <p:cNvCxnSpPr/>
          <p:nvPr/>
        </p:nvCxnSpPr>
        <p:spPr>
          <a:xfrm flipH="1">
            <a:off x="6071400" y="1892520"/>
            <a:ext cx="3466080" cy="1171080"/>
          </a:xfrm>
          <a:prstGeom prst="straightConnector1">
            <a:avLst/>
          </a:prstGeom>
          <a:ln w="12700">
            <a:solidFill>
              <a:srgbClr val="7C5CFF"/>
            </a:solidFill>
            <a:round/>
          </a:ln>
        </p:spPr>
      </p:cxnSp>
      <p:cxnSp>
        <p:nvCxnSpPr>
          <p:cNvPr id="172" name="Connector 9"/>
          <p:cNvCxnSpPr/>
          <p:nvPr/>
        </p:nvCxnSpPr>
        <p:spPr>
          <a:xfrm flipV="1">
            <a:off x="2359080" y="3063240"/>
            <a:ext cx="3712680" cy="1673640"/>
          </a:xfrm>
          <a:prstGeom prst="straightConnector1">
            <a:avLst/>
          </a:prstGeom>
          <a:ln w="12700">
            <a:solidFill>
              <a:srgbClr val="00ADFF"/>
            </a:solidFill>
            <a:round/>
          </a:ln>
        </p:spPr>
      </p:cxnSp>
      <p:cxnSp>
        <p:nvCxnSpPr>
          <p:cNvPr id="173" name="Connector 10"/>
          <p:cNvCxnSpPr/>
          <p:nvPr/>
        </p:nvCxnSpPr>
        <p:spPr>
          <a:xfrm flipH="1" flipV="1">
            <a:off x="6071400" y="3063240"/>
            <a:ext cx="3466080" cy="1673640"/>
          </a:xfrm>
          <a:prstGeom prst="straightConnector1">
            <a:avLst/>
          </a:prstGeom>
          <a:ln w="12700">
            <a:solidFill>
              <a:srgbClr val="FFBE4A"/>
            </a:solidFill>
            <a:round/>
          </a:ln>
        </p:spPr>
      </p:cxnSp>
      <p:cxnSp>
        <p:nvCxnSpPr>
          <p:cNvPr id="174" name="Connector 11"/>
          <p:cNvCxnSpPr/>
          <p:nvPr/>
        </p:nvCxnSpPr>
        <p:spPr>
          <a:xfrm flipV="1">
            <a:off x="5221080" y="3063240"/>
            <a:ext cx="850680" cy="2240640"/>
          </a:xfrm>
          <a:prstGeom prst="straightConnector1">
            <a:avLst/>
          </a:prstGeom>
          <a:ln w="12700">
            <a:solidFill>
              <a:srgbClr val="C6FF4E"/>
            </a:solidFill>
            <a:round/>
          </a:ln>
        </p:spPr>
      </p:cxnSp>
      <p:sp>
        <p:nvSpPr>
          <p:cNvPr id="175" name="Hexagon 12"/>
          <p:cNvSpPr/>
          <p:nvPr/>
        </p:nvSpPr>
        <p:spPr>
          <a:xfrm>
            <a:off x="4681800" y="2331720"/>
            <a:ext cx="2788560" cy="1462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5102280" y="267912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高效 </a:t>
            </a:r>
            <a:r>
              <a:rPr lang="en-US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PPO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智能体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91440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107892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107892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MLP + LSTM + Multi-Head 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809244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825696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PPO </a:t>
            </a:r>
            <a:r>
              <a:rPr lang="zh-CN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核心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825696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Clip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熵正则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梯度裁剪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91440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107892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特征工程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107892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：位置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数值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实体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809244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825696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奖励设计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825696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Reward Groups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零和机制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3776400" y="4827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3940920" y="4965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系统工程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3940920" y="5303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Workflow + Config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监控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断点恢复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575999" y="713160"/>
            <a:ext cx="859675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实体专属编码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时序公共特征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多头输出，让策略同时理解对象</a:t>
            </a:r>
            <a:r>
              <a:rPr lang="zh-CN" alt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和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目标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7131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8413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5</a:t>
            </a:r>
            <a:r>
              <a:rPr lang="zh-CN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类实体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83196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英雄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小兵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塔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子弹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河道蟹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Connector 10"/>
          <p:cNvCxnSpPr/>
          <p:nvPr/>
        </p:nvCxnSpPr>
        <p:spPr>
          <a:xfrm>
            <a:off x="2130480" y="2806920"/>
            <a:ext cx="3567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02" name="Rounded Rectangle 11"/>
          <p:cNvSpPr/>
          <p:nvPr/>
        </p:nvSpPr>
        <p:spPr>
          <a:xfrm>
            <a:off x="24872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261504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专属 </a:t>
            </a:r>
            <a:r>
              <a:rPr lang="en-US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MLP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26060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32–128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友敌独立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14"/>
          <p:cNvCxnSpPr/>
          <p:nvPr/>
        </p:nvCxnSpPr>
        <p:spPr>
          <a:xfrm>
            <a:off x="3904200" y="2806920"/>
            <a:ext cx="357120" cy="360"/>
          </a:xfrm>
          <a:prstGeom prst="straightConnector1">
            <a:avLst/>
          </a:prstGeom>
          <a:ln w="17780">
            <a:solidFill>
              <a:srgbClr val="00ADFF"/>
            </a:solidFill>
            <a:round/>
          </a:ln>
        </p:spPr>
      </p:cxnSp>
      <p:sp>
        <p:nvSpPr>
          <p:cNvPr id="206" name="Rounded Rectangle 15"/>
          <p:cNvSpPr/>
          <p:nvPr/>
        </p:nvSpPr>
        <p:spPr>
          <a:xfrm>
            <a:off x="42609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6"/>
          <p:cNvSpPr/>
          <p:nvPr/>
        </p:nvSpPr>
        <p:spPr>
          <a:xfrm>
            <a:off x="43891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时序融合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43801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Concat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LSTM(512)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18"/>
          <p:cNvCxnSpPr/>
          <p:nvPr/>
        </p:nvCxnSpPr>
        <p:spPr>
          <a:xfrm>
            <a:off x="5678280" y="2806920"/>
            <a:ext cx="35712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10" name="Rounded Rectangle 19"/>
          <p:cNvSpPr/>
          <p:nvPr/>
        </p:nvSpPr>
        <p:spPr>
          <a:xfrm>
            <a:off x="60350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616320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公共特征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61538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dim_public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256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3" name="Connector 22"/>
          <p:cNvCxnSpPr/>
          <p:nvPr/>
        </p:nvCxnSpPr>
        <p:spPr>
          <a:xfrm>
            <a:off x="7452360" y="2806920"/>
            <a:ext cx="3567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14" name="Rounded Rectangle 23"/>
          <p:cNvSpPr/>
          <p:nvPr/>
        </p:nvSpPr>
        <p:spPr>
          <a:xfrm>
            <a:off x="780912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4"/>
          <p:cNvSpPr/>
          <p:nvPr/>
        </p:nvSpPr>
        <p:spPr>
          <a:xfrm>
            <a:off x="79369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输出头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5"/>
          <p:cNvSpPr/>
          <p:nvPr/>
        </p:nvSpPr>
        <p:spPr>
          <a:xfrm>
            <a:off x="79279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Value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6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维组合动作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26"/>
          <p:cNvSpPr/>
          <p:nvPr/>
        </p:nvSpPr>
        <p:spPr>
          <a:xfrm>
            <a:off x="9711000" y="1815120"/>
            <a:ext cx="1782720" cy="19648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9900000" y="2093400"/>
            <a:ext cx="1453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动作先验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8"/>
          <p:cNvSpPr/>
          <p:nvPr/>
        </p:nvSpPr>
        <p:spPr>
          <a:xfrm>
            <a:off x="9875520" y="2520000"/>
            <a:ext cx="1453680" cy="5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Target Embedding +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动态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Bias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：基于血量、距离、存在性在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logits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注入偏好，冷启动更快。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9"/>
          <p:cNvSpPr/>
          <p:nvPr/>
        </p:nvSpPr>
        <p:spPr>
          <a:xfrm>
            <a:off x="1097280" y="4663440"/>
            <a:ext cx="9966600" cy="712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1344240" y="48920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关键收益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1"/>
          <p:cNvSpPr/>
          <p:nvPr/>
        </p:nvSpPr>
        <p:spPr>
          <a:xfrm>
            <a:off x="2148840" y="4883760"/>
            <a:ext cx="84578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</a:t>
            </a:r>
            <a:r>
              <a:rPr lang="zh-CN" alt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语义分离避免参数干扰；多任务价值头让 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farm / </a:t>
            </a:r>
            <a:r>
              <a:rPr lang="en-US" sz="12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kda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/ damage / push / state 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可分项诊断。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更新被做成有护栏的闭环：限制步长、保留探索、监控崩溃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7"/>
          <p:cNvSpPr/>
          <p:nvPr/>
        </p:nvSpPr>
        <p:spPr>
          <a:xfrm>
            <a:off x="78624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95112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Clip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98748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ε = 0.2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约束策略更新幅度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10"/>
          <p:cNvCxnSpPr/>
          <p:nvPr/>
        </p:nvCxnSpPr>
        <p:spPr>
          <a:xfrm>
            <a:off x="3117960" y="243216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33" name="Rounded Rectangle 11"/>
          <p:cNvSpPr/>
          <p:nvPr/>
        </p:nvSpPr>
        <p:spPr>
          <a:xfrm>
            <a:off x="357516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2"/>
          <p:cNvSpPr/>
          <p:nvPr/>
        </p:nvSpPr>
        <p:spPr>
          <a:xfrm>
            <a:off x="374004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熵正则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3"/>
          <p:cNvSpPr/>
          <p:nvPr/>
        </p:nvSpPr>
        <p:spPr>
          <a:xfrm>
            <a:off x="377640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0.005 → 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线性退火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Connector 14"/>
          <p:cNvCxnSpPr/>
          <p:nvPr/>
        </p:nvCxnSpPr>
        <p:spPr>
          <a:xfrm>
            <a:off x="5906880" y="243216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37" name="Rounded Rectangle 15"/>
          <p:cNvSpPr/>
          <p:nvPr/>
        </p:nvSpPr>
        <p:spPr>
          <a:xfrm>
            <a:off x="636408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652896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梯度护栏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7"/>
          <p:cNvSpPr/>
          <p:nvPr/>
        </p:nvSpPr>
        <p:spPr>
          <a:xfrm>
            <a:off x="656532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梯度裁剪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1e-4 → 5e-5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Connector 18"/>
          <p:cNvCxnSpPr/>
          <p:nvPr/>
        </p:nvCxnSpPr>
        <p:spPr>
          <a:xfrm>
            <a:off x="8695800" y="243216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41" name="Rounded Rectangle 19"/>
          <p:cNvSpPr/>
          <p:nvPr/>
        </p:nvSpPr>
        <p:spPr>
          <a:xfrm>
            <a:off x="915300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931788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监控恢复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1"/>
          <p:cNvSpPr/>
          <p:nvPr/>
        </p:nvSpPr>
        <p:spPr>
          <a:xfrm>
            <a:off x="935424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散度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 state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断点续训不重置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22"/>
          <p:cNvSpPr/>
          <p:nvPr/>
        </p:nvSpPr>
        <p:spPr>
          <a:xfrm>
            <a:off x="987480" y="3977640"/>
            <a:ext cx="484596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3"/>
          <p:cNvSpPr/>
          <p:nvPr/>
        </p:nvSpPr>
        <p:spPr>
          <a:xfrm>
            <a:off x="1234440" y="42062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多任务优势融合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4"/>
          <p:cNvSpPr/>
          <p:nvPr/>
        </p:nvSpPr>
        <p:spPr>
          <a:xfrm>
            <a:off x="1234440" y="4553640"/>
            <a:ext cx="418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头独立计算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Advantage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，再按权重融合，减少单一价值函数对多目标任务的拉扯。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5"/>
          <p:cNvSpPr/>
          <p:nvPr/>
        </p:nvSpPr>
        <p:spPr>
          <a:xfrm>
            <a:off x="6327720" y="3977640"/>
            <a:ext cx="480024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6"/>
          <p:cNvSpPr/>
          <p:nvPr/>
        </p:nvSpPr>
        <p:spPr>
          <a:xfrm>
            <a:off x="6565320" y="420624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训练安全性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7"/>
          <p:cNvSpPr/>
          <p:nvPr/>
        </p:nvSpPr>
        <p:spPr>
          <a:xfrm>
            <a:off x="6565320" y="4553640"/>
            <a:ext cx="4096080" cy="166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双侧截断 ，配合梯度与熵退火监控，提前发现策略崩溃。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同时保留局部关系、全局地图语义与连续数值细节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7"/>
          <p:cNvSpPr/>
          <p:nvPr/>
        </p:nvSpPr>
        <p:spPr>
          <a:xfrm>
            <a:off x="2261488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8"/>
          <p:cNvSpPr/>
          <p:nvPr/>
        </p:nvSpPr>
        <p:spPr>
          <a:xfrm>
            <a:off x="2590530" y="1795120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双重位置编码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2590530" y="2171793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相对位置：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41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全局位置：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30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残差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兼顾局部对位与地图控制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6821912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7261834" y="1772956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数值分桶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7261834" y="2146548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HP / EP / Money / CD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离散桶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比例值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边界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保留阶段语义与连续信息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1280160" y="4434840"/>
            <a:ext cx="9555120" cy="868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7"/>
          <p:cNvSpPr/>
          <p:nvPr/>
        </p:nvSpPr>
        <p:spPr>
          <a:xfrm>
            <a:off x="1952403" y="471918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设计取舍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8"/>
          <p:cNvSpPr/>
          <p:nvPr/>
        </p:nvSpPr>
        <p:spPr>
          <a:xfrm>
            <a:off x="2577573" y="4680937"/>
            <a:ext cx="786348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特征不是简单堆维度，而是把“距离、阶段”拆成网络容易学习的稳定信号。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" descr="image1.png"/>
          <p:cNvPicPr/>
          <p:nvPr/>
        </p:nvPicPr>
        <p:blipFill>
          <a:blip r:embed="rId2"/>
          <a:stretch/>
        </p:blipFill>
        <p:spPr>
          <a:xfrm>
            <a:off x="240" y="275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21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项奖励压缩成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组可诊断目标，并通过零和差分对齐对抗任务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ounded Rectangle 7"/>
          <p:cNvSpPr/>
          <p:nvPr/>
        </p:nvSpPr>
        <p:spPr>
          <a:xfrm>
            <a:off x="8776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8"/>
          <p:cNvSpPr/>
          <p:nvPr/>
        </p:nvSpPr>
        <p:spPr>
          <a:xfrm>
            <a:off x="104256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farm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9"/>
          <p:cNvSpPr/>
          <p:nvPr/>
        </p:nvSpPr>
        <p:spPr>
          <a:xfrm>
            <a:off x="104256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经济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0"/>
          <p:cNvSpPr/>
          <p:nvPr/>
        </p:nvSpPr>
        <p:spPr>
          <a:xfrm>
            <a:off x="30358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1"/>
          <p:cNvSpPr/>
          <p:nvPr/>
        </p:nvSpPr>
        <p:spPr>
          <a:xfrm>
            <a:off x="320040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kda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2"/>
          <p:cNvSpPr/>
          <p:nvPr/>
        </p:nvSpPr>
        <p:spPr>
          <a:xfrm>
            <a:off x="320040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战斗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3"/>
          <p:cNvSpPr/>
          <p:nvPr/>
        </p:nvSpPr>
        <p:spPr>
          <a:xfrm>
            <a:off x="51937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4"/>
          <p:cNvSpPr/>
          <p:nvPr/>
        </p:nvSpPr>
        <p:spPr>
          <a:xfrm>
            <a:off x="53582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damage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5"/>
          <p:cNvSpPr/>
          <p:nvPr/>
        </p:nvSpPr>
        <p:spPr>
          <a:xfrm>
            <a:off x="53582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伤害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6"/>
          <p:cNvSpPr/>
          <p:nvPr/>
        </p:nvSpPr>
        <p:spPr>
          <a:xfrm>
            <a:off x="73519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7"/>
          <p:cNvSpPr/>
          <p:nvPr/>
        </p:nvSpPr>
        <p:spPr>
          <a:xfrm>
            <a:off x="75164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push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8"/>
          <p:cNvSpPr/>
          <p:nvPr/>
        </p:nvSpPr>
        <p:spPr>
          <a:xfrm>
            <a:off x="75164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推进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19"/>
          <p:cNvSpPr/>
          <p:nvPr/>
        </p:nvSpPr>
        <p:spPr>
          <a:xfrm>
            <a:off x="950976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0"/>
          <p:cNvSpPr/>
          <p:nvPr/>
        </p:nvSpPr>
        <p:spPr>
          <a:xfrm>
            <a:off x="967428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1"/>
          <p:cNvSpPr/>
          <p:nvPr/>
        </p:nvSpPr>
        <p:spPr>
          <a:xfrm>
            <a:off x="967428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状态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2"/>
          <p:cNvSpPr/>
          <p:nvPr/>
        </p:nvSpPr>
        <p:spPr>
          <a:xfrm>
            <a:off x="1120371" y="3236940"/>
            <a:ext cx="484596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3"/>
          <p:cNvSpPr/>
          <p:nvPr/>
        </p:nvSpPr>
        <p:spPr>
          <a:xfrm>
            <a:off x="1385640" y="3751085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零和机制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4"/>
          <p:cNvSpPr/>
          <p:nvPr/>
        </p:nvSpPr>
        <p:spPr>
          <a:xfrm>
            <a:off x="2391480" y="3642697"/>
            <a:ext cx="32457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-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=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最终奖励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一阶差分作为本帧奖励增量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5"/>
          <p:cNvSpPr/>
          <p:nvPr/>
        </p:nvSpPr>
        <p:spPr>
          <a:xfrm>
            <a:off x="6373389" y="3209760"/>
            <a:ext cx="452592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26"/>
          <p:cNvSpPr/>
          <p:nvPr/>
        </p:nvSpPr>
        <p:spPr>
          <a:xfrm>
            <a:off x="6615720" y="377640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关键权重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7"/>
          <p:cNvSpPr/>
          <p:nvPr/>
        </p:nvSpPr>
        <p:spPr>
          <a:xfrm>
            <a:off x="7543800" y="3456360"/>
            <a:ext cx="150840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8"/>
          <p:cNvSpPr/>
          <p:nvPr/>
        </p:nvSpPr>
        <p:spPr>
          <a:xfrm>
            <a:off x="7598520" y="3488400"/>
            <a:ext cx="13986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C6FF4E"/>
                </a:solidFill>
                <a:effectLst/>
                <a:uFillTx/>
                <a:latin typeface="微软雅黑"/>
              </a:rPr>
              <a:t>tower_hp_point</a:t>
            </a:r>
            <a:r>
              <a:rPr lang="en-US" sz="88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 5.0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9"/>
          <p:cNvSpPr/>
          <p:nvPr/>
        </p:nvSpPr>
        <p:spPr>
          <a:xfrm>
            <a:off x="9189720" y="3456360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30"/>
          <p:cNvSpPr/>
          <p:nvPr/>
        </p:nvSpPr>
        <p:spPr>
          <a:xfrm>
            <a:off x="9244440" y="34884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00E5FF"/>
                </a:solidFill>
                <a:effectLst/>
                <a:uFillTx/>
                <a:latin typeface="微软雅黑"/>
              </a:rPr>
              <a:t>win_loss</a:t>
            </a:r>
            <a:r>
              <a:rPr lang="en-US" sz="88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31"/>
          <p:cNvSpPr/>
          <p:nvPr/>
        </p:nvSpPr>
        <p:spPr>
          <a:xfrm>
            <a:off x="7598520" y="3900800"/>
            <a:ext cx="114264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32"/>
          <p:cNvSpPr/>
          <p:nvPr/>
        </p:nvSpPr>
        <p:spPr>
          <a:xfrm>
            <a:off x="7598520" y="3945600"/>
            <a:ext cx="1032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7C5CFF"/>
                </a:solidFill>
                <a:effectLst/>
                <a:uFillTx/>
                <a:latin typeface="微软雅黑"/>
              </a:rPr>
              <a:t>hp_point</a:t>
            </a:r>
            <a:r>
              <a:rPr lang="en-US" sz="880" b="1" u="none" strike="noStrike" dirty="0">
                <a:solidFill>
                  <a:srgbClr val="7C5C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33"/>
          <p:cNvSpPr/>
          <p:nvPr/>
        </p:nvSpPr>
        <p:spPr>
          <a:xfrm>
            <a:off x="9244440" y="3894731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4"/>
          <p:cNvSpPr/>
          <p:nvPr/>
        </p:nvSpPr>
        <p:spPr>
          <a:xfrm>
            <a:off x="9221940" y="39456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death -1.2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35"/>
          <p:cNvSpPr/>
          <p:nvPr/>
        </p:nvSpPr>
        <p:spPr>
          <a:xfrm>
            <a:off x="1234440" y="5193720"/>
            <a:ext cx="9692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推进目标成为最强信号，战斗与状态奖励服务于推塔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训练工程把模型迭代、对手采样、监控和恢复做成稳定流水线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7"/>
          <p:cNvSpPr/>
          <p:nvPr/>
        </p:nvSpPr>
        <p:spPr>
          <a:xfrm>
            <a:off x="777240" y="1828800"/>
            <a:ext cx="2331360" cy="11872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8"/>
          <p:cNvSpPr/>
          <p:nvPr/>
        </p:nvSpPr>
        <p:spPr>
          <a:xfrm>
            <a:off x="94176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对手池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94176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85% selfplay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15% common_ai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30%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历史模型采样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Connector 10"/>
          <p:cNvCxnSpPr/>
          <p:nvPr/>
        </p:nvCxnSpPr>
        <p:spPr>
          <a:xfrm>
            <a:off x="3108960" y="263340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313" name="Rounded Rectangle 11"/>
          <p:cNvSpPr/>
          <p:nvPr/>
        </p:nvSpPr>
        <p:spPr>
          <a:xfrm>
            <a:off x="3566160" y="1828800"/>
            <a:ext cx="2331360" cy="12704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373068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训练循环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3"/>
          <p:cNvSpPr/>
          <p:nvPr/>
        </p:nvSpPr>
        <p:spPr>
          <a:xfrm>
            <a:off x="373068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更新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多头价值诊断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合法动作比例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Connector 14"/>
          <p:cNvCxnSpPr/>
          <p:nvPr/>
        </p:nvCxnSpPr>
        <p:spPr>
          <a:xfrm>
            <a:off x="5897520" y="263340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317" name="Rounded Rectangle 15"/>
          <p:cNvSpPr/>
          <p:nvPr/>
        </p:nvSpPr>
        <p:spPr>
          <a:xfrm>
            <a:off x="6355080" y="1828800"/>
            <a:ext cx="2331360" cy="12693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6"/>
          <p:cNvSpPr/>
          <p:nvPr/>
        </p:nvSpPr>
        <p:spPr>
          <a:xfrm>
            <a:off x="651960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60s </a:t>
            </a:r>
            <a:r>
              <a:rPr lang="zh-CN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监控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7"/>
          <p:cNvSpPr/>
          <p:nvPr/>
        </p:nvSpPr>
        <p:spPr>
          <a:xfrm>
            <a:off x="651960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value_loss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KL / gradient_norm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18"/>
          <p:cNvCxnSpPr/>
          <p:nvPr/>
        </p:nvCxnSpPr>
        <p:spPr>
          <a:xfrm>
            <a:off x="8686800" y="263340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321" name="Rounded Rectangle 19"/>
          <p:cNvSpPr/>
          <p:nvPr/>
        </p:nvSpPr>
        <p:spPr>
          <a:xfrm>
            <a:off x="9144000" y="1828800"/>
            <a:ext cx="2331360" cy="12679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0"/>
          <p:cNvSpPr/>
          <p:nvPr/>
        </p:nvSpPr>
        <p:spPr>
          <a:xfrm>
            <a:off x="930852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断点恢复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1"/>
          <p:cNvSpPr/>
          <p:nvPr/>
        </p:nvSpPr>
        <p:spPr>
          <a:xfrm>
            <a:off x="930852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Disaster Recovery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崩溃续接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退火进度安全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22"/>
          <p:cNvSpPr/>
          <p:nvPr/>
        </p:nvSpPr>
        <p:spPr>
          <a:xfrm>
            <a:off x="1234440" y="4526280"/>
            <a:ext cx="9673920" cy="822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3"/>
          <p:cNvSpPr/>
          <p:nvPr/>
        </p:nvSpPr>
        <p:spPr>
          <a:xfrm>
            <a:off x="1499760" y="47916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核心亮点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4"/>
          <p:cNvSpPr/>
          <p:nvPr/>
        </p:nvSpPr>
        <p:spPr>
          <a:xfrm>
            <a:off x="2491078" y="476874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多任务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友敌独立编码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双重位置编码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零和奖励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Resume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安全退火。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网络创新的核心，是把“对谁、在哪里、打谁”写进结构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7"/>
          <p:cNvSpPr/>
          <p:nvPr/>
        </p:nvSpPr>
        <p:spPr>
          <a:xfrm>
            <a:off x="817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1116000" y="2881091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友敌独立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FC </a:t>
            </a: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1116000" y="3452888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友方低血量意味着撤退，敌方低血量意味着追击；语义对称但行为相反，共享参数会互相干扰。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0"/>
          <p:cNvSpPr/>
          <p:nvPr/>
        </p:nvSpPr>
        <p:spPr>
          <a:xfrm>
            <a:off x="4441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4699627" y="2877740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双重位置编码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2"/>
          <p:cNvSpPr/>
          <p:nvPr/>
        </p:nvSpPr>
        <p:spPr>
          <a:xfrm>
            <a:off x="4699627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相对位置学习对位关系，全局位置学习地图控制；两套语义互补，避免单一编码偏置。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13"/>
          <p:cNvSpPr/>
          <p:nvPr/>
        </p:nvSpPr>
        <p:spPr>
          <a:xfrm>
            <a:off x="816696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4"/>
          <p:cNvSpPr/>
          <p:nvPr/>
        </p:nvSpPr>
        <p:spPr>
          <a:xfrm>
            <a:off x="8394480" y="2876606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动态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Target Bias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5"/>
          <p:cNvSpPr/>
          <p:nvPr/>
        </p:nvSpPr>
        <p:spPr>
          <a:xfrm>
            <a:off x="8348040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在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logits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中加入“血量低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+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距离近”先验偏置，冷启动阶段更容易探索有效攻击对象。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576000" y="713160"/>
            <a:ext cx="901656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让 </a:t>
            </a: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PPO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在多目标对抗中稳定更新，而不是被单一奖励或异常梯度带偏。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9044280" y="1984320"/>
            <a:ext cx="147024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360" b="1" u="none" strike="noStrike">
              <a:solidFill>
                <a:srgbClr val="C6FF4E"/>
              </a:solidFill>
              <a:effectLst/>
              <a:uFillTx/>
              <a:latin typeface="微软雅黑"/>
            </a:endParaRPr>
          </a:p>
        </p:txBody>
      </p:sp>
      <p:sp>
        <p:nvSpPr>
          <p:cNvPr id="349" name="TextBox 15"/>
          <p:cNvSpPr/>
          <p:nvPr/>
        </p:nvSpPr>
        <p:spPr>
          <a:xfrm>
            <a:off x="8321040" y="2418120"/>
            <a:ext cx="29167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400" b="0" u="none" strike="noStrike">
              <a:solidFill>
                <a:srgbClr val="F5FAFF"/>
              </a:solidFill>
              <a:effectLst/>
              <a:uFillTx/>
              <a:latin typeface="方正粗黑宋简体"/>
            </a:endParaRPr>
          </a:p>
        </p:txBody>
      </p:sp>
      <p:pic>
        <p:nvPicPr>
          <p:cNvPr id="350" name="图片 23" descr="ppo_core_vertical_02_resume_entropy_anneal"/>
          <p:cNvPicPr/>
          <p:nvPr/>
        </p:nvPicPr>
        <p:blipFill>
          <a:blip r:embed="rId4"/>
          <a:stretch/>
        </p:blipFill>
        <p:spPr>
          <a:xfrm>
            <a:off x="1954440" y="1171440"/>
            <a:ext cx="3098520" cy="482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图片 24" descr="ppo_core_vertical_03_multitask_advantage"/>
          <p:cNvPicPr/>
          <p:nvPr/>
        </p:nvPicPr>
        <p:blipFill>
          <a:blip r:embed="rId5"/>
          <a:stretch/>
        </p:blipFill>
        <p:spPr>
          <a:xfrm>
            <a:off x="6714360" y="1139760"/>
            <a:ext cx="3118680" cy="485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特征创新用“双通道”保留阶段语义和连续细节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图片 7" descr="feature_code_vertical_01_dual_numeric_encoding"/>
          <p:cNvPicPr/>
          <p:nvPr/>
        </p:nvPicPr>
        <p:blipFill>
          <a:blip r:embed="rId4"/>
          <a:stretch/>
        </p:blipFill>
        <p:spPr>
          <a:xfrm>
            <a:off x="490680" y="1029240"/>
            <a:ext cx="3637440" cy="565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图片 8" descr="feature_code_vertical_02_money_delta"/>
          <p:cNvPicPr/>
          <p:nvPr/>
        </p:nvPicPr>
        <p:blipFill>
          <a:blip r:embed="rId5"/>
          <a:stretch/>
        </p:blipFill>
        <p:spPr>
          <a:xfrm>
            <a:off x="4328640" y="1020600"/>
            <a:ext cx="3647880" cy="567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图片 9" descr="feature_code_vertical_03_refresh_timer"/>
          <p:cNvPicPr/>
          <p:nvPr/>
        </p:nvPicPr>
        <p:blipFill>
          <a:blip r:embed="rId6"/>
          <a:stretch/>
        </p:blipFill>
        <p:spPr>
          <a:xfrm>
            <a:off x="8177040" y="1018440"/>
            <a:ext cx="3654720" cy="568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奖励创新把稀疏胜负拆成可学习、可诊断、可反摆烂的信号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67" name="组合 18"/>
          <p:cNvGrpSpPr/>
          <p:nvPr/>
        </p:nvGrpSpPr>
        <p:grpSpPr>
          <a:xfrm>
            <a:off x="612720" y="1296000"/>
            <a:ext cx="3128400" cy="1573200"/>
            <a:chOff x="612720" y="1296000"/>
            <a:chExt cx="3128400" cy="1573200"/>
          </a:xfrm>
        </p:grpSpPr>
        <p:sp>
          <p:nvSpPr>
            <p:cNvPr id="368" name="Rounded Rectangle 7"/>
            <p:cNvSpPr/>
            <p:nvPr/>
          </p:nvSpPr>
          <p:spPr>
            <a:xfrm>
              <a:off x="612720" y="1296000"/>
              <a:ext cx="3128400" cy="157320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9" name="TextBox 8"/>
            <p:cNvSpPr/>
            <p:nvPr/>
          </p:nvSpPr>
          <p:spPr>
            <a:xfrm>
              <a:off x="1433520" y="1583280"/>
              <a:ext cx="170100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多任务分组奖励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Box 9"/>
            <p:cNvSpPr/>
            <p:nvPr/>
          </p:nvSpPr>
          <p:spPr>
            <a:xfrm>
              <a:off x="771120" y="1937520"/>
              <a:ext cx="2811240" cy="43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21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项原始奖励归为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组，对应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个独立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Value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头，可定位能力短板。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1" name="组合 20"/>
          <p:cNvGrpSpPr/>
          <p:nvPr/>
        </p:nvGrpSpPr>
        <p:grpSpPr>
          <a:xfrm>
            <a:off x="612720" y="3121560"/>
            <a:ext cx="3080160" cy="1533240"/>
            <a:chOff x="612720" y="3121560"/>
            <a:chExt cx="3080160" cy="1533240"/>
          </a:xfrm>
        </p:grpSpPr>
        <p:sp>
          <p:nvSpPr>
            <p:cNvPr id="372" name="Rounded Rectangle 10"/>
            <p:cNvSpPr/>
            <p:nvPr/>
          </p:nvSpPr>
          <p:spPr>
            <a:xfrm>
              <a:off x="612720" y="3121560"/>
              <a:ext cx="3080160" cy="15332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3" name="TextBox 11"/>
            <p:cNvSpPr/>
            <p:nvPr/>
          </p:nvSpPr>
          <p:spPr>
            <a:xfrm>
              <a:off x="1474920" y="3401640"/>
              <a:ext cx="142488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零和 </a:t>
              </a:r>
              <a:r>
                <a:rPr lang="en-US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+ </a:t>
              </a: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一阶差分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Box 12"/>
            <p:cNvSpPr/>
            <p:nvPr/>
          </p:nvSpPr>
          <p:spPr>
            <a:xfrm>
              <a:off x="803880" y="3746520"/>
              <a:ext cx="2768040" cy="43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用“我方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-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敌方”消除绝对值膨胀，只奖励状态变化，不奖励静态占位。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5" name="组合 21"/>
          <p:cNvGrpSpPr/>
          <p:nvPr/>
        </p:nvGrpSpPr>
        <p:grpSpPr>
          <a:xfrm>
            <a:off x="612720" y="4907160"/>
            <a:ext cx="3043080" cy="1602360"/>
            <a:chOff x="612720" y="4907160"/>
            <a:chExt cx="3043080" cy="1602360"/>
          </a:xfrm>
        </p:grpSpPr>
        <p:sp>
          <p:nvSpPr>
            <p:cNvPr id="376" name="Rounded Rectangle 13"/>
            <p:cNvSpPr/>
            <p:nvPr/>
          </p:nvSpPr>
          <p:spPr>
            <a:xfrm>
              <a:off x="612720" y="4907160"/>
              <a:ext cx="3043080" cy="16023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7" name="TextBox 14"/>
            <p:cNvSpPr/>
            <p:nvPr/>
          </p:nvSpPr>
          <p:spPr>
            <a:xfrm>
              <a:off x="1621800" y="5199840"/>
              <a:ext cx="172044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防摆烂惩罚项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15"/>
            <p:cNvSpPr/>
            <p:nvPr/>
          </p:nvSpPr>
          <p:spPr>
            <a:xfrm>
              <a:off x="835920" y="5528520"/>
              <a:ext cx="27349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base_idle / grass_idle / tower_edge_idle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直接惩罚挂机与局部最优。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9" name="Rounded Rectangle 16"/>
          <p:cNvSpPr/>
          <p:nvPr/>
        </p:nvSpPr>
        <p:spPr>
          <a:xfrm>
            <a:off x="4893840" y="5674320"/>
            <a:ext cx="5708880" cy="499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3656160" y="5809680"/>
            <a:ext cx="8640720" cy="20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结果：奖励函数不只是“给分”，而是在引导智能体形成推进节奏。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图片 22"/>
          <p:cNvPicPr/>
          <p:nvPr/>
        </p:nvPicPr>
        <p:blipFill>
          <a:blip r:embed="rId4"/>
          <a:stretch/>
        </p:blipFill>
        <p:spPr>
          <a:xfrm>
            <a:off x="8672040" y="2040840"/>
            <a:ext cx="3241800" cy="269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图片 19" descr="HOK_2026-06-04_10-09-34_540"/>
          <p:cNvPicPr/>
          <p:nvPr/>
        </p:nvPicPr>
        <p:blipFill>
          <a:blip r:embed="rId5"/>
          <a:stretch/>
        </p:blipFill>
        <p:spPr>
          <a:xfrm>
            <a:off x="4096440" y="2040840"/>
            <a:ext cx="3378960" cy="2674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3" name="直接箭头连接符 23"/>
          <p:cNvCxnSpPr/>
          <p:nvPr/>
        </p:nvCxnSpPr>
        <p:spPr>
          <a:xfrm>
            <a:off x="7597080" y="3213720"/>
            <a:ext cx="95472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系统工程创新让训练过程抗遗忘、可恢复、可观测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ounded Rectangle 7"/>
          <p:cNvSpPr/>
          <p:nvPr/>
        </p:nvSpPr>
        <p:spPr>
          <a:xfrm>
            <a:off x="96012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8"/>
          <p:cNvSpPr/>
          <p:nvPr/>
        </p:nvSpPr>
        <p:spPr>
          <a:xfrm>
            <a:off x="112464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Selfplay +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历史采样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1124640" y="2075760"/>
            <a:ext cx="2962440" cy="86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85%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最新模型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+ 15% common_ai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，且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30%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概率采样历史模型，缓解策略遗忘。评估时选用模型池中的模型，不只以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comman_ai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作为评估对象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10"/>
          <p:cNvSpPr/>
          <p:nvPr/>
        </p:nvSpPr>
        <p:spPr>
          <a:xfrm>
            <a:off x="443484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1"/>
          <p:cNvSpPr/>
          <p:nvPr/>
        </p:nvSpPr>
        <p:spPr>
          <a:xfrm>
            <a:off x="459936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方正粗黑宋简体"/>
                <a:ea typeface="方正粗黑宋简体"/>
              </a:rPr>
              <a:t>断点续训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459936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Disaster Recovery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自动处理崩溃；恢复后接续训练状态和退火进度。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13"/>
          <p:cNvSpPr/>
          <p:nvPr/>
        </p:nvSpPr>
        <p:spPr>
          <a:xfrm>
            <a:off x="790956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14"/>
          <p:cNvSpPr/>
          <p:nvPr/>
        </p:nvSpPr>
        <p:spPr>
          <a:xfrm>
            <a:off x="807408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方正粗黑宋简体"/>
                <a:ea typeface="方正粗黑宋简体"/>
              </a:rPr>
              <a:t>全程监控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5"/>
          <p:cNvSpPr/>
          <p:nvPr/>
        </p:nvSpPr>
        <p:spPr>
          <a:xfrm>
            <a:off x="807408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60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秒上报梯度、退火、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KL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、合法动作比例，支持训练健康度判断。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16"/>
          <p:cNvSpPr/>
          <p:nvPr/>
        </p:nvSpPr>
        <p:spPr>
          <a:xfrm>
            <a:off x="1821240" y="5883840"/>
            <a:ext cx="8549280" cy="6462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7"/>
          <p:cNvSpPr/>
          <p:nvPr/>
        </p:nvSpPr>
        <p:spPr>
          <a:xfrm>
            <a:off x="2322720" y="6106680"/>
            <a:ext cx="95976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>
                <a:solidFill>
                  <a:srgbClr val="FFBE4A"/>
                </a:solidFill>
                <a:effectLst/>
                <a:uFillTx/>
                <a:latin typeface="方正粗黑宋简体"/>
                <a:ea typeface="方正粗黑宋简体"/>
              </a:rPr>
              <a:t>工程价值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8"/>
          <p:cNvSpPr/>
          <p:nvPr/>
        </p:nvSpPr>
        <p:spPr>
          <a:xfrm>
            <a:off x="3283200" y="6106680"/>
            <a:ext cx="6949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在算力有限的赛题中，稳定续训和可诊断比单次训练峰值更重要。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图片 20" descr="训练监控 - 腾讯开悟比赛平台 和另外 9 个页面 - 个人 - Microsoft​ Edge 2026_6_4 10_57_44"/>
          <p:cNvPicPr/>
          <p:nvPr/>
        </p:nvPicPr>
        <p:blipFill>
          <a:blip r:embed="rId4"/>
          <a:stretch/>
        </p:blipFill>
        <p:spPr>
          <a:xfrm>
            <a:off x="6033600" y="3723120"/>
            <a:ext cx="2869200" cy="199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3" name="直接箭头连接符 21"/>
          <p:cNvCxnSpPr/>
          <p:nvPr/>
        </p:nvCxnSpPr>
        <p:spPr>
          <a:xfrm flipH="1">
            <a:off x="7562160" y="3283560"/>
            <a:ext cx="1616400" cy="32400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4" name="图片 24" descr="训练监控 - 腾讯开悟比赛平台 和另外 9 个页面 - 个人 - Microsoft​ Edge 2026_6_4 11_01_03"/>
          <p:cNvPicPr/>
          <p:nvPr/>
        </p:nvPicPr>
        <p:blipFill>
          <a:blip r:embed="rId5"/>
          <a:stretch/>
        </p:blipFill>
        <p:spPr>
          <a:xfrm>
            <a:off x="1273320" y="3687480"/>
            <a:ext cx="2665440" cy="1978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5" name="直接箭头连接符 25"/>
          <p:cNvCxnSpPr/>
          <p:nvPr/>
        </p:nvCxnSpPr>
        <p:spPr>
          <a:xfrm>
            <a:off x="2534040" y="3283560"/>
            <a:ext cx="36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6" name="图片 26" descr="训练监控 - 腾讯开悟比赛平台 和另外 9 个页面 - 个人 - Microsoft​ Edge 2026_6_4 11_05_03"/>
          <p:cNvPicPr/>
          <p:nvPr/>
        </p:nvPicPr>
        <p:blipFill>
          <a:blip r:embed="rId6"/>
          <a:stretch/>
        </p:blipFill>
        <p:spPr>
          <a:xfrm>
            <a:off x="9353520" y="3723120"/>
            <a:ext cx="2790000" cy="1993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7" name="直接箭头连接符 27"/>
          <p:cNvCxnSpPr/>
          <p:nvPr/>
        </p:nvCxnSpPr>
        <p:spPr>
          <a:xfrm>
            <a:off x="9695520" y="3288600"/>
            <a:ext cx="150624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后续算法优化优先提升探索效率、对手采样质量与价值尺度稳定性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841612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8"/>
          <p:cNvSpPr/>
          <p:nvPr/>
        </p:nvSpPr>
        <p:spPr>
          <a:xfrm>
            <a:off x="1046263" y="3257498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1.1 RND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104626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内在好奇心为稀疏奖励补探索信号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+30%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，速度约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-25%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2-3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倍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10"/>
          <p:cNvSpPr/>
          <p:nvPr/>
        </p:nvSpPr>
        <p:spPr>
          <a:xfrm>
            <a:off x="460422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11"/>
          <p:cNvSpPr/>
          <p:nvPr/>
        </p:nvSpPr>
        <p:spPr>
          <a:xfrm>
            <a:off x="4873680" y="3270561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1.2 PSP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4873680" y="3843568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按历史胜率优先采样“打不过的”模型。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算力：几乎无变化；策略提升更稳定。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13"/>
          <p:cNvSpPr/>
          <p:nvPr/>
        </p:nvSpPr>
        <p:spPr>
          <a:xfrm>
            <a:off x="830268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8544343" y="3321098"/>
            <a:ext cx="291672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1.3 Value Norm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5"/>
          <p:cNvSpPr/>
          <p:nvPr/>
        </p:nvSpPr>
        <p:spPr>
          <a:xfrm>
            <a:off x="854434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对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头做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Running Mean/Std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；显著提升训练稳定性。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2395800" y="4928760"/>
            <a:ext cx="73879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工程优化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工程侧优先减少冗余计算，把有限算力换成更高吞吐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Rounded Rectangle 7"/>
          <p:cNvSpPr/>
          <p:nvPr/>
        </p:nvSpPr>
        <p:spPr>
          <a:xfrm>
            <a:off x="868680" y="150876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8"/>
          <p:cNvSpPr/>
          <p:nvPr/>
        </p:nvSpPr>
        <p:spPr>
          <a:xfrm>
            <a:off x="1143000" y="1710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共享编码器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2880360" y="172836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类实体先共享底层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Encoder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，再分支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7315200" y="17283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参数量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-40%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，推理速度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1.5×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68680" y="283464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1143000" y="303588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2880360" y="305424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TD-Error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优先采样高价值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transition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4"/>
          <p:cNvSpPr/>
          <p:nvPr/>
        </p:nvSpPr>
        <p:spPr>
          <a:xfrm>
            <a:off x="7315200" y="30542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算力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+10%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+30-50%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ounded Rectangle 15"/>
          <p:cNvSpPr/>
          <p:nvPr/>
        </p:nvSpPr>
        <p:spPr>
          <a:xfrm>
            <a:off x="868680" y="416052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16"/>
          <p:cNvSpPr/>
          <p:nvPr/>
        </p:nvSpPr>
        <p:spPr>
          <a:xfrm>
            <a:off x="1143000" y="436176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动态 </a:t>
            </a: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Batching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7"/>
          <p:cNvSpPr/>
          <p:nvPr/>
        </p:nvSpPr>
        <p:spPr>
          <a:xfrm>
            <a:off x="2880360" y="438012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序列长度动态组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batch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8"/>
          <p:cNvSpPr/>
          <p:nvPr/>
        </p:nvSpPr>
        <p:spPr>
          <a:xfrm>
            <a:off x="7315200" y="438012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GPU 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利用率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+20%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，训练速度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+30%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对象、位置、价值信号可迁移到多目标决策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09344"/>
            <a:ext cx="28254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1920240"/>
            <a:ext cx="804672" cy="1024128"/>
          </a:xfrm>
          <a:prstGeom prst="roundRect">
            <a:avLst/>
          </a:prstGeom>
          <a:solidFill>
            <a:srgbClr val="10233D"/>
          </a:solidFill>
          <a:ln>
            <a:solidFill>
              <a:srgbClr val="5E7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16736" y="2066544"/>
            <a:ext cx="566928" cy="173736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16736" y="2322576"/>
            <a:ext cx="566928" cy="173736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16736" y="2578608"/>
            <a:ext cx="566928" cy="173736"/>
          </a:xfrm>
          <a:prstGeom prst="roundRect">
            <a:avLst/>
          </a:prstGeom>
          <a:solidFill>
            <a:srgbClr val="65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1" y="199339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5FAFF"/>
                </a:solidFill>
                <a:latin typeface="Microsoft YaHei"/>
              </a:rPr>
              <a:t>多目标排序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230428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C9D8EF"/>
                </a:solidFill>
                <a:latin typeface="Microsoft YaHei"/>
              </a:rPr>
              <a:t>CTR / 停留时长 / 转化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57860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C9D8EF"/>
                </a:solidFill>
                <a:latin typeface="Microsoft YaHei"/>
              </a:rPr>
              <a:t>用户 × 物品 × 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排序本质上也是多目标取舍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CTR / 停留 / 转化等目标分解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用户、物品、上下文分通道建模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位置编码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时间戳与列表位置共同影响决策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短视频推荐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商品排序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信息流召回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广告排序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mpact_crop_waymo_2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道路参与者与安全约束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自动驾驶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从动作合法到安全可执行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对象通道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自车、他车、行人、道路元素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双重位置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相对距离与全局道路坐标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安全约束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过滤不可执行或高风险动作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城市 NOA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高速 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RoboTaxi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仿真评估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风险约束与稳定控制适合复用多目标价值建模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ct_crop_trading_25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收益、风险与回撤并存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量化交易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面向不同市场状态的策略演化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多目标价值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收益、风险、回撤分项评估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历史采样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用不同市场阶段模拟对手分布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熵退火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前期探索，后期收敛到稳定策略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做市策略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风控执行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资产配置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市场仿真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pact_crop_industry_robot_253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设备状态与工艺目标耦合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工业控制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安全边界下的连续优化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温度、压力、流量阶段化表示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价值分组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能耗、质量、设备寿命分项诊断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兜底规则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异常状态下优先保证可控与安全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智能电网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化工反应釜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半导体制造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工艺调参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合法动作与多目标价值对齐是机器人和 RLHF 的共性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ct_crop_robot_arm_2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目标、障碍与动作安全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组合动作需要安全过滤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自身、障碍物、目标物分离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组合动作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离散技能 + 连续控制参数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越界或异常动作回退到安全动作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机械臂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足式机器人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四旋翼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移动抓取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3849624"/>
            <a:ext cx="28254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7C5CFF"/>
                </a:solidFill>
                <a:latin typeface="Microsoft YaHei"/>
              </a:rPr>
              <a:t>RLHF 对齐闭环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2" y="4270248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152" y="4334256"/>
            <a:ext cx="84124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4270248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334256"/>
            <a:ext cx="84124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782312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4846320"/>
            <a:ext cx="84124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16152" y="4782312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20"/>
            <a:ext cx="841248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Value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57400" y="4407408"/>
            <a:ext cx="365760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43784" y="4544568"/>
            <a:ext cx="0" cy="237744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057400" y="4919472"/>
            <a:ext cx="365760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36776" y="4544568"/>
            <a:ext cx="0" cy="237744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C5CFF"/>
                </a:solidFill>
                <a:latin typeface="Microsoft YaHei"/>
              </a:rPr>
              <a:t>RLHF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价值头可对应多维对齐目标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Helpfulness / Safety / Honesty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KL 监控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限制策略偏离初始模型过远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诊断体系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分别观察各目标收益与冲突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大模型对齐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人类反馈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安全约束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偏好学习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对抗场景迁移重点：对手建模、历史采样与安全兜底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ct_crop_esports_25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自博弈与历史策略对抗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游戏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从 1v1 推塔扩展到多类型对抗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Selfplay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通过历史模型缓解策略遗忘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血量、弹药、技能 CD 等阶段信号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零和奖励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目标天然对抗，适合差分反馈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MOBA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赛事陪练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pact_crop_cyber_253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正常与异常流量的持续对抗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网络安全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检测器也需要避免低收益策略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友敌编码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正常流量与异常流量分通道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时序拓扑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IP、服务、连接关系联合建模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防摆烂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避免模型长期输出“无异常”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入侵检测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APT 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欺诈交易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攻防仿真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TextBox 3"/>
          <p:cNvSpPr/>
          <p:nvPr/>
        </p:nvSpPr>
        <p:spPr>
          <a:xfrm>
            <a:off x="868680" y="132588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Tencent AI Arena Global Open Competition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4"/>
          <p:cNvSpPr/>
          <p:nvPr/>
        </p:nvSpPr>
        <p:spPr>
          <a:xfrm>
            <a:off x="868680" y="192024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THANKS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5"/>
          <p:cNvSpPr/>
          <p:nvPr/>
        </p:nvSpPr>
        <p:spPr>
          <a:xfrm>
            <a:off x="896040" y="2670120"/>
            <a:ext cx="2697120" cy="316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TextBox 6"/>
          <p:cNvSpPr/>
          <p:nvPr/>
        </p:nvSpPr>
        <p:spPr>
          <a:xfrm>
            <a:off x="868680" y="294444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2026 </a:t>
            </a:r>
            <a:r>
              <a:rPr lang="zh-CN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ounded Rectangle 7"/>
          <p:cNvSpPr/>
          <p:nvPr/>
        </p:nvSpPr>
        <p:spPr>
          <a:xfrm>
            <a:off x="868680" y="4160520"/>
            <a:ext cx="3977280" cy="6580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TextBox 8"/>
          <p:cNvSpPr/>
          <p:nvPr/>
        </p:nvSpPr>
        <p:spPr>
          <a:xfrm>
            <a:off x="1097280" y="4408920"/>
            <a:ext cx="352008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FedExing · T2600875 ·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2163</Words>
  <Application>Microsoft Office PowerPoint</Application>
  <PresentationFormat>宽屏</PresentationFormat>
  <Paragraphs>382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方正粗黑宋简体</vt:lpstr>
      <vt:lpstr>微软雅黑</vt:lpstr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郭鸿毅</dc:creator>
  <dc:description>generated using python-pptx</dc:description>
  <cp:lastModifiedBy>悬 翊</cp:lastModifiedBy>
  <cp:revision>16</cp:revision>
  <dcterms:created xsi:type="dcterms:W3CDTF">2013-01-27T09:14:00Z</dcterms:created>
  <dcterms:modified xsi:type="dcterms:W3CDTF">2026-06-04T12:12:46Z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8F213B30628F49D89CD7DF8CA24C2253_12</vt:lpwstr>
  </property>
  <property fmtid="{D5CDD505-2E9C-101B-9397-08002B2CF9AE}" pid="3" name="KSOProductBuildVer">
    <vt:lpwstr>2052-12.1.0.26895</vt:lpwstr>
  </property>
  <property fmtid="{D5CDD505-2E9C-101B-9397-08002B2CF9AE}" pid="4" name="MSIP_Label_a618d1e0-f5d7-4da7-8ddd-3b83021a2c85_ActionId">
    <vt:lpwstr>88eb3e2c-d3a9-4521-bce2-d3ebd7fd66f4</vt:lpwstr>
  </property>
  <property fmtid="{D5CDD505-2E9C-101B-9397-08002B2CF9AE}" pid="5" name="MSIP_Label_a618d1e0-f5d7-4da7-8ddd-3b83021a2c85_ContentBits">
    <vt:lpwstr>0</vt:lpwstr>
  </property>
  <property fmtid="{D5CDD505-2E9C-101B-9397-08002B2CF9AE}" pid="6" name="MSIP_Label_a618d1e0-f5d7-4da7-8ddd-3b83021a2c85_Enabled">
    <vt:lpwstr>true</vt:lpwstr>
  </property>
  <property fmtid="{D5CDD505-2E9C-101B-9397-08002B2CF9AE}" pid="7" name="MSIP_Label_a618d1e0-f5d7-4da7-8ddd-3b83021a2c85_Method">
    <vt:lpwstr>Standard</vt:lpwstr>
  </property>
  <property fmtid="{D5CDD505-2E9C-101B-9397-08002B2CF9AE}" pid="8" name="MSIP_Label_a618d1e0-f5d7-4da7-8ddd-3b83021a2c85_Name">
    <vt:lpwstr>Private</vt:lpwstr>
  </property>
  <property fmtid="{D5CDD505-2E9C-101B-9397-08002B2CF9AE}" pid="9" name="MSIP_Label_a618d1e0-f5d7-4da7-8ddd-3b83021a2c85_SetDate">
    <vt:lpwstr>2026-06-04T00:48:01Z</vt:lpwstr>
  </property>
  <property fmtid="{D5CDD505-2E9C-101B-9397-08002B2CF9AE}" pid="10" name="MSIP_Label_a618d1e0-f5d7-4da7-8ddd-3b83021a2c85_SiteId">
    <vt:lpwstr>ae323139-093a-4d2a-81a6-5d334bcd9019</vt:lpwstr>
  </property>
  <property fmtid="{D5CDD505-2E9C-101B-9397-08002B2CF9AE}" pid="11" name="MSIP_Label_a618d1e0-f5d7-4da7-8ddd-3b83021a2c85_Tag">
    <vt:lpwstr>10, 3, 0, 1</vt:lpwstr>
  </property>
  <property fmtid="{D5CDD505-2E9C-101B-9397-08002B2CF9AE}" pid="12" name="Notes">
    <vt:i4>1</vt:i4>
  </property>
  <property fmtid="{D5CDD505-2E9C-101B-9397-08002B2CF9AE}" pid="13" name="PresentationFormat">
    <vt:lpwstr>宽屏</vt:lpwstr>
  </property>
  <property fmtid="{D5CDD505-2E9C-101B-9397-08002B2CF9AE}" pid="14" name="Slides">
    <vt:i4>23</vt:i4>
  </property>
</Properties>
</file>