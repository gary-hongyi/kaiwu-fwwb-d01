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8" r:id="rId29"/>
    <p:sldId id="277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2" userDrawn="1">
          <p15:clr>
            <a:srgbClr val="A4A3A4"/>
          </p15:clr>
        </p15:guide>
        <p15:guide id="2" pos="294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104" d="100"/>
          <a:sy n="104" d="100"/>
        </p:scale>
        <p:origin x="72" y="76"/>
      </p:cViewPr>
      <p:guideLst>
        <p:guide orient="horz" pos="2172"/>
        <p:guide pos="294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notesMaster" Target="notesMasters/notesMaster1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ableStyles" Target="tableStyles.xml"/><Relationship Id="rId29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tags" Target="../tags/tag1.xml"/><Relationship Id="rId4" Type="http://schemas.openxmlformats.org/officeDocument/2006/relationships/tags" Target="../tags/tag2.xml"/><Relationship Id="rId5" Type="http://schemas.openxmlformats.org/officeDocument/2006/relationships/tags" Target="../tags/tag3.xml"/><Relationship Id="rId6" Type="http://schemas.openxmlformats.org/officeDocument/2006/relationships/tags" Target="../tags/tag4.xml"/><Relationship Id="rId7" Type="http://schemas.openxmlformats.org/officeDocument/2006/relationships/tags" Target="../tags/tag5.xml"/><Relationship Id="rId8" Type="http://schemas.openxmlformats.org/officeDocument/2006/relationships/tags" Target="../tags/tag6.xml"/><Relationship Id="rId9" Type="http://schemas.openxmlformats.org/officeDocument/2006/relationships/tags" Target="../tags/tag7.xml"/><Relationship Id="rId10" Type="http://schemas.openxmlformats.org/officeDocument/2006/relationships/tags" Target="../tags/tag8.xml"/><Relationship Id="rId11" Type="http://schemas.openxmlformats.org/officeDocument/2006/relationships/tags" Target="../tags/tag9.xml"/><Relationship Id="rId12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tags" Target="../tags/tag10.xml"/><Relationship Id="rId4" Type="http://schemas.openxmlformats.org/officeDocument/2006/relationships/tags" Target="../tags/tag11.xml"/><Relationship Id="rId5" Type="http://schemas.openxmlformats.org/officeDocument/2006/relationships/tags" Target="../tags/tag12.xml"/><Relationship Id="rId6" Type="http://schemas.openxmlformats.org/officeDocument/2006/relationships/tags" Target="../tags/tag13.xml"/><Relationship Id="rId7" Type="http://schemas.openxmlformats.org/officeDocument/2006/relationships/tags" Target="../tags/tag14.xml"/><Relationship Id="rId8" Type="http://schemas.openxmlformats.org/officeDocument/2006/relationships/tags" Target="../tags/tag15.xml"/><Relationship Id="rId9" Type="http://schemas.openxmlformats.org/officeDocument/2006/relationships/tags" Target="../tags/tag16.xml"/><Relationship Id="rId10" Type="http://schemas.openxmlformats.org/officeDocument/2006/relationships/tags" Target="../tags/tag17.xml"/><Relationship Id="rId11" Type="http://schemas.openxmlformats.org/officeDocument/2006/relationships/tags" Target="../tags/tag18.xml"/><Relationship Id="rId12" Type="http://schemas.openxmlformats.org/officeDocument/2006/relationships/tags" Target="../tags/tag19.xml"/><Relationship Id="rId13" Type="http://schemas.openxmlformats.org/officeDocument/2006/relationships/tags" Target="../tags/tag20.xml"/><Relationship Id="rId14" Type="http://schemas.openxmlformats.org/officeDocument/2006/relationships/tags" Target="../tags/tag21.xml"/><Relationship Id="rId15" Type="http://schemas.openxmlformats.org/officeDocument/2006/relationships/image" Target="../media/image9.GIF"/><Relationship Id="rId16" Type="http://schemas.openxmlformats.org/officeDocument/2006/relationships/image" Target="../media/image10.GIF"/><Relationship Id="rId17" Type="http://schemas.openxmlformats.org/officeDocument/2006/relationships/slideLayout" Target="../slideLayouts/slideLayout7.xml"/><Relationship Id="rId18" Type="http://schemas.openxmlformats.org/officeDocument/2006/relationships/notesSlide" Target="../notesSlides/notesSlide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<Relationship Id="rId4" Type="http://schemas.openxmlformats.org/officeDocument/2006/relationships/image" Target="../media/image14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<Relationship Id="rId4" Type="http://schemas.openxmlformats.org/officeDocument/2006/relationships/image" Target="../media/image15.jpg"/><Relationship Id="rId5" Type="http://schemas.openxmlformats.org/officeDocument/2006/relationships/image" Target="../media/image16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<Relationship Id="rId4" Type="http://schemas.openxmlformats.org/officeDocument/2006/relationships/image" Target="../media/image17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<Relationship Id="rId4" Type="http://schemas.openxmlformats.org/officeDocument/2006/relationships/image" Target="../media/image18.jpg"/><Relationship Id="rId5" Type="http://schemas.openxmlformats.org/officeDocument/2006/relationships/image" Target="../media/image19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3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8592" y="329184"/>
            <a:ext cx="2011680" cy="7031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0352" y="987552"/>
            <a:ext cx="47548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ADCCE8"/>
                </a:solidFill>
                <a:latin typeface="微软雅黑" panose="020B0503020204020204" charset="-122"/>
              </a:rPr>
              <a:t>2026 腾讯开悟人工智能全球公开赛</a:t>
            </a:r>
            <a:endParaRPr sz="1050" b="0">
              <a:solidFill>
                <a:srgbClr val="ADCCE8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325880"/>
            <a:ext cx="3931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>
                <a:solidFill>
                  <a:srgbClr val="F5FAFF"/>
                </a:solidFill>
                <a:latin typeface="微软雅黑" panose="020B0503020204020204" charset="-122"/>
              </a:rPr>
              <a:t>线下答辩</a:t>
            </a:r>
            <a:endParaRPr sz="3300" b="1">
              <a:solidFill>
                <a:srgbClr val="F5FA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928" y="2011680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0E5FF"/>
                </a:solidFill>
                <a:latin typeface="微软雅黑" panose="020B0503020204020204" charset="-122"/>
              </a:rPr>
              <a:t>智能体决策算法 · 中部赛区</a:t>
            </a:r>
            <a:endParaRPr sz="1400" b="1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66928" y="2542032"/>
            <a:ext cx="3063240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2880360"/>
            <a:ext cx="71323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ADCCE8"/>
                </a:solidFill>
                <a:latin typeface="微软雅黑" panose="020B0503020204020204" charset="-122"/>
              </a:rPr>
              <a:t>赛道信息</a:t>
            </a:r>
            <a:endParaRPr sz="850" b="1">
              <a:solidFill>
                <a:srgbClr val="ADCCE8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17320" y="2880360"/>
            <a:ext cx="35661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F5FAFF"/>
                </a:solidFill>
                <a:latin typeface="微软雅黑" panose="020B0503020204020204" charset="-122"/>
              </a:rPr>
              <a:t>D01-智能体决策算法</a:t>
            </a:r>
            <a:endParaRPr sz="1050" b="0">
              <a:solidFill>
                <a:srgbClr val="F5FAFF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3504" y="3209544"/>
            <a:ext cx="71323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ADCCE8"/>
                </a:solidFill>
                <a:latin typeface="微软雅黑" panose="020B0503020204020204" charset="-122"/>
              </a:rPr>
              <a:t>答辩团队</a:t>
            </a:r>
            <a:endParaRPr sz="850" b="1">
              <a:solidFill>
                <a:srgbClr val="ADCCE8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17320" y="3209544"/>
            <a:ext cx="35661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F5FAFF"/>
                </a:solidFill>
                <a:latin typeface="微软雅黑" panose="020B0503020204020204" charset="-122"/>
              </a:rPr>
              <a:t>FedExing</a:t>
            </a:r>
            <a:endParaRPr sz="1050" b="0">
              <a:solidFill>
                <a:srgbClr val="F5FAFF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03504" y="3538727"/>
            <a:ext cx="71323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ADCCE8"/>
                </a:solidFill>
                <a:latin typeface="微软雅黑" panose="020B0503020204020204" charset="-122"/>
              </a:rPr>
              <a:t>团队编号</a:t>
            </a:r>
            <a:endParaRPr sz="850" b="1">
              <a:solidFill>
                <a:srgbClr val="ADCCE8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417320" y="3538727"/>
            <a:ext cx="35661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F5FAFF"/>
                </a:solidFill>
                <a:latin typeface="微软雅黑" panose="020B0503020204020204" charset="-122"/>
              </a:rPr>
              <a:t>T2600875</a:t>
            </a:r>
            <a:endParaRPr sz="1050" b="0">
              <a:solidFill>
                <a:srgbClr val="F5FAFF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03504" y="3867911"/>
            <a:ext cx="71323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ADCCE8"/>
                </a:solidFill>
                <a:latin typeface="微软雅黑" panose="020B0503020204020204" charset="-122"/>
              </a:rPr>
              <a:t>演讲人</a:t>
            </a:r>
            <a:endParaRPr sz="850" b="1">
              <a:solidFill>
                <a:srgbClr val="ADCCE8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417320" y="3867911"/>
            <a:ext cx="35661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F5FAFF"/>
                </a:solidFill>
                <a:latin typeface="微软雅黑" panose="020B0503020204020204" charset="-122"/>
              </a:rPr>
              <a:t>郭鸿毅 · 周德诺 · 古天豪</a:t>
            </a:r>
            <a:endParaRPr sz="1050" b="0">
              <a:solidFill>
                <a:srgbClr val="F5FAFF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440680" y="4892040"/>
            <a:ext cx="3337560" cy="585216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50992" y="5029200"/>
            <a:ext cx="288950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F5FAFF"/>
                </a:solidFill>
                <a:latin typeface="微软雅黑" panose="020B0503020204020204" charset="-122"/>
              </a:rPr>
              <a:t>让智能体识别角色、理解局势，并把策略学习聚焦到“率先推塔”。</a:t>
            </a:r>
            <a:endParaRPr sz="1050" b="0">
              <a:solidFill>
                <a:srgbClr val="F5FAF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8592" y="347472"/>
            <a:ext cx="2011680" cy="7031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72" y="393192"/>
            <a:ext cx="24688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0E5FF"/>
                </a:solidFill>
                <a:latin typeface="微软雅黑" panose="020B0503020204020204" charset="-122"/>
              </a:rPr>
              <a:t>目录</a:t>
            </a:r>
            <a:endParaRPr sz="1500" b="1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10312" y="6364224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ADCCE8"/>
                </a:solidFill>
                <a:latin typeface="微软雅黑" panose="020B0503020204020204" charset="-122"/>
              </a:rPr>
              <a:t>02</a:t>
            </a:r>
            <a:endParaRPr sz="700" b="0">
              <a:solidFill>
                <a:srgbClr val="ADCCE8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6072" y="713232"/>
            <a:ext cx="777240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5FAFF"/>
                </a:solidFill>
                <a:latin typeface="微软雅黑" panose="020B0503020204020204" charset="-122"/>
              </a:rPr>
              <a:t>四段式讲清：赛题、算法、创新、落地</a:t>
            </a:r>
            <a:endParaRPr sz="2000" b="1">
              <a:solidFill>
                <a:srgbClr val="F5FAFF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84048" y="438912"/>
            <a:ext cx="36576" cy="493776"/>
          </a:xfrm>
          <a:prstGeom prst="rect">
            <a:avLst/>
          </a:prstGeom>
          <a:solidFill>
            <a:srgbClr val="00A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32688" y="1536192"/>
            <a:ext cx="4709160" cy="150876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1700784"/>
            <a:ext cx="731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00E5FF"/>
                </a:solidFill>
                <a:latin typeface="微软雅黑" panose="020B0503020204020204" charset="-122"/>
              </a:rPr>
              <a:t>01</a:t>
            </a:r>
            <a:endParaRPr sz="2400" b="1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938528" y="1773936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F5FAFF"/>
                </a:solidFill>
                <a:latin typeface="微软雅黑" panose="020B0503020204020204" charset="-122"/>
              </a:rPr>
              <a:t>赛题理解</a:t>
            </a:r>
            <a:endParaRPr sz="1700" b="1">
              <a:solidFill>
                <a:srgbClr val="F5FAFF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938528" y="2249424"/>
            <a:ext cx="33375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0" b="0">
                <a:solidFill>
                  <a:srgbClr val="ADCCE8"/>
                </a:solidFill>
                <a:latin typeface="微软雅黑" panose="020B0503020204020204" charset="-122"/>
              </a:rPr>
              <a:t>从绝悟发展与赛题目标出发，明确智能体应学会什么。</a:t>
            </a:r>
            <a:endParaRPr sz="1080" b="0">
              <a:solidFill>
                <a:srgbClr val="ADCCE8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327648" y="1536192"/>
            <a:ext cx="4709160" cy="150876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1700784"/>
            <a:ext cx="731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7C5CFF"/>
                </a:solidFill>
                <a:latin typeface="微软雅黑" panose="020B0503020204020204" charset="-122"/>
              </a:rPr>
              <a:t>02</a:t>
            </a:r>
            <a:endParaRPr sz="2400" b="1">
              <a:solidFill>
                <a:srgbClr val="7C5CFF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333488" y="1773936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F5FAFF"/>
                </a:solidFill>
                <a:latin typeface="微软雅黑" panose="020B0503020204020204" charset="-122"/>
              </a:rPr>
              <a:t>算法设计</a:t>
            </a:r>
            <a:endParaRPr sz="1700" b="1">
              <a:solidFill>
                <a:srgbClr val="F5FAFF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333488" y="2249424"/>
            <a:ext cx="33375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0" b="0">
                <a:solidFill>
                  <a:srgbClr val="ADCCE8"/>
                </a:solidFill>
                <a:latin typeface="微软雅黑" panose="020B0503020204020204" charset="-122"/>
              </a:rPr>
              <a:t>用网络、PPO、特征、奖励、工程五层构成训练闭环。</a:t>
            </a:r>
            <a:endParaRPr sz="1080" b="0">
              <a:solidFill>
                <a:srgbClr val="ADCCE8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932688" y="3950208"/>
            <a:ext cx="4709160" cy="150876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C6F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33856" y="4114800"/>
            <a:ext cx="731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C6FF4E"/>
                </a:solidFill>
                <a:latin typeface="微软雅黑" panose="020B0503020204020204" charset="-122"/>
              </a:rPr>
              <a:t>03</a:t>
            </a:r>
            <a:endParaRPr sz="2400" b="1">
              <a:solidFill>
                <a:srgbClr val="C6FF4E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938528" y="4187952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F5FAFF"/>
                </a:solidFill>
                <a:latin typeface="微软雅黑" panose="020B0503020204020204" charset="-122"/>
              </a:rPr>
              <a:t>创新挖掘</a:t>
            </a:r>
            <a:endParaRPr sz="1700" b="1">
              <a:solidFill>
                <a:srgbClr val="F5FAFF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938528" y="4663440"/>
            <a:ext cx="33375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0" b="0">
                <a:solidFill>
                  <a:srgbClr val="ADCCE8"/>
                </a:solidFill>
                <a:latin typeface="微软雅黑" panose="020B0503020204020204" charset="-122"/>
              </a:rPr>
              <a:t>解释每个设计为什么能提高样本效率和训练稳定性。</a:t>
            </a:r>
            <a:endParaRPr sz="1080" b="0">
              <a:solidFill>
                <a:srgbClr val="ADCCE8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327648" y="3950208"/>
            <a:ext cx="4709160" cy="150876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FFB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28816" y="4114800"/>
            <a:ext cx="731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FBE4A"/>
                </a:solidFill>
                <a:latin typeface="微软雅黑" panose="020B0503020204020204" charset="-122"/>
              </a:rPr>
              <a:t>04</a:t>
            </a:r>
            <a:endParaRPr sz="2400" b="1">
              <a:solidFill>
                <a:srgbClr val="FFBE4A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333488" y="4187952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F5FAFF"/>
                </a:solidFill>
                <a:latin typeface="微软雅黑" panose="020B0503020204020204" charset="-122"/>
              </a:rPr>
              <a:t>未来展望</a:t>
            </a:r>
            <a:endParaRPr sz="1700" b="1">
              <a:solidFill>
                <a:srgbClr val="F5FAFF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333488" y="4663440"/>
            <a:ext cx="33375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0" b="0">
                <a:solidFill>
                  <a:srgbClr val="ADCCE8"/>
                </a:solidFill>
                <a:latin typeface="微软雅黑" panose="020B0503020204020204" charset="-122"/>
              </a:rPr>
              <a:t>给出可继续优化的算法/工程路线与泛化应用。</a:t>
            </a:r>
            <a:endParaRPr sz="1080" b="0">
              <a:solidFill>
                <a:srgbClr val="ADCCE8"/>
              </a:solidFill>
              <a:latin typeface="微软雅黑" panose="020B0503020204020204" charset="-122"/>
            </a:endParaRPr>
          </a:p>
        </p:txBody>
      </p:sp>
      <p:cxnSp>
        <p:nvCxnSpPr>
          <p:cNvPr id="24" name="Connector 23"/>
          <p:cNvCxnSpPr/>
          <p:nvPr/>
        </p:nvCxnSpPr>
        <p:spPr>
          <a:xfrm>
            <a:off x="5641848" y="2286000"/>
            <a:ext cx="685800" cy="0"/>
          </a:xfrm>
          <a:prstGeom prst="line">
            <a:avLst/>
          </a:prstGeom>
          <a:ln w="1778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273552" y="3044952"/>
            <a:ext cx="0" cy="905256"/>
          </a:xfrm>
          <a:prstGeom prst="line">
            <a:avLst/>
          </a:prstGeom>
          <a:ln w="17780">
            <a:solidFill>
              <a:srgbClr val="7C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641848" y="4700016"/>
            <a:ext cx="685800" cy="0"/>
          </a:xfrm>
          <a:prstGeom prst="line">
            <a:avLst/>
          </a:prstGeom>
          <a:ln w="17780">
            <a:solidFill>
              <a:srgbClr val="C6FF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8592" y="347472"/>
            <a:ext cx="2011680" cy="7031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72" y="393192"/>
            <a:ext cx="24688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0E5FF"/>
                </a:solidFill>
                <a:latin typeface="微软雅黑" panose="020B0503020204020204" charset="-122"/>
              </a:rPr>
              <a:t>赛题理解</a:t>
            </a:r>
            <a:endParaRPr sz="1500" b="1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10312" y="6364224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ADCCE8"/>
                </a:solidFill>
                <a:latin typeface="微软雅黑" panose="020B0503020204020204" charset="-122"/>
              </a:rPr>
              <a:t>03</a:t>
            </a:r>
            <a:endParaRPr sz="700" b="0">
              <a:solidFill>
                <a:srgbClr val="ADCCE8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6072" y="713232"/>
            <a:ext cx="777240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5FAFF"/>
                </a:solidFill>
                <a:latin typeface="微软雅黑" panose="020B0503020204020204" charset="-122"/>
              </a:rPr>
              <a:t>绝悟从模仿学习走向自博弈与通用智能体基座</a:t>
            </a:r>
            <a:endParaRPr sz="2000" b="1">
              <a:solidFill>
                <a:srgbClr val="F5FAFF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84048" y="438912"/>
            <a:ext cx="36576" cy="493776"/>
          </a:xfrm>
          <a:prstGeom prst="rect">
            <a:avLst/>
          </a:prstGeom>
          <a:solidFill>
            <a:srgbClr val="00A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161288" y="2267712"/>
            <a:ext cx="9674352" cy="0"/>
          </a:xfrm>
          <a:prstGeom prst="line">
            <a:avLst/>
          </a:prstGeom>
          <a:ln w="1524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841248" y="1828800"/>
            <a:ext cx="621792" cy="621792"/>
          </a:xfrm>
          <a:prstGeom prst="ellipse">
            <a:avLst/>
          </a:prstGeom>
          <a:solidFill>
            <a:srgbClr val="0D2D52"/>
          </a:solidFill>
          <a:ln w="14604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020824"/>
            <a:ext cx="51206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>
                <a:solidFill>
                  <a:srgbClr val="00E5FF"/>
                </a:solidFill>
                <a:latin typeface="微软雅黑" panose="020B0503020204020204" charset="-122"/>
              </a:rPr>
              <a:t>2018</a:t>
            </a:r>
            <a:endParaRPr sz="850" b="1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57200" y="2788920"/>
            <a:ext cx="1627632" cy="114300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00A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926079"/>
            <a:ext cx="1298448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0ADFF"/>
                </a:solidFill>
                <a:latin typeface="微软雅黑" panose="020B0503020204020204" charset="-122"/>
              </a:rPr>
              <a:t>监督学习</a:t>
            </a:r>
            <a:endParaRPr sz="1150" b="1">
              <a:solidFill>
                <a:srgbClr val="00ADFF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21792" y="3264408"/>
            <a:ext cx="1298448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0">
                <a:solidFill>
                  <a:srgbClr val="F5FAFF"/>
                </a:solidFill>
                <a:latin typeface="微软雅黑" panose="020B0503020204020204" charset="-122"/>
              </a:rPr>
              <a:t>复刻职业操作
跻身顶尖业余</a:t>
            </a:r>
            <a:endParaRPr sz="940" b="0">
              <a:solidFill>
                <a:srgbClr val="F5FAFF"/>
              </a:solidFill>
              <a:latin typeface="微软雅黑" panose="020B0503020204020204" charset="-122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2962656" y="1828800"/>
            <a:ext cx="621792" cy="621792"/>
          </a:xfrm>
          <a:prstGeom prst="ellipse">
            <a:avLst/>
          </a:prstGeom>
          <a:solidFill>
            <a:srgbClr val="0D2D52"/>
          </a:solidFill>
          <a:ln w="14604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20" y="2020824"/>
            <a:ext cx="51206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>
                <a:solidFill>
                  <a:srgbClr val="00E5FF"/>
                </a:solidFill>
                <a:latin typeface="微软雅黑" panose="020B0503020204020204" charset="-122"/>
              </a:rPr>
              <a:t>2019</a:t>
            </a:r>
            <a:endParaRPr sz="850" b="1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578608" y="2788920"/>
            <a:ext cx="1627632" cy="114300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00A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2926079"/>
            <a:ext cx="1298448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0ADFF"/>
                </a:solidFill>
                <a:latin typeface="微软雅黑" panose="020B0503020204020204" charset="-122"/>
              </a:rPr>
              <a:t>自博弈强化学习</a:t>
            </a:r>
            <a:endParaRPr sz="1150" b="1">
              <a:solidFill>
                <a:srgbClr val="00ADFF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743200" y="3264408"/>
            <a:ext cx="1298448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0">
                <a:solidFill>
                  <a:srgbClr val="F5FAFF"/>
                </a:solidFill>
                <a:latin typeface="微软雅黑" panose="020B0503020204020204" charset="-122"/>
              </a:rPr>
              <a:t>3 个月完成
1v1 → 5v5 进阶</a:t>
            </a:r>
            <a:endParaRPr sz="940" b="0">
              <a:solidFill>
                <a:srgbClr val="F5FAFF"/>
              </a:solidFill>
              <a:latin typeface="微软雅黑" panose="020B0503020204020204" charset="-122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5084064" y="1828800"/>
            <a:ext cx="621792" cy="621792"/>
          </a:xfrm>
          <a:prstGeom prst="ellipse">
            <a:avLst/>
          </a:prstGeom>
          <a:solidFill>
            <a:srgbClr val="0D2D52"/>
          </a:solidFill>
          <a:ln w="14604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38927" y="2020824"/>
            <a:ext cx="51206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>
                <a:solidFill>
                  <a:srgbClr val="00E5FF"/>
                </a:solidFill>
                <a:latin typeface="微软雅黑" panose="020B0503020204020204" charset="-122"/>
              </a:rPr>
              <a:t>2020</a:t>
            </a:r>
            <a:endParaRPr sz="850" b="1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700016" y="2788920"/>
            <a:ext cx="1627632" cy="114300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00A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4607" y="2926079"/>
            <a:ext cx="1298448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0ADFF"/>
                </a:solidFill>
                <a:latin typeface="微软雅黑" panose="020B0503020204020204" charset="-122"/>
              </a:rPr>
              <a:t>全英雄开放</a:t>
            </a:r>
            <a:endParaRPr sz="1150" b="1">
              <a:solidFill>
                <a:srgbClr val="00ADFF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864607" y="3264408"/>
            <a:ext cx="1298448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0">
                <a:solidFill>
                  <a:srgbClr val="F5FAFF"/>
                </a:solidFill>
                <a:latin typeface="微软雅黑" panose="020B0503020204020204" charset="-122"/>
              </a:rPr>
              <a:t>高难模式
胜率 96.2%</a:t>
            </a:r>
            <a:endParaRPr sz="940" b="0">
              <a:solidFill>
                <a:srgbClr val="F5FAFF"/>
              </a:solidFill>
              <a:latin typeface="微软雅黑" panose="020B0503020204020204" charset="-122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7205471" y="1828800"/>
            <a:ext cx="621792" cy="621792"/>
          </a:xfrm>
          <a:prstGeom prst="ellipse">
            <a:avLst/>
          </a:prstGeom>
          <a:solidFill>
            <a:srgbClr val="0D2D52"/>
          </a:solidFill>
          <a:ln w="14604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60335" y="2020824"/>
            <a:ext cx="51206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>
                <a:solidFill>
                  <a:srgbClr val="00E5FF"/>
                </a:solidFill>
                <a:latin typeface="微软雅黑" panose="020B0503020204020204" charset="-122"/>
              </a:rPr>
              <a:t>2021</a:t>
            </a:r>
            <a:endParaRPr sz="850" b="1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821423" y="2788920"/>
            <a:ext cx="1627632" cy="114300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00A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86015" y="2926079"/>
            <a:ext cx="1298448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0ADFF"/>
                </a:solidFill>
                <a:latin typeface="微软雅黑" panose="020B0503020204020204" charset="-122"/>
              </a:rPr>
              <a:t>BP + 全局博弈</a:t>
            </a:r>
            <a:endParaRPr sz="1150" b="1">
              <a:solidFill>
                <a:srgbClr val="00ADFF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986015" y="3264408"/>
            <a:ext cx="1298448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0">
                <a:solidFill>
                  <a:srgbClr val="F5FAFF"/>
                </a:solidFill>
                <a:latin typeface="微软雅黑" panose="020B0503020204020204" charset="-122"/>
              </a:rPr>
              <a:t>BP 胜率测算
临场动态调策</a:t>
            </a:r>
            <a:endParaRPr sz="940" b="0">
              <a:solidFill>
                <a:srgbClr val="F5FAFF"/>
              </a:solidFill>
              <a:latin typeface="微软雅黑" panose="020B0503020204020204" charset="-122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9326880" y="1828800"/>
            <a:ext cx="621792" cy="621792"/>
          </a:xfrm>
          <a:prstGeom prst="ellipse">
            <a:avLst/>
          </a:prstGeom>
          <a:solidFill>
            <a:srgbClr val="0D2D52"/>
          </a:solidFill>
          <a:ln w="14604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81744" y="2020824"/>
            <a:ext cx="51206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>
                <a:solidFill>
                  <a:srgbClr val="00E5FF"/>
                </a:solidFill>
                <a:latin typeface="微软雅黑" panose="020B0503020204020204" charset="-122"/>
              </a:rPr>
              <a:t>2021+</a:t>
            </a:r>
            <a:endParaRPr sz="850" b="1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8942832" y="2788920"/>
            <a:ext cx="1627632" cy="114300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00A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07424" y="2926079"/>
            <a:ext cx="1298448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0ADFF"/>
                </a:solidFill>
                <a:latin typeface="微软雅黑" panose="020B0503020204020204" charset="-122"/>
              </a:rPr>
              <a:t>跨场景基座</a:t>
            </a:r>
            <a:endParaRPr sz="1150" b="1">
              <a:solidFill>
                <a:srgbClr val="00ADFF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107424" y="3264408"/>
            <a:ext cx="1298448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0">
                <a:solidFill>
                  <a:srgbClr val="F5FAFF"/>
                </a:solidFill>
                <a:latin typeface="微软雅黑" panose="020B0503020204020204" charset="-122"/>
              </a:rPr>
              <a:t>从游戏到产业
多智能体泛化</a:t>
            </a:r>
            <a:endParaRPr sz="940" b="0">
              <a:solidFill>
                <a:srgbClr val="F5FAFF"/>
              </a:solidFill>
              <a:latin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932688" y="4864608"/>
            <a:ext cx="1828800" cy="786384"/>
          </a:xfrm>
          <a:prstGeom prst="roundRect">
            <a:avLst/>
          </a:prstGeom>
          <a:solidFill>
            <a:srgbClr val="0D2D52"/>
          </a:solidFill>
          <a:ln w="14604">
            <a:solidFill>
              <a:srgbClr val="C6F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9848" y="4974336"/>
            <a:ext cx="1554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C6FF4E"/>
                </a:solidFill>
                <a:latin typeface="微软雅黑" panose="020B0503020204020204" charset="-122"/>
              </a:rPr>
              <a:t>96.2%</a:t>
            </a:r>
            <a:endParaRPr sz="2000" b="1">
              <a:solidFill>
                <a:srgbClr val="C6FF4E"/>
              </a:solidFill>
              <a:latin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069848" y="5321808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F5FAFF"/>
                </a:solidFill>
                <a:latin typeface="微软雅黑" panose="020B0503020204020204" charset="-122"/>
              </a:rPr>
              <a:t>2020 高难模式胜率</a:t>
            </a:r>
            <a:endParaRPr sz="850" b="0">
              <a:solidFill>
                <a:srgbClr val="F5FAFF"/>
              </a:solidFill>
              <a:latin typeface="微软雅黑" panose="020B0503020204020204" charset="-122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3063240" y="4864608"/>
            <a:ext cx="1828800" cy="786384"/>
          </a:xfrm>
          <a:prstGeom prst="roundRect">
            <a:avLst/>
          </a:prstGeom>
          <a:solidFill>
            <a:srgbClr val="0D2D52"/>
          </a:solidFill>
          <a:ln w="14604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0" y="4974336"/>
            <a:ext cx="1554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00E5FF"/>
                </a:solidFill>
                <a:latin typeface="微软雅黑" panose="020B0503020204020204" charset="-122"/>
              </a:rPr>
              <a:t>3个月</a:t>
            </a:r>
            <a:endParaRPr sz="2000" b="1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200400" y="5321808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F5FAFF"/>
                </a:solidFill>
                <a:latin typeface="微软雅黑" panose="020B0503020204020204" charset="-122"/>
              </a:rPr>
              <a:t>从 1v1 到 5v5</a:t>
            </a:r>
            <a:endParaRPr sz="850" b="0">
              <a:solidFill>
                <a:srgbClr val="F5FAFF"/>
              </a:solidFill>
              <a:latin typeface="微软雅黑" panose="020B0503020204020204" charset="-122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5193792" y="4864608"/>
            <a:ext cx="1828800" cy="786384"/>
          </a:xfrm>
          <a:prstGeom prst="roundRect">
            <a:avLst/>
          </a:prstGeom>
          <a:solidFill>
            <a:srgbClr val="0D2D52"/>
          </a:solidFill>
          <a:ln w="14604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30952" y="4974336"/>
            <a:ext cx="1554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7C5CFF"/>
                </a:solidFill>
                <a:latin typeface="微软雅黑" panose="020B0503020204020204" charset="-122"/>
              </a:rPr>
              <a:t>BP</a:t>
            </a:r>
            <a:endParaRPr sz="2000" b="1">
              <a:solidFill>
                <a:srgbClr val="7C5CFF"/>
              </a:solidFill>
              <a:latin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330952" y="5321808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F5FAFF"/>
                </a:solidFill>
                <a:latin typeface="微软雅黑" panose="020B0503020204020204" charset="-122"/>
              </a:rPr>
              <a:t>临场动态决策</a:t>
            </a:r>
            <a:endParaRPr sz="850" b="0">
              <a:solidFill>
                <a:srgbClr val="F5FAFF"/>
              </a:solidFill>
              <a:latin typeface="微软雅黑" panose="020B0503020204020204" charset="-122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7452360" y="4800600"/>
            <a:ext cx="3639312" cy="96012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FFB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62672" y="4965192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BE4A"/>
                </a:solidFill>
                <a:latin typeface="微软雅黑" panose="020B0503020204020204" charset="-122"/>
              </a:rPr>
              <a:t>答辩切入点</a:t>
            </a:r>
            <a:endParaRPr sz="1100" b="1">
              <a:solidFill>
                <a:srgbClr val="FFBE4A"/>
              </a:solidFill>
              <a:latin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662672" y="5248656"/>
            <a:ext cx="3154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F5FAFF"/>
                </a:solidFill>
                <a:latin typeface="微软雅黑" panose="020B0503020204020204" charset="-122"/>
              </a:rPr>
              <a:t>本项目聚焦在算力受限场景下，如何让智能体更快形成“角色感知 + 推塔导向”的有效策略。</a:t>
            </a:r>
            <a:endParaRPr sz="1000" b="0">
              <a:solidFill>
                <a:srgbClr val="F5FAF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8592" y="347472"/>
            <a:ext cx="2011680" cy="7031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72" y="393192"/>
            <a:ext cx="24688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0E5FF"/>
                </a:solidFill>
                <a:latin typeface="微软雅黑" panose="020B0503020204020204" charset="-122"/>
              </a:rPr>
              <a:t>赛题理解</a:t>
            </a:r>
            <a:endParaRPr sz="1500" b="1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10312" y="6364224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ADCCE8"/>
                </a:solidFill>
                <a:latin typeface="微软雅黑" panose="020B0503020204020204" charset="-122"/>
              </a:rPr>
              <a:t>04</a:t>
            </a:r>
            <a:endParaRPr sz="700" b="0">
              <a:solidFill>
                <a:srgbClr val="ADCCE8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6072" y="713232"/>
            <a:ext cx="777240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5FAFF"/>
                </a:solidFill>
                <a:latin typeface="微软雅黑" panose="020B0503020204020204" charset="-122"/>
              </a:rPr>
              <a:t>核心目标不是“会动”，而是围绕推塔目标形成可迁移策略</a:t>
            </a:r>
            <a:endParaRPr sz="2000" b="1">
              <a:solidFill>
                <a:srgbClr val="F5FAFF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84048" y="438912"/>
            <a:ext cx="36576" cy="493776"/>
          </a:xfrm>
          <a:prstGeom prst="rect">
            <a:avLst/>
          </a:prstGeom>
          <a:solidFill>
            <a:srgbClr val="00A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86384" y="1325880"/>
            <a:ext cx="10607040" cy="91440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572768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E5FF"/>
                </a:solidFill>
                <a:latin typeface="微软雅黑" panose="020B0503020204020204" charset="-122"/>
              </a:rPr>
              <a:t>训练目标</a:t>
            </a:r>
            <a:endParaRPr sz="1200" b="1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965960" y="1499616"/>
            <a:ext cx="87325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5FAFF"/>
                </a:solidFill>
                <a:latin typeface="微软雅黑" panose="020B0503020204020204" charset="-122"/>
              </a:rPr>
              <a:t>让 agent 在训练中逐渐感知英雄身份、理解游戏特性，并把操作选择收敛到“率先推掉敌方第一座塔”。</a:t>
            </a:r>
            <a:endParaRPr sz="1600" b="1">
              <a:solidFill>
                <a:srgbClr val="F5FAFF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41248" y="2743200"/>
            <a:ext cx="3154680" cy="1325880"/>
          </a:xfrm>
          <a:prstGeom prst="roundRect">
            <a:avLst/>
          </a:prstGeom>
          <a:solidFill>
            <a:srgbClr val="E1F3FF"/>
          </a:solidFill>
          <a:ln w="14604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862072"/>
            <a:ext cx="28254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6192F"/>
                </a:solidFill>
                <a:latin typeface="微软雅黑" panose="020B0503020204020204" charset="-122"/>
              </a:rPr>
              <a:t>基本操作</a:t>
            </a:r>
            <a:endParaRPr sz="1400" b="1">
              <a:solidFill>
                <a:srgbClr val="06192F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3218688"/>
            <a:ext cx="2825496" cy="758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30" b="0">
                <a:solidFill>
                  <a:srgbClr val="06192F"/>
                </a:solidFill>
                <a:latin typeface="微软雅黑" panose="020B0503020204020204" charset="-122"/>
              </a:rPr>
              <a:t>开局走中、保持距离、减少受控与被击、残血撤退、跟随兵线进塔。</a:t>
            </a:r>
            <a:endParaRPr sz="1130" b="0">
              <a:solidFill>
                <a:srgbClr val="06192F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526280" y="2743200"/>
            <a:ext cx="3154680" cy="1325880"/>
          </a:xfrm>
          <a:prstGeom prst="roundRect">
            <a:avLst/>
          </a:prstGeom>
          <a:solidFill>
            <a:srgbClr val="E1F3FF"/>
          </a:solidFill>
          <a:ln w="14604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90872" y="2862072"/>
            <a:ext cx="28254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6192F"/>
                </a:solidFill>
                <a:latin typeface="微软雅黑" panose="020B0503020204020204" charset="-122"/>
              </a:rPr>
              <a:t>进阶博弈</a:t>
            </a:r>
            <a:endParaRPr sz="1400" b="1">
              <a:solidFill>
                <a:srgbClr val="06192F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90872" y="3218688"/>
            <a:ext cx="2825496" cy="758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30" b="0">
                <a:solidFill>
                  <a:srgbClr val="06192F"/>
                </a:solidFill>
                <a:latin typeface="微软雅黑" panose="020B0503020204020204" charset="-122"/>
              </a:rPr>
              <a:t>技能连招、释放时机、拿血包、打野怪、越塔强杀、塔外磨塔、硬推塔。</a:t>
            </a:r>
            <a:endParaRPr sz="1130" b="0">
              <a:solidFill>
                <a:srgbClr val="06192F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211312" y="2743200"/>
            <a:ext cx="3154680" cy="1325880"/>
          </a:xfrm>
          <a:prstGeom prst="roundRect">
            <a:avLst/>
          </a:prstGeom>
          <a:solidFill>
            <a:srgbClr val="E1F3FF"/>
          </a:solidFill>
          <a:ln w="14604">
            <a:solidFill>
              <a:srgbClr val="FFB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75904" y="2862072"/>
            <a:ext cx="28254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6192F"/>
                </a:solidFill>
                <a:latin typeface="微软雅黑" panose="020B0503020204020204" charset="-122"/>
              </a:rPr>
              <a:t>现实约束</a:t>
            </a:r>
            <a:endParaRPr sz="1400" b="1">
              <a:solidFill>
                <a:srgbClr val="06192F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375904" y="3218688"/>
            <a:ext cx="2825496" cy="758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30" b="0">
                <a:solidFill>
                  <a:srgbClr val="06192F"/>
                </a:solidFill>
                <a:latin typeface="微软雅黑" panose="020B0503020204020204" charset="-122"/>
              </a:rPr>
              <a:t>算力与时间有限，设计必须提升训练效率，并平衡效果、稳定性与可复现。</a:t>
            </a:r>
            <a:endParaRPr sz="1130" b="0">
              <a:solidFill>
                <a:srgbClr val="06192F"/>
              </a:solidFill>
              <a:latin typeface="微软雅黑" panose="020B0503020204020204" charset="-122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2423160" y="4069080"/>
            <a:ext cx="0" cy="822960"/>
          </a:xfrm>
          <a:prstGeom prst="line">
            <a:avLst/>
          </a:prstGeom>
          <a:ln w="1778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099048" y="4069080"/>
            <a:ext cx="0" cy="822960"/>
          </a:xfrm>
          <a:prstGeom prst="line">
            <a:avLst/>
          </a:prstGeom>
          <a:ln w="17780">
            <a:solidFill>
              <a:srgbClr val="7C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784080" y="4069080"/>
            <a:ext cx="0" cy="822960"/>
          </a:xfrm>
          <a:prstGeom prst="line">
            <a:avLst/>
          </a:prstGeom>
          <a:ln w="17780">
            <a:solidFill>
              <a:srgbClr val="FFBE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2011680" y="4892040"/>
            <a:ext cx="8138160" cy="749808"/>
          </a:xfrm>
          <a:prstGeom prst="roundRect">
            <a:avLst/>
          </a:prstGeom>
          <a:solidFill>
            <a:srgbClr val="0D2D52"/>
          </a:solidFill>
          <a:ln w="14604">
            <a:solidFill>
              <a:srgbClr val="C6F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86000" y="5102352"/>
            <a:ext cx="7589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C6FF4E"/>
                </a:solidFill>
                <a:latin typeface="微软雅黑" panose="020B0503020204020204" charset="-122"/>
              </a:rPr>
              <a:t>设计原则：把先验知识写进观测、动作偏置、奖励分组和训练工程，而不是只堆训练轮次。</a:t>
            </a:r>
            <a:endParaRPr sz="1400" b="1">
              <a:solidFill>
                <a:srgbClr val="C6FF4E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8592" y="347472"/>
            <a:ext cx="2011680" cy="7031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72" y="393192"/>
            <a:ext cx="24688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0E5FF"/>
                </a:solidFill>
                <a:latin typeface="微软雅黑" panose="020B0503020204020204" charset="-122"/>
              </a:rPr>
              <a:t>算法设计</a:t>
            </a:r>
            <a:endParaRPr sz="1500" b="1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10312" y="6364224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ADCCE8"/>
                </a:solidFill>
                <a:latin typeface="微软雅黑" panose="020B0503020204020204" charset="-122"/>
              </a:rPr>
              <a:t>05</a:t>
            </a:r>
            <a:endParaRPr sz="700" b="0">
              <a:solidFill>
                <a:srgbClr val="ADCCE8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6072" y="713232"/>
            <a:ext cx="777240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5FAFF"/>
                </a:solidFill>
                <a:latin typeface="微软雅黑" panose="020B0503020204020204" charset="-122"/>
              </a:rPr>
              <a:t>五层闭环把 PPO 从“能训练”推进到“可诊断、可恢复、可扩展”</a:t>
            </a:r>
            <a:endParaRPr sz="2000" b="1">
              <a:solidFill>
                <a:srgbClr val="F5FAFF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84048" y="438912"/>
            <a:ext cx="36576" cy="493776"/>
          </a:xfrm>
          <a:prstGeom prst="rect">
            <a:avLst/>
          </a:prstGeom>
          <a:solidFill>
            <a:srgbClr val="00A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2359152" y="1892808"/>
            <a:ext cx="3712464" cy="1170432"/>
          </a:xfrm>
          <a:prstGeom prst="line">
            <a:avLst/>
          </a:prstGeom>
          <a:ln w="1270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6071616" y="1892808"/>
            <a:ext cx="3465576" cy="1170432"/>
          </a:xfrm>
          <a:prstGeom prst="line">
            <a:avLst/>
          </a:prstGeom>
          <a:ln w="12700">
            <a:solidFill>
              <a:srgbClr val="7C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2359152" y="3063240"/>
            <a:ext cx="3712464" cy="1673352"/>
          </a:xfrm>
          <a:prstGeom prst="line">
            <a:avLst/>
          </a:prstGeom>
          <a:ln w="12700">
            <a:solidFill>
              <a:srgbClr val="00A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 flipV="1">
            <a:off x="6071616" y="3063240"/>
            <a:ext cx="3465576" cy="1673352"/>
          </a:xfrm>
          <a:prstGeom prst="line">
            <a:avLst/>
          </a:prstGeom>
          <a:ln w="12700">
            <a:solidFill>
              <a:srgbClr val="FFBE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5221224" y="3063240"/>
            <a:ext cx="850392" cy="2240280"/>
          </a:xfrm>
          <a:prstGeom prst="line">
            <a:avLst/>
          </a:prstGeom>
          <a:ln w="12700">
            <a:solidFill>
              <a:srgbClr val="C6FF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Hexagon 12"/>
          <p:cNvSpPr/>
          <p:nvPr/>
        </p:nvSpPr>
        <p:spPr>
          <a:xfrm>
            <a:off x="4681728" y="2331720"/>
            <a:ext cx="2788920" cy="1463040"/>
          </a:xfrm>
          <a:prstGeom prst="hexagon">
            <a:avLst/>
          </a:prstGeom>
          <a:solidFill>
            <a:srgbClr val="0D2D52"/>
          </a:solidFill>
          <a:ln w="14604">
            <a:solidFill>
              <a:srgbClr val="C6F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02352" y="2679192"/>
            <a:ext cx="19202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>
                <a:solidFill>
                  <a:srgbClr val="C6FF4E"/>
                </a:solidFill>
                <a:latin typeface="微软雅黑" panose="020B0503020204020204" charset="-122"/>
              </a:rPr>
              <a:t>高效 PPO
智能体</a:t>
            </a:r>
            <a:endParaRPr sz="2200" b="1">
              <a:solidFill>
                <a:srgbClr val="C6FF4E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914400" y="1417320"/>
            <a:ext cx="2880360" cy="96012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1554480"/>
            <a:ext cx="2551176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00E5FF"/>
                </a:solidFill>
                <a:latin typeface="微软雅黑" panose="020B0503020204020204" charset="-122"/>
              </a:rPr>
              <a:t>网络架构</a:t>
            </a:r>
            <a:endParaRPr sz="1350" b="1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78992" y="1892808"/>
            <a:ext cx="2551176" cy="356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0">
                <a:solidFill>
                  <a:srgbClr val="F5FAFF"/>
                </a:solidFill>
                <a:latin typeface="微软雅黑" panose="020B0503020204020204" charset="-122"/>
              </a:rPr>
              <a:t>MLP + LSTM + Multi-Head Output</a:t>
            </a:r>
            <a:endParaRPr sz="980" b="0">
              <a:solidFill>
                <a:srgbClr val="F5FAFF"/>
              </a:solidFill>
              <a:latin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092440" y="1417320"/>
            <a:ext cx="2880360" cy="96012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57031" y="1554480"/>
            <a:ext cx="2551176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7C5CFF"/>
                </a:solidFill>
                <a:latin typeface="微软雅黑" panose="020B0503020204020204" charset="-122"/>
              </a:rPr>
              <a:t>PPO 核心</a:t>
            </a:r>
            <a:endParaRPr sz="1350" b="1">
              <a:solidFill>
                <a:srgbClr val="7C5CFF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257031" y="1892808"/>
            <a:ext cx="2551176" cy="356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0">
                <a:solidFill>
                  <a:srgbClr val="F5FAFF"/>
                </a:solidFill>
                <a:latin typeface="微软雅黑" panose="020B0503020204020204" charset="-122"/>
              </a:rPr>
              <a:t>Clip + 熵正则 + 梯度裁剪</a:t>
            </a:r>
            <a:endParaRPr sz="980" b="0">
              <a:solidFill>
                <a:srgbClr val="F5FAFF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914400" y="4261104"/>
            <a:ext cx="2880360" cy="96012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00A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" y="4398264"/>
            <a:ext cx="2551176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00ADFF"/>
                </a:solidFill>
                <a:latin typeface="微软雅黑" panose="020B0503020204020204" charset="-122"/>
              </a:rPr>
              <a:t>特征工程</a:t>
            </a:r>
            <a:endParaRPr sz="1350" b="1">
              <a:solidFill>
                <a:srgbClr val="00ADFF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78992" y="4736592"/>
            <a:ext cx="2551176" cy="356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0">
                <a:solidFill>
                  <a:srgbClr val="F5FAFF"/>
                </a:solidFill>
                <a:latin typeface="微软雅黑" panose="020B0503020204020204" charset="-122"/>
              </a:rPr>
              <a:t>Obs Builder：位置/数值/实体</a:t>
            </a:r>
            <a:endParaRPr sz="980" b="0">
              <a:solidFill>
                <a:srgbClr val="F5FAFF"/>
              </a:solidFill>
              <a:latin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8092440" y="4261104"/>
            <a:ext cx="2880360" cy="96012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FFB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57031" y="4398264"/>
            <a:ext cx="2551176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FFBE4A"/>
                </a:solidFill>
                <a:latin typeface="微软雅黑" panose="020B0503020204020204" charset="-122"/>
              </a:rPr>
              <a:t>奖励设计</a:t>
            </a:r>
            <a:endParaRPr sz="1350" b="1">
              <a:solidFill>
                <a:srgbClr val="FFBE4A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257031" y="4736592"/>
            <a:ext cx="2551176" cy="356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0">
                <a:solidFill>
                  <a:srgbClr val="F5FAFF"/>
                </a:solidFill>
                <a:latin typeface="微软雅黑" panose="020B0503020204020204" charset="-122"/>
              </a:rPr>
              <a:t>Reward Groups + 零和机制</a:t>
            </a:r>
            <a:endParaRPr sz="980" b="0">
              <a:solidFill>
                <a:srgbClr val="F5FAFF"/>
              </a:solidFill>
              <a:latin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3776472" y="4828032"/>
            <a:ext cx="2880360" cy="96012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C6F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41063" y="4965192"/>
            <a:ext cx="2551176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C6FF4E"/>
                </a:solidFill>
                <a:latin typeface="微软雅黑" panose="020B0503020204020204" charset="-122"/>
              </a:rPr>
              <a:t>系统工程</a:t>
            </a:r>
            <a:endParaRPr sz="1350" b="1">
              <a:solidFill>
                <a:srgbClr val="C6FF4E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941063" y="5303520"/>
            <a:ext cx="2551176" cy="356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0">
                <a:solidFill>
                  <a:srgbClr val="F5FAFF"/>
                </a:solidFill>
                <a:latin typeface="微软雅黑" panose="020B0503020204020204" charset="-122"/>
              </a:rPr>
              <a:t>Workflow + Config + 监控 + 断点恢复</a:t>
            </a:r>
            <a:endParaRPr sz="980" b="0">
              <a:solidFill>
                <a:srgbClr val="F5FAF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8592" y="347472"/>
            <a:ext cx="2011680" cy="7031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72" y="393192"/>
            <a:ext cx="24688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0E5FF"/>
                </a:solidFill>
                <a:latin typeface="微软雅黑" panose="020B0503020204020204" charset="-122"/>
              </a:rPr>
              <a:t>算法设计 · 网络架构</a:t>
            </a:r>
            <a:endParaRPr sz="1500" b="1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10312" y="6364224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ADCCE8"/>
                </a:solidFill>
                <a:latin typeface="微软雅黑" panose="020B0503020204020204" charset="-122"/>
              </a:rPr>
              <a:t>06</a:t>
            </a:r>
            <a:endParaRPr sz="700" b="0">
              <a:solidFill>
                <a:srgbClr val="ADCCE8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6072" y="713232"/>
            <a:ext cx="777240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5FAFF"/>
                </a:solidFill>
                <a:latin typeface="微软雅黑" panose="020B0503020204020204" charset="-122"/>
              </a:rPr>
              <a:t>实体专属编码 + 时序公共特征 + 多头输出，让策略同时理解对象与目标</a:t>
            </a:r>
            <a:endParaRPr sz="2000" b="1">
              <a:solidFill>
                <a:srgbClr val="F5FAFF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84048" y="438912"/>
            <a:ext cx="36576" cy="493776"/>
          </a:xfrm>
          <a:prstGeom prst="rect">
            <a:avLst/>
          </a:prstGeom>
          <a:solidFill>
            <a:srgbClr val="00A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2148840"/>
            <a:ext cx="1417320" cy="132588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313432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00E5FF"/>
                </a:solidFill>
                <a:latin typeface="微软雅黑" panose="020B0503020204020204" charset="-122"/>
              </a:rPr>
              <a:t>5类实体</a:t>
            </a:r>
            <a:endParaRPr sz="1200" b="1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2104" y="2660904"/>
            <a:ext cx="11704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80" b="0">
                <a:solidFill>
                  <a:srgbClr val="F5FAFF"/>
                </a:solidFill>
                <a:latin typeface="微软雅黑" panose="020B0503020204020204" charset="-122"/>
              </a:rPr>
              <a:t>英雄 / 小兵 / 塔
子弹 / 河道蟹</a:t>
            </a:r>
            <a:endParaRPr sz="980" b="0">
              <a:solidFill>
                <a:srgbClr val="F5FAFF"/>
              </a:solidFill>
              <a:latin typeface="微软雅黑" panose="020B0503020204020204" charset="-122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2130552" y="2807208"/>
            <a:ext cx="356616" cy="0"/>
          </a:xfrm>
          <a:prstGeom prst="line">
            <a:avLst/>
          </a:prstGeom>
          <a:ln w="1778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87168" y="2148840"/>
            <a:ext cx="1417320" cy="132588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00A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15184" y="2313432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00ADFF"/>
                </a:solidFill>
                <a:latin typeface="微软雅黑" panose="020B0503020204020204" charset="-122"/>
              </a:rPr>
              <a:t>专属 MLP</a:t>
            </a:r>
            <a:endParaRPr sz="1200" b="1">
              <a:solidFill>
                <a:srgbClr val="00ADFF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606040" y="2660904"/>
            <a:ext cx="11704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80" b="0">
                <a:solidFill>
                  <a:srgbClr val="F5FAFF"/>
                </a:solidFill>
                <a:latin typeface="微软雅黑" panose="020B0503020204020204" charset="-122"/>
              </a:rPr>
              <a:t>32–128 维
友敌独立 FC</a:t>
            </a:r>
            <a:endParaRPr sz="980" b="0">
              <a:solidFill>
                <a:srgbClr val="F5FAFF"/>
              </a:solidFill>
              <a:latin typeface="微软雅黑" panose="020B0503020204020204" charset="-122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3904488" y="2807208"/>
            <a:ext cx="356616" cy="0"/>
          </a:xfrm>
          <a:prstGeom prst="line">
            <a:avLst/>
          </a:prstGeom>
          <a:ln w="17780">
            <a:solidFill>
              <a:srgbClr val="00A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261104" y="2148840"/>
            <a:ext cx="1417320" cy="132588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2313432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7C5CFF"/>
                </a:solidFill>
                <a:latin typeface="微软雅黑" panose="020B0503020204020204" charset="-122"/>
              </a:rPr>
              <a:t>时序融合</a:t>
            </a:r>
            <a:endParaRPr sz="1200" b="1">
              <a:solidFill>
                <a:srgbClr val="7C5CFF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79976" y="2660904"/>
            <a:ext cx="11704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80" b="0">
                <a:solidFill>
                  <a:srgbClr val="F5FAFF"/>
                </a:solidFill>
                <a:latin typeface="微软雅黑" panose="020B0503020204020204" charset="-122"/>
              </a:rPr>
              <a:t>Concat → LN
LSTM(512) → LN</a:t>
            </a:r>
            <a:endParaRPr sz="980" b="0">
              <a:solidFill>
                <a:srgbClr val="F5FAFF"/>
              </a:solidFill>
              <a:latin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5678424" y="2807208"/>
            <a:ext cx="356616" cy="0"/>
          </a:xfrm>
          <a:prstGeom prst="line">
            <a:avLst/>
          </a:prstGeom>
          <a:ln w="17780">
            <a:solidFill>
              <a:srgbClr val="7C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035040" y="2148840"/>
            <a:ext cx="1417320" cy="132588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C6F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63055" y="2313432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C6FF4E"/>
                </a:solidFill>
                <a:latin typeface="微软雅黑" panose="020B0503020204020204" charset="-122"/>
              </a:rPr>
              <a:t>公共特征</a:t>
            </a:r>
            <a:endParaRPr sz="1200" b="1">
              <a:solidFill>
                <a:srgbClr val="C6FF4E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153912" y="2660904"/>
            <a:ext cx="11704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80" b="0">
                <a:solidFill>
                  <a:srgbClr val="F5FAFF"/>
                </a:solidFill>
                <a:latin typeface="微软雅黑" panose="020B0503020204020204" charset="-122"/>
              </a:rPr>
              <a:t>dim_public
256</a:t>
            </a:r>
            <a:endParaRPr sz="980" b="0">
              <a:solidFill>
                <a:srgbClr val="F5FAFF"/>
              </a:solidFill>
              <a:latin typeface="微软雅黑" panose="020B0503020204020204" charset="-122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7452360" y="2807208"/>
            <a:ext cx="356615" cy="0"/>
          </a:xfrm>
          <a:prstGeom prst="line">
            <a:avLst/>
          </a:prstGeom>
          <a:ln w="17780">
            <a:solidFill>
              <a:srgbClr val="C6FF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808975" y="2148840"/>
            <a:ext cx="1417320" cy="132588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FFB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36992" y="2313432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FFBE4A"/>
                </a:solidFill>
                <a:latin typeface="微软雅黑" panose="020B0503020204020204" charset="-122"/>
              </a:rPr>
              <a:t>输出头</a:t>
            </a:r>
            <a:endParaRPr sz="1200" b="1">
              <a:solidFill>
                <a:srgbClr val="FFBE4A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927848" y="2660904"/>
            <a:ext cx="11704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80" b="0">
                <a:solidFill>
                  <a:srgbClr val="F5FAFF"/>
                </a:solidFill>
                <a:latin typeface="微软雅黑" panose="020B0503020204020204" charset="-122"/>
              </a:rPr>
              <a:t>5 Value 头
6维组合动作</a:t>
            </a:r>
            <a:endParaRPr sz="980" b="0">
              <a:solidFill>
                <a:srgbClr val="F5FAFF"/>
              </a:solidFill>
              <a:latin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9710928" y="1783080"/>
            <a:ext cx="1783080" cy="196596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C6F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75519" y="1920240"/>
            <a:ext cx="1453895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20" b="1">
                <a:solidFill>
                  <a:srgbClr val="C6FF4E"/>
                </a:solidFill>
                <a:latin typeface="微软雅黑" panose="020B0503020204020204" charset="-122"/>
              </a:rPr>
              <a:t>动作先验</a:t>
            </a:r>
            <a:endParaRPr sz="1220" b="1">
              <a:solidFill>
                <a:srgbClr val="C6FF4E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875519" y="2258568"/>
            <a:ext cx="1453895" cy="1362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20" b="0">
                <a:solidFill>
                  <a:srgbClr val="F5FAFF"/>
                </a:solidFill>
                <a:latin typeface="微软雅黑" panose="020B0503020204020204" charset="-122"/>
              </a:rPr>
              <a:t>Target Embedding + 动态 Bias：基于血量、距离、存在性在 logits 注入偏好，冷启动更快。</a:t>
            </a:r>
            <a:endParaRPr sz="920" b="0">
              <a:solidFill>
                <a:srgbClr val="F5FAFF"/>
              </a:solidFill>
              <a:latin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1097280" y="4663440"/>
            <a:ext cx="9966960" cy="713232"/>
          </a:xfrm>
          <a:prstGeom prst="roundRect">
            <a:avLst/>
          </a:prstGeom>
          <a:solidFill>
            <a:srgbClr val="0D2D52"/>
          </a:solidFill>
          <a:ln w="14604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44168" y="4892040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0E5FF"/>
                </a:solidFill>
                <a:latin typeface="微软雅黑" panose="020B0503020204020204" charset="-122"/>
              </a:rPr>
              <a:t>关键收益</a:t>
            </a:r>
            <a:endParaRPr sz="1050" b="1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148840" y="4846320"/>
            <a:ext cx="8458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F5FAFF"/>
                </a:solidFill>
                <a:latin typeface="微软雅黑" panose="020B0503020204020204" charset="-122"/>
              </a:rPr>
              <a:t>友敌语义分离避免参数互相干扰；多任务价值头让 farm / kda / damage / push / state 可分项诊断。</a:t>
            </a:r>
            <a:endParaRPr sz="1250" b="0">
              <a:solidFill>
                <a:srgbClr val="F5FAF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8592" y="347472"/>
            <a:ext cx="2011680" cy="7031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72" y="393192"/>
            <a:ext cx="24688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0E5FF"/>
                </a:solidFill>
                <a:latin typeface="微软雅黑" panose="020B0503020204020204" charset="-122"/>
              </a:rPr>
              <a:t>算法设计 · PPO 核心</a:t>
            </a:r>
            <a:endParaRPr sz="1500" b="1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10312" y="6364224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ADCCE8"/>
                </a:solidFill>
                <a:latin typeface="微软雅黑" panose="020B0503020204020204" charset="-122"/>
              </a:rPr>
              <a:t>07</a:t>
            </a:r>
            <a:endParaRPr sz="700" b="0">
              <a:solidFill>
                <a:srgbClr val="ADCCE8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6072" y="713232"/>
            <a:ext cx="777240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5FAFF"/>
                </a:solidFill>
                <a:latin typeface="微软雅黑" panose="020B0503020204020204" charset="-122"/>
              </a:rPr>
              <a:t>PPO 更新被做成有护栏的闭环：限制步长、保留探索、监控崩溃</a:t>
            </a:r>
            <a:endParaRPr sz="2000" b="1">
              <a:solidFill>
                <a:srgbClr val="F5FAFF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84048" y="438912"/>
            <a:ext cx="36576" cy="493776"/>
          </a:xfrm>
          <a:prstGeom prst="rect">
            <a:avLst/>
          </a:prstGeom>
          <a:solidFill>
            <a:srgbClr val="00A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86384" y="1783080"/>
            <a:ext cx="2331720" cy="1298448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975104"/>
            <a:ext cx="19933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50" b="1">
                <a:solidFill>
                  <a:srgbClr val="00E5FF"/>
                </a:solidFill>
                <a:latin typeface="微软雅黑" panose="020B0503020204020204" charset="-122"/>
              </a:rPr>
              <a:t>Clip</a:t>
            </a:r>
            <a:endParaRPr sz="1550" b="1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87552" y="2350008"/>
            <a:ext cx="19202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F5FAFF"/>
                </a:solidFill>
                <a:latin typeface="微软雅黑" panose="020B0503020204020204" charset="-122"/>
              </a:rPr>
              <a:t>ε = 0.2
约束策略更新幅度</a:t>
            </a:r>
            <a:endParaRPr sz="1050" b="0">
              <a:solidFill>
                <a:srgbClr val="F5FAFF"/>
              </a:solidFill>
              <a:latin typeface="微软雅黑" panose="020B0503020204020204" charset="-122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3118103" y="2432304"/>
            <a:ext cx="457200" cy="0"/>
          </a:xfrm>
          <a:prstGeom prst="line">
            <a:avLst/>
          </a:prstGeom>
          <a:ln w="1778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575303" y="1783080"/>
            <a:ext cx="2331720" cy="1298448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9896" y="1975104"/>
            <a:ext cx="19933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50" b="1">
                <a:solidFill>
                  <a:srgbClr val="7C5CFF"/>
                </a:solidFill>
                <a:latin typeface="微软雅黑" panose="020B0503020204020204" charset="-122"/>
              </a:rPr>
              <a:t>熵正则</a:t>
            </a:r>
            <a:endParaRPr sz="1550" b="1">
              <a:solidFill>
                <a:srgbClr val="7C5CFF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776472" y="2350008"/>
            <a:ext cx="19202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F5FAFF"/>
                </a:solidFill>
                <a:latin typeface="微软雅黑" panose="020B0503020204020204" charset="-122"/>
              </a:rPr>
              <a:t>var_beta 0.005 → 0
线性退火</a:t>
            </a:r>
            <a:endParaRPr sz="1050" b="0">
              <a:solidFill>
                <a:srgbClr val="F5FAFF"/>
              </a:solidFill>
              <a:latin typeface="微软雅黑" panose="020B0503020204020204" charset="-122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5907023" y="2432304"/>
            <a:ext cx="457200" cy="0"/>
          </a:xfrm>
          <a:prstGeom prst="line">
            <a:avLst/>
          </a:prstGeom>
          <a:ln w="17780">
            <a:solidFill>
              <a:srgbClr val="7C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364224" y="1783080"/>
            <a:ext cx="2331720" cy="1298448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C6F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8816" y="1975104"/>
            <a:ext cx="19933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50" b="1">
                <a:solidFill>
                  <a:srgbClr val="C6FF4E"/>
                </a:solidFill>
                <a:latin typeface="微软雅黑" panose="020B0503020204020204" charset="-122"/>
              </a:rPr>
              <a:t>梯度护栏</a:t>
            </a:r>
            <a:endParaRPr sz="1550" b="1">
              <a:solidFill>
                <a:srgbClr val="C6FF4E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565392" y="2350008"/>
            <a:ext cx="19202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F5FAFF"/>
                </a:solidFill>
                <a:latin typeface="微软雅黑" panose="020B0503020204020204" charset="-122"/>
              </a:rPr>
              <a:t>梯度裁剪 + Adam
1e-4 → 5e-5</a:t>
            </a:r>
            <a:endParaRPr sz="1050" b="0">
              <a:solidFill>
                <a:srgbClr val="F5FAFF"/>
              </a:solidFill>
              <a:latin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8695944" y="2432304"/>
            <a:ext cx="457200" cy="0"/>
          </a:xfrm>
          <a:prstGeom prst="line">
            <a:avLst/>
          </a:prstGeom>
          <a:ln w="17780">
            <a:solidFill>
              <a:srgbClr val="C6FF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153143" y="1783080"/>
            <a:ext cx="2331720" cy="1298448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FFB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17735" y="1975104"/>
            <a:ext cx="19933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50" b="1">
                <a:solidFill>
                  <a:srgbClr val="FFBE4A"/>
                </a:solidFill>
                <a:latin typeface="微软雅黑" panose="020B0503020204020204" charset="-122"/>
              </a:rPr>
              <a:t>监控恢复</a:t>
            </a:r>
            <a:endParaRPr sz="1550" b="1">
              <a:solidFill>
                <a:srgbClr val="FFBE4A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354311" y="2350008"/>
            <a:ext cx="19202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F5FAFF"/>
                </a:solidFill>
                <a:latin typeface="微软雅黑" panose="020B0503020204020204" charset="-122"/>
              </a:rPr>
              <a:t>KL 散度 + Adam state
断点续训不重置</a:t>
            </a:r>
            <a:endParaRPr sz="1050" b="0">
              <a:solidFill>
                <a:srgbClr val="F5FAFF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987552" y="3977639"/>
            <a:ext cx="4846320" cy="1143000"/>
          </a:xfrm>
          <a:prstGeom prst="roundRect">
            <a:avLst/>
          </a:prstGeom>
          <a:solidFill>
            <a:srgbClr val="0D2D52"/>
          </a:solidFill>
          <a:ln w="14604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34440" y="4206240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0E5FF"/>
                </a:solidFill>
                <a:latin typeface="微软雅黑" panose="020B0503020204020204" charset="-122"/>
              </a:rPr>
              <a:t>多任务优势融合</a:t>
            </a:r>
            <a:endParaRPr sz="1400" b="1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234440" y="4553712"/>
            <a:ext cx="418795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0" b="0">
                <a:solidFill>
                  <a:srgbClr val="F5FAFF"/>
                </a:solidFill>
                <a:latin typeface="微软雅黑" panose="020B0503020204020204" charset="-122"/>
              </a:rPr>
              <a:t>5 个 Value 头独立计算 Advantage，再按权重融合，减少单一价值函数对多目标任务的拉扯。</a:t>
            </a:r>
            <a:endParaRPr sz="1080" b="0">
              <a:solidFill>
                <a:srgbClr val="F5FAFF"/>
              </a:solidFill>
              <a:latin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327648" y="3977639"/>
            <a:ext cx="4800600" cy="1143000"/>
          </a:xfrm>
          <a:prstGeom prst="roundRect">
            <a:avLst/>
          </a:prstGeom>
          <a:solidFill>
            <a:srgbClr val="0D2D52"/>
          </a:solidFill>
          <a:ln w="14604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65392" y="4206240"/>
            <a:ext cx="1417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7C5CFF"/>
                </a:solidFill>
                <a:latin typeface="微软雅黑" panose="020B0503020204020204" charset="-122"/>
              </a:rPr>
              <a:t>训练安全性</a:t>
            </a:r>
            <a:endParaRPr sz="1400" b="1">
              <a:solidFill>
                <a:srgbClr val="7C5CFF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565392" y="4553712"/>
            <a:ext cx="409651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0" b="0">
                <a:solidFill>
                  <a:srgbClr val="F5FAFF"/>
                </a:solidFill>
                <a:latin typeface="微软雅黑" panose="020B0503020204020204" charset="-122"/>
              </a:rPr>
              <a:t>KL 双侧截断 ratio.clamp(0,3)，配合梯度与熵退火监控，提前发现策略崩溃。</a:t>
            </a:r>
            <a:endParaRPr sz="1080" b="0">
              <a:solidFill>
                <a:srgbClr val="F5FAF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8592" y="347472"/>
            <a:ext cx="2011680" cy="7031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72" y="393192"/>
            <a:ext cx="24688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0E5FF"/>
                </a:solidFill>
                <a:latin typeface="微软雅黑" panose="020B0503020204020204" charset="-122"/>
              </a:rPr>
              <a:t>算法设计 · 特征工程</a:t>
            </a:r>
            <a:endParaRPr sz="1500" b="1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10312" y="6364224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ADCCE8"/>
                </a:solidFill>
                <a:latin typeface="微软雅黑" panose="020B0503020204020204" charset="-122"/>
              </a:rPr>
              <a:t>08</a:t>
            </a:r>
            <a:endParaRPr sz="700" b="0">
              <a:solidFill>
                <a:srgbClr val="ADCCE8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6072" y="713232"/>
            <a:ext cx="777240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5FAFF"/>
                </a:solidFill>
                <a:latin typeface="微软雅黑" panose="020B0503020204020204" charset="-122"/>
              </a:rPr>
              <a:t>Obs Builder 同时保留局部关系、全局地图语义与连续数值细节</a:t>
            </a:r>
            <a:endParaRPr sz="2000" b="1">
              <a:solidFill>
                <a:srgbClr val="F5FAFF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84048" y="438912"/>
            <a:ext cx="36576" cy="493776"/>
          </a:xfrm>
          <a:prstGeom prst="rect">
            <a:avLst/>
          </a:prstGeom>
          <a:solidFill>
            <a:srgbClr val="00A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4672" y="1645920"/>
            <a:ext cx="3108960" cy="1828800"/>
          </a:xfrm>
          <a:prstGeom prst="roundRect">
            <a:avLst/>
          </a:prstGeom>
          <a:solidFill>
            <a:srgbClr val="E1F3FF"/>
          </a:solidFill>
          <a:ln w="14604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1764792"/>
            <a:ext cx="27797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6192F"/>
                </a:solidFill>
                <a:latin typeface="微软雅黑" panose="020B0503020204020204" charset="-122"/>
              </a:rPr>
              <a:t>双重位置编码</a:t>
            </a:r>
            <a:endParaRPr sz="1500" b="1">
              <a:solidFill>
                <a:srgbClr val="06192F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69264" y="2121408"/>
            <a:ext cx="2779776" cy="1261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06192F"/>
                </a:solidFill>
                <a:latin typeface="微软雅黑" panose="020B0503020204020204" charset="-122"/>
              </a:rPr>
              <a:t>相对位置：41 桶 + 归一化
全局位置：30 桶 + 残差
兼顾局部对位与地图控制</a:t>
            </a:r>
            <a:endParaRPr sz="1100" b="0">
              <a:solidFill>
                <a:srgbClr val="06192F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535424" y="1645920"/>
            <a:ext cx="3108960" cy="1828800"/>
          </a:xfrm>
          <a:prstGeom prst="roundRect">
            <a:avLst/>
          </a:prstGeom>
          <a:solidFill>
            <a:srgbClr val="E1F3FF"/>
          </a:solidFill>
          <a:ln w="14604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0016" y="1764792"/>
            <a:ext cx="27797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6192F"/>
                </a:solidFill>
                <a:latin typeface="微软雅黑" panose="020B0503020204020204" charset="-122"/>
              </a:rPr>
              <a:t>数值分桶</a:t>
            </a:r>
            <a:endParaRPr sz="1500" b="1">
              <a:solidFill>
                <a:srgbClr val="06192F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700016" y="2121408"/>
            <a:ext cx="2779776" cy="1261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06192F"/>
                </a:solidFill>
                <a:latin typeface="微软雅黑" panose="020B0503020204020204" charset="-122"/>
              </a:rPr>
              <a:t>HP / EP / Money / CD
离散桶 + 比例值 + 边界
保留阶段语义与连续信息</a:t>
            </a:r>
            <a:endParaRPr sz="1100" b="0">
              <a:solidFill>
                <a:srgbClr val="06192F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266175" y="1645920"/>
            <a:ext cx="3108960" cy="1828800"/>
          </a:xfrm>
          <a:prstGeom prst="roundRect">
            <a:avLst/>
          </a:prstGeom>
          <a:solidFill>
            <a:srgbClr val="E1F3FF"/>
          </a:solidFill>
          <a:ln w="14604">
            <a:solidFill>
              <a:srgbClr val="C6F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0767" y="1764792"/>
            <a:ext cx="27797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6192F"/>
                </a:solidFill>
                <a:latin typeface="微软雅黑" panose="020B0503020204020204" charset="-122"/>
              </a:rPr>
              <a:t>维度组织</a:t>
            </a:r>
            <a:endParaRPr sz="1500" b="1">
              <a:solidFill>
                <a:srgbClr val="06192F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430767" y="2121408"/>
            <a:ext cx="2779776" cy="1261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06192F"/>
                </a:solidFill>
                <a:latin typeface="微软雅黑" panose="020B0503020204020204" charset="-122"/>
              </a:rPr>
              <a:t>英雄特征约 270 维
总特征约 1500 维
含行为 / 技能CD / buff / 位置</a:t>
            </a:r>
            <a:endParaRPr sz="1100" b="0">
              <a:solidFill>
                <a:srgbClr val="06192F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280160" y="4434840"/>
            <a:ext cx="9555480" cy="86868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FFB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72768" y="4718304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BE4A"/>
                </a:solidFill>
                <a:latin typeface="微软雅黑" panose="020B0503020204020204" charset="-122"/>
              </a:rPr>
              <a:t>设计取舍</a:t>
            </a:r>
            <a:endParaRPr sz="1100" b="1">
              <a:solidFill>
                <a:srgbClr val="FFBE4A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60320" y="4654296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F5FAFF"/>
                </a:solidFill>
                <a:latin typeface="微软雅黑" panose="020B0503020204020204" charset="-122"/>
              </a:rPr>
              <a:t>特征不是简单堆维度，而是把“距离、阶段、节奏”拆成网络容易学习的稳定信号。</a:t>
            </a:r>
            <a:endParaRPr sz="1300" b="1">
              <a:solidFill>
                <a:srgbClr val="F5FAF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8592" y="347472"/>
            <a:ext cx="2011680" cy="7031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72" y="393192"/>
            <a:ext cx="24688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0E5FF"/>
                </a:solidFill>
                <a:latin typeface="微软雅黑" panose="020B0503020204020204" charset="-122"/>
              </a:rPr>
              <a:t>算法设计 · 奖励设计</a:t>
            </a:r>
            <a:endParaRPr sz="1500" b="1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10312" y="6364224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ADCCE8"/>
                </a:solidFill>
                <a:latin typeface="微软雅黑" panose="020B0503020204020204" charset="-122"/>
              </a:rPr>
              <a:t>09</a:t>
            </a:r>
            <a:endParaRPr sz="700" b="0">
              <a:solidFill>
                <a:srgbClr val="ADCCE8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6072" y="713232"/>
            <a:ext cx="777240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5FAFF"/>
                </a:solidFill>
                <a:latin typeface="微软雅黑" panose="020B0503020204020204" charset="-122"/>
              </a:rPr>
              <a:t>21 项奖励被压缩成 5 组可诊断目标，并通过零和差分对齐对抗任务</a:t>
            </a:r>
            <a:endParaRPr sz="2000" b="1">
              <a:solidFill>
                <a:srgbClr val="F5FAFF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84048" y="438912"/>
            <a:ext cx="36576" cy="493776"/>
          </a:xfrm>
          <a:prstGeom prst="rect">
            <a:avLst/>
          </a:prstGeom>
          <a:solidFill>
            <a:srgbClr val="00A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77824" y="1572768"/>
            <a:ext cx="1664208" cy="1024128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5" y="1773936"/>
            <a:ext cx="133502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00E5FF"/>
                </a:solidFill>
                <a:latin typeface="微软雅黑" panose="020B0503020204020204" charset="-122"/>
              </a:rPr>
              <a:t>farm</a:t>
            </a:r>
            <a:endParaRPr sz="1500" b="1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42415" y="2121408"/>
            <a:ext cx="13350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F5FAFF"/>
                </a:solidFill>
                <a:latin typeface="微软雅黑" panose="020B0503020204020204" charset="-122"/>
              </a:rPr>
              <a:t>经济</a:t>
            </a:r>
            <a:endParaRPr sz="1000" b="0">
              <a:solidFill>
                <a:srgbClr val="F5FAFF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035808" y="1572768"/>
            <a:ext cx="1664208" cy="1024128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1773936"/>
            <a:ext cx="133502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7C5CFF"/>
                </a:solidFill>
                <a:latin typeface="微软雅黑" panose="020B0503020204020204" charset="-122"/>
              </a:rPr>
              <a:t>kda</a:t>
            </a:r>
            <a:endParaRPr sz="1500" b="1">
              <a:solidFill>
                <a:srgbClr val="7C5CFF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200400" y="2121408"/>
            <a:ext cx="13350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F5FAFF"/>
                </a:solidFill>
                <a:latin typeface="微软雅黑" panose="020B0503020204020204" charset="-122"/>
              </a:rPr>
              <a:t>战斗</a:t>
            </a:r>
            <a:endParaRPr sz="1000" b="0">
              <a:solidFill>
                <a:srgbClr val="F5FAFF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193792" y="1572768"/>
            <a:ext cx="1664208" cy="1024128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00A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58383" y="1773936"/>
            <a:ext cx="133502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00ADFF"/>
                </a:solidFill>
                <a:latin typeface="微软雅黑" panose="020B0503020204020204" charset="-122"/>
              </a:rPr>
              <a:t>damage</a:t>
            </a:r>
            <a:endParaRPr sz="1500" b="1">
              <a:solidFill>
                <a:srgbClr val="00ADFF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358383" y="2121408"/>
            <a:ext cx="13350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F5FAFF"/>
                </a:solidFill>
                <a:latin typeface="微软雅黑" panose="020B0503020204020204" charset="-122"/>
              </a:rPr>
              <a:t>伤害</a:t>
            </a:r>
            <a:endParaRPr sz="1000" b="0">
              <a:solidFill>
                <a:srgbClr val="F5FAFF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351775" y="1572768"/>
            <a:ext cx="1664208" cy="1024128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C6F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16367" y="1773936"/>
            <a:ext cx="133502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C6FF4E"/>
                </a:solidFill>
                <a:latin typeface="微软雅黑" panose="020B0503020204020204" charset="-122"/>
              </a:rPr>
              <a:t>push</a:t>
            </a:r>
            <a:endParaRPr sz="1500" b="1">
              <a:solidFill>
                <a:srgbClr val="C6FF4E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516367" y="2121408"/>
            <a:ext cx="13350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F5FAFF"/>
                </a:solidFill>
                <a:latin typeface="微软雅黑" panose="020B0503020204020204" charset="-122"/>
              </a:rPr>
              <a:t>推进</a:t>
            </a:r>
            <a:endParaRPr sz="1000" b="0">
              <a:solidFill>
                <a:srgbClr val="F5FAFF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9509759" y="1572768"/>
            <a:ext cx="1664208" cy="1024128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FFB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74351" y="1773936"/>
            <a:ext cx="133502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FFBE4A"/>
                </a:solidFill>
                <a:latin typeface="微软雅黑" panose="020B0503020204020204" charset="-122"/>
              </a:rPr>
              <a:t>state</a:t>
            </a:r>
            <a:endParaRPr sz="1500" b="1">
              <a:solidFill>
                <a:srgbClr val="FFBE4A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674351" y="2121408"/>
            <a:ext cx="13350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F5FAFF"/>
                </a:solidFill>
                <a:latin typeface="微软雅黑" panose="020B0503020204020204" charset="-122"/>
              </a:rPr>
              <a:t>状态</a:t>
            </a:r>
            <a:endParaRPr sz="1000" b="0">
              <a:solidFill>
                <a:srgbClr val="F5FAFF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1097280" y="3310128"/>
            <a:ext cx="4846320" cy="1280160"/>
          </a:xfrm>
          <a:prstGeom prst="roundRect">
            <a:avLst/>
          </a:prstGeom>
          <a:solidFill>
            <a:srgbClr val="0D2D52"/>
          </a:solidFill>
          <a:ln w="14604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17320" y="3584448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0E5FF"/>
                </a:solidFill>
                <a:latin typeface="微软雅黑" panose="020B0503020204020204" charset="-122"/>
              </a:rPr>
              <a:t>零和机制</a:t>
            </a:r>
            <a:endParaRPr sz="1300" b="1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304288" y="3502152"/>
            <a:ext cx="32461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F5FAFF"/>
                </a:solidFill>
                <a:latin typeface="微软雅黑" panose="020B0503020204020204" charset="-122"/>
              </a:rPr>
              <a:t>我方得分 - 敌方得分 = 最终奖励
一阶差分作为本帧奖励增量</a:t>
            </a:r>
            <a:endParaRPr sz="1400" b="1">
              <a:solidFill>
                <a:srgbClr val="F5FAFF"/>
              </a:solidFill>
              <a:latin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355080" y="3310128"/>
            <a:ext cx="4526280" cy="1280160"/>
          </a:xfrm>
          <a:prstGeom prst="roundRect">
            <a:avLst/>
          </a:prstGeom>
          <a:solidFill>
            <a:srgbClr val="0D2D52"/>
          </a:solidFill>
          <a:ln w="14604">
            <a:solidFill>
              <a:srgbClr val="C6F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38544" y="3584448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C6FF4E"/>
                </a:solidFill>
                <a:latin typeface="微软雅黑" panose="020B0503020204020204" charset="-122"/>
              </a:rPr>
              <a:t>关键权重</a:t>
            </a:r>
            <a:endParaRPr sz="1300" b="1">
              <a:solidFill>
                <a:srgbClr val="C6FF4E"/>
              </a:solidFill>
              <a:latin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543800" y="3456432"/>
            <a:ext cx="1508760" cy="256032"/>
          </a:xfrm>
          <a:prstGeom prst="roundRect">
            <a:avLst/>
          </a:prstGeom>
          <a:solidFill>
            <a:srgbClr val="0D2D52"/>
          </a:solidFill>
          <a:ln w="14604">
            <a:solidFill>
              <a:srgbClr val="C6F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98664" y="3488436"/>
            <a:ext cx="1399031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80" b="1">
                <a:solidFill>
                  <a:srgbClr val="C6FF4E"/>
                </a:solidFill>
                <a:latin typeface="微软雅黑" panose="020B0503020204020204" charset="-122"/>
              </a:rPr>
              <a:t>tower_hp_point 5.0</a:t>
            </a:r>
            <a:endParaRPr sz="880" b="1">
              <a:solidFill>
                <a:srgbClr val="C6FF4E"/>
              </a:solidFill>
              <a:latin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9189720" y="3456432"/>
            <a:ext cx="1005840" cy="256032"/>
          </a:xfrm>
          <a:prstGeom prst="roundRect">
            <a:avLst/>
          </a:prstGeom>
          <a:solidFill>
            <a:srgbClr val="0D2D52"/>
          </a:solidFill>
          <a:ln w="14604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44584" y="3488436"/>
            <a:ext cx="896112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80" b="1">
                <a:solidFill>
                  <a:srgbClr val="00E5FF"/>
                </a:solidFill>
                <a:latin typeface="微软雅黑" panose="020B0503020204020204" charset="-122"/>
              </a:rPr>
              <a:t>win_loss 2.0</a:t>
            </a:r>
            <a:endParaRPr sz="880" b="1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7543800" y="3913632"/>
            <a:ext cx="1143000" cy="256032"/>
          </a:xfrm>
          <a:prstGeom prst="roundRect">
            <a:avLst/>
          </a:prstGeom>
          <a:solidFill>
            <a:srgbClr val="0D2D52"/>
          </a:solidFill>
          <a:ln w="14604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98664" y="3945636"/>
            <a:ext cx="1033271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80" b="1">
                <a:solidFill>
                  <a:srgbClr val="7C5CFF"/>
                </a:solidFill>
                <a:latin typeface="微软雅黑" panose="020B0503020204020204" charset="-122"/>
              </a:rPr>
              <a:t>hp_point 2.0</a:t>
            </a:r>
            <a:endParaRPr sz="880" b="1">
              <a:solidFill>
                <a:srgbClr val="7C5CFF"/>
              </a:solidFill>
              <a:latin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8887968" y="3913632"/>
            <a:ext cx="1005840" cy="256032"/>
          </a:xfrm>
          <a:prstGeom prst="roundRect">
            <a:avLst/>
          </a:prstGeom>
          <a:solidFill>
            <a:srgbClr val="0D2D52"/>
          </a:solidFill>
          <a:ln w="14604">
            <a:solidFill>
              <a:srgbClr val="FFB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42832" y="3945636"/>
            <a:ext cx="896112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80" b="1">
                <a:solidFill>
                  <a:srgbClr val="FFBE4A"/>
                </a:solidFill>
                <a:latin typeface="微软雅黑" panose="020B0503020204020204" charset="-122"/>
              </a:rPr>
              <a:t>death -1.2</a:t>
            </a:r>
            <a:endParaRPr sz="880" b="1">
              <a:solidFill>
                <a:srgbClr val="FFBE4A"/>
              </a:solidFill>
              <a:latin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234440" y="5193792"/>
            <a:ext cx="9692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F5FAFF"/>
                </a:solidFill>
                <a:latin typeface="微软雅黑" panose="020B0503020204020204" charset="-122"/>
              </a:rPr>
              <a:t>推进目标成为最强信号，战斗与状态奖励服务于推塔，而不是相互抢目标。</a:t>
            </a:r>
            <a:endParaRPr sz="1400" b="1">
              <a:solidFill>
                <a:srgbClr val="F5FAF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8592" y="347472"/>
            <a:ext cx="2011680" cy="7031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72" y="393192"/>
            <a:ext cx="24688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0E5FF"/>
                </a:solidFill>
                <a:latin typeface="微软雅黑" panose="020B0503020204020204" charset="-122"/>
              </a:rPr>
              <a:t>算法设计 · 系统工程</a:t>
            </a:r>
            <a:endParaRPr sz="1500" b="1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10312" y="6364224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ADCCE8"/>
                </a:solidFill>
                <a:latin typeface="微软雅黑" panose="020B0503020204020204" charset="-122"/>
              </a:rPr>
              <a:t>10</a:t>
            </a:r>
            <a:endParaRPr sz="700" b="0">
              <a:solidFill>
                <a:srgbClr val="ADCCE8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6072" y="713232"/>
            <a:ext cx="777240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5FAFF"/>
                </a:solidFill>
                <a:latin typeface="微软雅黑" panose="020B0503020204020204" charset="-122"/>
              </a:rPr>
              <a:t>训练工程把模型迭代、对手采样、监控和恢复做成稳定流水线</a:t>
            </a:r>
            <a:endParaRPr sz="2000" b="1">
              <a:solidFill>
                <a:srgbClr val="F5FAFF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84048" y="438912"/>
            <a:ext cx="36576" cy="493776"/>
          </a:xfrm>
          <a:prstGeom prst="rect">
            <a:avLst/>
          </a:prstGeom>
          <a:solidFill>
            <a:srgbClr val="00A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828800"/>
            <a:ext cx="2331720" cy="1609344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965960"/>
            <a:ext cx="2002536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0E5FF"/>
                </a:solidFill>
                <a:latin typeface="微软雅黑" panose="020B0503020204020204" charset="-122"/>
              </a:rPr>
              <a:t>对手池</a:t>
            </a:r>
            <a:endParaRPr sz="1400" b="1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41832" y="2304288"/>
            <a:ext cx="2002536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F5FAFF"/>
                </a:solidFill>
                <a:latin typeface="微软雅黑" panose="020B0503020204020204" charset="-122"/>
              </a:rPr>
              <a:t>85% selfplay
15% common_ai
30% 历史模型采样</a:t>
            </a:r>
            <a:endParaRPr sz="1050" b="0">
              <a:solidFill>
                <a:srgbClr val="F5FAFF"/>
              </a:solidFill>
              <a:latin typeface="微软雅黑" panose="020B0503020204020204" charset="-122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3108960" y="2633472"/>
            <a:ext cx="457200" cy="0"/>
          </a:xfrm>
          <a:prstGeom prst="line">
            <a:avLst/>
          </a:prstGeom>
          <a:ln w="1778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566160" y="1828800"/>
            <a:ext cx="2331720" cy="1609344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0752" y="1965960"/>
            <a:ext cx="2002536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7C5CFF"/>
                </a:solidFill>
                <a:latin typeface="微软雅黑" panose="020B0503020204020204" charset="-122"/>
              </a:rPr>
              <a:t>训练循环</a:t>
            </a:r>
            <a:endParaRPr sz="1400" b="1">
              <a:solidFill>
                <a:srgbClr val="7C5CFF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730752" y="2304288"/>
            <a:ext cx="2002536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F5FAFF"/>
                </a:solidFill>
                <a:latin typeface="微软雅黑" panose="020B0503020204020204" charset="-122"/>
              </a:rPr>
              <a:t>PPO 更新
多头价值诊断
合法动作比例</a:t>
            </a:r>
            <a:endParaRPr sz="1050" b="0">
              <a:solidFill>
                <a:srgbClr val="F5FAFF"/>
              </a:solidFill>
              <a:latin typeface="微软雅黑" panose="020B0503020204020204" charset="-122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5897879" y="2633472"/>
            <a:ext cx="457200" cy="0"/>
          </a:xfrm>
          <a:prstGeom prst="line">
            <a:avLst/>
          </a:prstGeom>
          <a:ln w="17780">
            <a:solidFill>
              <a:srgbClr val="7C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355079" y="1828800"/>
            <a:ext cx="2331720" cy="1609344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C6F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9671" y="1965960"/>
            <a:ext cx="2002536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C6FF4E"/>
                </a:solidFill>
                <a:latin typeface="微软雅黑" panose="020B0503020204020204" charset="-122"/>
              </a:rPr>
              <a:t>60s 监控</a:t>
            </a:r>
            <a:endParaRPr sz="1400" b="1">
              <a:solidFill>
                <a:srgbClr val="C6FF4E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519671" y="2304288"/>
            <a:ext cx="2002536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F5FAFF"/>
                </a:solidFill>
                <a:latin typeface="微软雅黑" panose="020B0503020204020204" charset="-122"/>
              </a:rPr>
              <a:t>value_loss
KL / gradient_norm
var_beta</a:t>
            </a:r>
            <a:endParaRPr sz="1050" b="0">
              <a:solidFill>
                <a:srgbClr val="F5FAFF"/>
              </a:solidFill>
              <a:latin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8686800" y="2633472"/>
            <a:ext cx="457200" cy="0"/>
          </a:xfrm>
          <a:prstGeom prst="line">
            <a:avLst/>
          </a:prstGeom>
          <a:ln w="17780">
            <a:solidFill>
              <a:srgbClr val="C6FF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143999" y="1828800"/>
            <a:ext cx="2331720" cy="1609344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FFB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08591" y="1965960"/>
            <a:ext cx="2002536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BE4A"/>
                </a:solidFill>
                <a:latin typeface="微软雅黑" panose="020B0503020204020204" charset="-122"/>
              </a:rPr>
              <a:t>断点恢复</a:t>
            </a:r>
            <a:endParaRPr sz="1400" b="1">
              <a:solidFill>
                <a:srgbClr val="FFBE4A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308591" y="2304288"/>
            <a:ext cx="2002536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F5FAFF"/>
                </a:solidFill>
                <a:latin typeface="微软雅黑" panose="020B0503020204020204" charset="-122"/>
              </a:rPr>
              <a:t>Disaster Recovery
崩溃续接
退火进度安全</a:t>
            </a:r>
            <a:endParaRPr sz="1050" b="0">
              <a:solidFill>
                <a:srgbClr val="F5FAFF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1234440" y="4526280"/>
            <a:ext cx="9674352" cy="822960"/>
          </a:xfrm>
          <a:prstGeom prst="roundRect">
            <a:avLst/>
          </a:prstGeom>
          <a:solidFill>
            <a:srgbClr val="0D2D52"/>
          </a:solidFill>
          <a:ln w="14604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99616" y="4791456"/>
            <a:ext cx="960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E5FF"/>
                </a:solidFill>
                <a:latin typeface="微软雅黑" panose="020B0503020204020204" charset="-122"/>
              </a:rPr>
              <a:t>核心亮点</a:t>
            </a:r>
            <a:endParaRPr sz="1100" b="1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423160" y="4736592"/>
            <a:ext cx="8046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20" b="1">
                <a:solidFill>
                  <a:srgbClr val="F5FAFF"/>
                </a:solidFill>
                <a:latin typeface="微软雅黑" panose="020B0503020204020204" charset="-122"/>
              </a:rPr>
              <a:t>多任务 Value 头 + 友敌独立编码 + 双重位置编码 + 零和奖励 + Resume 安全退火。</a:t>
            </a:r>
            <a:endParaRPr sz="1320" b="1">
              <a:solidFill>
                <a:srgbClr val="F5FAF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8592" y="347472"/>
            <a:ext cx="2011680" cy="7031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72" y="393192"/>
            <a:ext cx="24688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0E5FF"/>
                </a:solidFill>
                <a:latin typeface="微软雅黑" panose="020B0503020204020204" charset="-122"/>
              </a:rPr>
              <a:t>创新分析 · 网络架构</a:t>
            </a:r>
            <a:endParaRPr sz="1500" b="1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10312" y="6364224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ADCCE8"/>
                </a:solidFill>
                <a:latin typeface="微软雅黑" panose="020B0503020204020204" charset="-122"/>
              </a:rPr>
              <a:t>11</a:t>
            </a:r>
            <a:endParaRPr sz="700" b="0">
              <a:solidFill>
                <a:srgbClr val="ADCCE8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6072" y="713232"/>
            <a:ext cx="7772400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5FAFF"/>
                </a:solidFill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rPr>
              <a:t>网络创新的核心，是把“对谁、在哪里、打谁”写进结构</a:t>
            </a:r>
            <a:endParaRPr sz="2000" b="1">
              <a:solidFill>
                <a:srgbClr val="F5FAFF"/>
              </a:solidFill>
              <a:latin typeface="方正粗黑宋简体" panose="02000000000000000000" charset="-122"/>
              <a:ea typeface="方正粗黑宋简体" panose="02000000000000000000" charset="-122"/>
              <a:cs typeface="方正粗黑宋简体" panose="02000000000000000000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84048" y="438912"/>
            <a:ext cx="36576" cy="493776"/>
          </a:xfrm>
          <a:prstGeom prst="rect">
            <a:avLst/>
          </a:prstGeom>
          <a:solidFill>
            <a:srgbClr val="00A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>
            <p:custDataLst>
              <p:tags r:id="rId3"/>
            </p:custDataLst>
          </p:nvPr>
        </p:nvSpPr>
        <p:spPr>
          <a:xfrm>
            <a:off x="786384" y="1572768"/>
            <a:ext cx="3310128" cy="2148840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>
            <p:custDataLst>
              <p:tags r:id="rId4"/>
            </p:custDataLst>
          </p:nvPr>
        </p:nvSpPr>
        <p:spPr>
          <a:xfrm>
            <a:off x="950976" y="1691640"/>
            <a:ext cx="2980944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0B0F0"/>
                </a:solidFill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rPr>
              <a:t>友敌独立 FC 层</a:t>
            </a:r>
            <a:endParaRPr sz="1400" b="1">
              <a:solidFill>
                <a:srgbClr val="00B0F0"/>
              </a:solidFill>
              <a:latin typeface="方正粗黑宋简体" panose="02000000000000000000" charset="-122"/>
              <a:ea typeface="方正粗黑宋简体" panose="02000000000000000000" charset="-122"/>
              <a:cs typeface="方正粗黑宋简体" panose="02000000000000000000" charset="-122"/>
            </a:endParaRPr>
          </a:p>
        </p:txBody>
      </p:sp>
      <p:sp>
        <p:nvSpPr>
          <p:cNvPr id="10" name="TextBox 9"/>
          <p:cNvSpPr txBox="1"/>
          <p:nvPr>
            <p:custDataLst>
              <p:tags r:id="rId5"/>
            </p:custDataLst>
          </p:nvPr>
        </p:nvSpPr>
        <p:spPr>
          <a:xfrm>
            <a:off x="950976" y="2048256"/>
            <a:ext cx="2980944" cy="7385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00B0F0"/>
                </a:solidFill>
                <a:latin typeface="方正粗黑宋简体" panose="02000000000000000000" charset="-122"/>
                <a:ea typeface="方正粗黑宋简体" panose="02000000000000000000" charset="-122"/>
              </a:rPr>
              <a:t>友方低血量意味着撤退，敌方低血量意味着追击；语义对称但行为相反，共享参数会互相干扰</a:t>
            </a:r>
            <a:r>
              <a:rPr sz="1600" b="0">
                <a:solidFill>
                  <a:srgbClr val="06192F"/>
                </a:solidFill>
                <a:latin typeface="方正粗黑宋简体" panose="02000000000000000000" charset="-122"/>
                <a:ea typeface="方正粗黑宋简体" panose="02000000000000000000" charset="-122"/>
              </a:rPr>
              <a:t>。</a:t>
            </a:r>
            <a:endParaRPr sz="1600" b="0">
              <a:solidFill>
                <a:srgbClr val="06192F"/>
              </a:solidFill>
              <a:latin typeface="方正粗黑宋简体" panose="02000000000000000000" charset="-122"/>
              <a:ea typeface="方正粗黑宋简体" panose="02000000000000000000" charset="-122"/>
            </a:endParaRPr>
          </a:p>
        </p:txBody>
      </p:sp>
      <p:sp>
        <p:nvSpPr>
          <p:cNvPr id="11" name="Rounded Rectangle 10"/>
          <p:cNvSpPr/>
          <p:nvPr>
            <p:custDataLst>
              <p:tags r:id="rId6"/>
            </p:custDataLst>
          </p:nvPr>
        </p:nvSpPr>
        <p:spPr>
          <a:xfrm>
            <a:off x="4425696" y="1572768"/>
            <a:ext cx="3310128" cy="2148840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>
            <p:custDataLst>
              <p:tags r:id="rId7"/>
            </p:custDataLst>
          </p:nvPr>
        </p:nvSpPr>
        <p:spPr>
          <a:xfrm>
            <a:off x="4590288" y="1691640"/>
            <a:ext cx="2980944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0B0F0"/>
                </a:solidFill>
                <a:latin typeface="方正粗黑宋简体" panose="02000000000000000000" charset="-122"/>
                <a:ea typeface="方正粗黑宋简体" panose="02000000000000000000" charset="-122"/>
              </a:rPr>
              <a:t>双重位置编码</a:t>
            </a:r>
            <a:endParaRPr sz="1400" b="1">
              <a:solidFill>
                <a:srgbClr val="00B0F0"/>
              </a:solidFill>
              <a:latin typeface="方正粗黑宋简体" panose="02000000000000000000" charset="-122"/>
              <a:ea typeface="方正粗黑宋简体" panose="02000000000000000000" charset="-122"/>
            </a:endParaRPr>
          </a:p>
        </p:txBody>
      </p:sp>
      <p:sp>
        <p:nvSpPr>
          <p:cNvPr id="13" name="TextBox 12"/>
          <p:cNvSpPr txBox="1"/>
          <p:nvPr>
            <p:custDataLst>
              <p:tags r:id="rId8"/>
            </p:custDataLst>
          </p:nvPr>
        </p:nvSpPr>
        <p:spPr>
          <a:xfrm>
            <a:off x="4590288" y="2048256"/>
            <a:ext cx="2980944" cy="7385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00B0F0"/>
                </a:solidFill>
                <a:latin typeface="方正粗黑宋简体" panose="02000000000000000000" charset="-122"/>
                <a:ea typeface="方正粗黑宋简体" panose="02000000000000000000" charset="-122"/>
              </a:rPr>
              <a:t>相对位置学习对位关系，全局位置学习地图控制；两套语义互补，避免单一编码偏置。</a:t>
            </a:r>
            <a:endParaRPr sz="1600" b="0">
              <a:solidFill>
                <a:srgbClr val="00B0F0"/>
              </a:solidFill>
              <a:latin typeface="方正粗黑宋简体" panose="02000000000000000000" charset="-122"/>
              <a:ea typeface="方正粗黑宋简体" panose="02000000000000000000" charset="-122"/>
            </a:endParaRPr>
          </a:p>
        </p:txBody>
      </p:sp>
      <p:sp>
        <p:nvSpPr>
          <p:cNvPr id="14" name="Rounded Rectangle 13"/>
          <p:cNvSpPr/>
          <p:nvPr>
            <p:custDataLst>
              <p:tags r:id="rId9"/>
            </p:custDataLst>
          </p:nvPr>
        </p:nvSpPr>
        <p:spPr>
          <a:xfrm>
            <a:off x="8065008" y="1572768"/>
            <a:ext cx="3310128" cy="2148840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>
            <p:custDataLst>
              <p:tags r:id="rId10"/>
            </p:custDataLst>
          </p:nvPr>
        </p:nvSpPr>
        <p:spPr>
          <a:xfrm>
            <a:off x="8229600" y="1691640"/>
            <a:ext cx="2980944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0B0F0"/>
                </a:solidFill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rPr>
              <a:t>动态 Target Bias</a:t>
            </a:r>
            <a:endParaRPr sz="1400" b="1">
              <a:solidFill>
                <a:srgbClr val="00B0F0"/>
              </a:solidFill>
              <a:latin typeface="方正粗黑宋简体" panose="02000000000000000000" charset="-122"/>
              <a:ea typeface="方正粗黑宋简体" panose="02000000000000000000" charset="-122"/>
              <a:cs typeface="方正粗黑宋简体" panose="02000000000000000000" charset="-122"/>
            </a:endParaRPr>
          </a:p>
        </p:txBody>
      </p:sp>
      <p:sp>
        <p:nvSpPr>
          <p:cNvPr id="16" name="TextBox 15"/>
          <p:cNvSpPr txBox="1"/>
          <p:nvPr>
            <p:custDataLst>
              <p:tags r:id="rId11"/>
            </p:custDataLst>
          </p:nvPr>
        </p:nvSpPr>
        <p:spPr>
          <a:xfrm>
            <a:off x="8229600" y="2048256"/>
            <a:ext cx="2980944" cy="7385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00B0F0"/>
                </a:solidFill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rPr>
              <a:t>在 logits 中加入“血量低 + 距离近”先验偏置，冷启动阶段更容易探索有效攻击对象。</a:t>
            </a:r>
            <a:endParaRPr sz="1600" b="0">
              <a:solidFill>
                <a:srgbClr val="00B0F0"/>
              </a:solidFill>
              <a:latin typeface="方正粗黑宋简体" panose="02000000000000000000" charset="-122"/>
              <a:ea typeface="方正粗黑宋简体" panose="02000000000000000000" charset="-122"/>
              <a:cs typeface="方正粗黑宋简体" panose="02000000000000000000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874519" y="4663440"/>
            <a:ext cx="8458200" cy="749808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FFB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48840" y="4910455"/>
            <a:ext cx="1565275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FBE4A"/>
                </a:solidFill>
                <a:latin typeface="方正粗黑宋简体" panose="02000000000000000000" charset="-122"/>
                <a:ea typeface="方正粗黑宋简体" panose="02000000000000000000" charset="-122"/>
              </a:rPr>
              <a:t>这一页的判断</a:t>
            </a:r>
            <a:endParaRPr sz="1600" b="1">
              <a:solidFill>
                <a:srgbClr val="FFBE4A"/>
              </a:solidFill>
              <a:latin typeface="方正粗黑宋简体" panose="02000000000000000000" charset="-122"/>
              <a:ea typeface="方正粗黑宋简体" panose="020000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474720" y="4910709"/>
            <a:ext cx="649224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F5FAFF"/>
                </a:solidFill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rPr>
              <a:t>不是只换网络层，而是减少策略在早期探索中“试错到正确语义”的成本。</a:t>
            </a:r>
            <a:endParaRPr sz="1400" b="0">
              <a:solidFill>
                <a:srgbClr val="F5FAFF"/>
              </a:solidFill>
              <a:latin typeface="方正粗黑宋简体" panose="02000000000000000000" charset="-122"/>
              <a:ea typeface="方正粗黑宋简体" panose="02000000000000000000" charset="-122"/>
              <a:cs typeface="方正粗黑宋简体" panose="020000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8592" y="347472"/>
            <a:ext cx="2011680" cy="7031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72" y="393192"/>
            <a:ext cx="24688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0E5FF"/>
                </a:solidFill>
                <a:latin typeface="微软雅黑" panose="020B0503020204020204" charset="-122"/>
              </a:rPr>
              <a:t>创新分析 · PPO 核心</a:t>
            </a:r>
            <a:endParaRPr sz="1500" b="1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10312" y="6364224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ADCCE8"/>
                </a:solidFill>
                <a:latin typeface="微软雅黑" panose="020B0503020204020204" charset="-122"/>
              </a:rPr>
              <a:t>12</a:t>
            </a:r>
            <a:endParaRPr sz="700" b="0">
              <a:solidFill>
                <a:srgbClr val="ADCCE8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5945" y="713105"/>
            <a:ext cx="9017000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altLang="en-US" sz="2000" b="1">
                <a:solidFill>
                  <a:srgbClr val="F5FAFF"/>
                </a:solidFill>
                <a:latin typeface="方正粗黑宋简体" panose="02000000000000000000" charset="-122"/>
                <a:ea typeface="方正粗黑宋简体" panose="02000000000000000000" charset="-122"/>
              </a:rPr>
              <a:t>让 </a:t>
            </a:r>
            <a:r>
              <a:rPr lang="en-US" altLang="zh-CN" sz="2000" b="1">
                <a:solidFill>
                  <a:srgbClr val="F5FAFF"/>
                </a:solidFill>
                <a:latin typeface="方正粗黑宋简体" panose="02000000000000000000" charset="-122"/>
                <a:ea typeface="方正粗黑宋简体" panose="02000000000000000000" charset="-122"/>
              </a:rPr>
              <a:t>PPO </a:t>
            </a:r>
            <a:r>
              <a:rPr lang="zh-CN" altLang="en-US" sz="2000" b="1">
                <a:solidFill>
                  <a:srgbClr val="F5FAFF"/>
                </a:solidFill>
                <a:latin typeface="方正粗黑宋简体" panose="02000000000000000000" charset="-122"/>
                <a:ea typeface="方正粗黑宋简体" panose="02000000000000000000" charset="-122"/>
              </a:rPr>
              <a:t>在多目标对抗中稳定更新，而不是被单一奖励或异常梯度带偏。</a:t>
            </a:r>
            <a:endParaRPr lang="zh-CN" altLang="en-US" sz="2000" b="1">
              <a:solidFill>
                <a:srgbClr val="F5FAFF"/>
              </a:solidFill>
              <a:latin typeface="方正粗黑宋简体" panose="02000000000000000000" charset="-122"/>
              <a:ea typeface="方正粗黑宋简体" panose="02000000000000000000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84048" y="438912"/>
            <a:ext cx="36576" cy="493776"/>
          </a:xfrm>
          <a:prstGeom prst="rect">
            <a:avLst/>
          </a:prstGeom>
          <a:solidFill>
            <a:srgbClr val="00A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44305" y="1984375"/>
            <a:ext cx="1470660" cy="2089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 sz="1360" b="1">
              <a:solidFill>
                <a:srgbClr val="C6FF4E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321040" y="2417953"/>
            <a:ext cx="2916936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 sz="1400" b="0">
              <a:solidFill>
                <a:srgbClr val="F5FAFF"/>
              </a:solidFill>
              <a:latin typeface="方正粗黑宋简体" panose="02000000000000000000" charset="-122"/>
              <a:ea typeface="方正粗黑宋简体" panose="02000000000000000000" charset="-122"/>
              <a:cs typeface="方正粗黑宋简体" panose="02000000000000000000" charset="-122"/>
            </a:endParaRPr>
          </a:p>
        </p:txBody>
      </p:sp>
      <p:pic>
        <p:nvPicPr>
          <p:cNvPr id="24" name="图片 23" descr="ppo_core_vertical_02_resume_entropy_annea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4530" y="1171575"/>
            <a:ext cx="3098800" cy="4821555"/>
          </a:xfrm>
          <a:prstGeom prst="rect">
            <a:avLst/>
          </a:prstGeom>
        </p:spPr>
      </p:pic>
      <p:pic>
        <p:nvPicPr>
          <p:cNvPr id="25" name="图片 24" descr="ppo_core_vertical_03_multitask_advant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4490" y="1139825"/>
            <a:ext cx="3119120" cy="48533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8592" y="347472"/>
            <a:ext cx="2011680" cy="7031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72" y="393192"/>
            <a:ext cx="24688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0E5FF"/>
                </a:solidFill>
                <a:latin typeface="微软雅黑" panose="020B0503020204020204" charset="-122"/>
              </a:rPr>
              <a:t>创新分析 · 特征工程</a:t>
            </a:r>
            <a:endParaRPr sz="1500" b="1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10312" y="6364224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ADCCE8"/>
                </a:solidFill>
                <a:latin typeface="微软雅黑" panose="020B0503020204020204" charset="-122"/>
              </a:rPr>
              <a:t>13</a:t>
            </a:r>
            <a:endParaRPr sz="700" b="0">
              <a:solidFill>
                <a:srgbClr val="ADCCE8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6072" y="713232"/>
            <a:ext cx="7772400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5FAFF"/>
                </a:solidFill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rPr>
              <a:t>特征创新用“双通道”保留阶段语义和连续细节</a:t>
            </a:r>
            <a:endParaRPr sz="2000" b="1">
              <a:solidFill>
                <a:srgbClr val="F5FAFF"/>
              </a:solidFill>
              <a:latin typeface="方正粗黑宋简体" panose="02000000000000000000" charset="-122"/>
              <a:ea typeface="方正粗黑宋简体" panose="02000000000000000000" charset="-122"/>
              <a:cs typeface="方正粗黑宋简体" panose="02000000000000000000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84048" y="438912"/>
            <a:ext cx="36576" cy="493776"/>
          </a:xfrm>
          <a:prstGeom prst="rect">
            <a:avLst/>
          </a:prstGeom>
          <a:solidFill>
            <a:srgbClr val="00A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图片 7" descr="feature_code_vertical_01_dual_numeric_encod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855" y="1029335"/>
            <a:ext cx="3637915" cy="5660390"/>
          </a:xfrm>
          <a:prstGeom prst="rect">
            <a:avLst/>
          </a:prstGeom>
        </p:spPr>
      </p:pic>
      <p:pic>
        <p:nvPicPr>
          <p:cNvPr id="9" name="图片 8" descr="feature_code_vertical_02_money_delt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8795" y="1020445"/>
            <a:ext cx="3648075" cy="5676265"/>
          </a:xfrm>
          <a:prstGeom prst="rect">
            <a:avLst/>
          </a:prstGeom>
        </p:spPr>
      </p:pic>
      <p:pic>
        <p:nvPicPr>
          <p:cNvPr id="10" name="图片 9" descr="feature_code_vertical_03_refresh_time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6895" y="1018540"/>
            <a:ext cx="3655060" cy="56864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8592" y="347472"/>
            <a:ext cx="2011680" cy="7031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72" y="393192"/>
            <a:ext cx="24688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0E5FF"/>
                </a:solidFill>
                <a:latin typeface="微软雅黑" panose="020B0503020204020204" charset="-122"/>
              </a:rPr>
              <a:t>创新分析 · 奖励设计</a:t>
            </a:r>
            <a:endParaRPr sz="1500" b="1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10312" y="6364224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ADCCE8"/>
                </a:solidFill>
                <a:latin typeface="微软雅黑" panose="020B0503020204020204" charset="-122"/>
              </a:rPr>
              <a:t>14</a:t>
            </a:r>
            <a:endParaRPr sz="700" b="0">
              <a:solidFill>
                <a:srgbClr val="ADCCE8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6072" y="713232"/>
            <a:ext cx="7772400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5FAFF"/>
                </a:solidFill>
                <a:latin typeface="方正粗黑宋简体" panose="02000000000000000000" charset="-122"/>
                <a:ea typeface="方正粗黑宋简体" panose="02000000000000000000" charset="-122"/>
              </a:rPr>
              <a:t>奖励创新把稀疏胜负拆成可学习、可诊断、可反摆烂的信号</a:t>
            </a:r>
            <a:endParaRPr sz="2000" b="1">
              <a:solidFill>
                <a:srgbClr val="F5FAFF"/>
              </a:solidFill>
              <a:latin typeface="方正粗黑宋简体" panose="02000000000000000000" charset="-122"/>
              <a:ea typeface="方正粗黑宋简体" panose="02000000000000000000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84048" y="438912"/>
            <a:ext cx="36576" cy="493776"/>
          </a:xfrm>
          <a:prstGeom prst="rect">
            <a:avLst/>
          </a:prstGeom>
          <a:solidFill>
            <a:srgbClr val="00A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9" name="组合 18"/>
          <p:cNvGrpSpPr/>
          <p:nvPr>
            <p:custDataLst>
              <p:tags r:id="rId3"/>
            </p:custDataLst>
          </p:nvPr>
        </p:nvGrpSpPr>
        <p:grpSpPr>
          <a:xfrm>
            <a:off x="612775" y="1296035"/>
            <a:ext cx="3128645" cy="1573530"/>
            <a:chOff x="1224" y="2333"/>
            <a:chExt cx="5112" cy="2880"/>
          </a:xfrm>
        </p:grpSpPr>
        <p:sp>
          <p:nvSpPr>
            <p:cNvPr id="8" name="Rounded Rectangle 7"/>
            <p:cNvSpPr/>
            <p:nvPr>
              <p:custDataLst>
                <p:tags r:id="rId4"/>
              </p:custDataLst>
            </p:nvPr>
          </p:nvSpPr>
          <p:spPr>
            <a:xfrm>
              <a:off x="1224" y="2333"/>
              <a:ext cx="5112" cy="2880"/>
            </a:xfrm>
            <a:prstGeom prst="roundRect">
              <a:avLst/>
            </a:prstGeom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>
              <p:custDataLst>
                <p:tags r:id="rId5"/>
              </p:custDataLst>
            </p:nvPr>
          </p:nvSpPr>
          <p:spPr>
            <a:xfrm>
              <a:off x="2565" y="2859"/>
              <a:ext cx="2780" cy="39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400" b="1">
                  <a:solidFill>
                    <a:srgbClr val="00B0F0"/>
                  </a:solidFill>
                  <a:latin typeface="方正粗黑宋简体" panose="02000000000000000000" charset="-122"/>
                  <a:ea typeface="方正粗黑宋简体" panose="02000000000000000000" charset="-122"/>
                </a:rPr>
                <a:t>多任务分组奖励</a:t>
              </a:r>
              <a:endParaRPr sz="1400" b="1">
                <a:solidFill>
                  <a:srgbClr val="00B0F0"/>
                </a:solidFill>
                <a:latin typeface="方正粗黑宋简体" panose="02000000000000000000" charset="-122"/>
                <a:ea typeface="方正粗黑宋简体" panose="02000000000000000000" charset="-122"/>
              </a:endParaRPr>
            </a:p>
          </p:txBody>
        </p:sp>
        <p:sp>
          <p:nvSpPr>
            <p:cNvPr id="10" name="TextBox 9"/>
            <p:cNvSpPr txBox="1"/>
            <p:nvPr>
              <p:custDataLst>
                <p:tags r:id="rId6"/>
              </p:custDataLst>
            </p:nvPr>
          </p:nvSpPr>
          <p:spPr>
            <a:xfrm>
              <a:off x="1483" y="3507"/>
              <a:ext cx="4594" cy="78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400" b="0">
                  <a:solidFill>
                    <a:srgbClr val="00B0F0"/>
                  </a:solidFill>
                  <a:latin typeface="方正粗黑宋简体" panose="02000000000000000000" charset="-122"/>
                  <a:ea typeface="方正粗黑宋简体" panose="02000000000000000000" charset="-122"/>
                  <a:cs typeface="方正粗黑宋简体" panose="02000000000000000000" charset="-122"/>
                </a:rPr>
                <a:t>21 项原始奖励归为 5 组，对应 5 个独立 Value 头，可定位能力短板。</a:t>
              </a:r>
              <a:endParaRPr sz="1400" b="0">
                <a:solidFill>
                  <a:srgbClr val="00B0F0"/>
                </a:solidFill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endParaRPr>
            </a:p>
          </p:txBody>
        </p:sp>
      </p:grpSp>
      <p:grpSp>
        <p:nvGrpSpPr>
          <p:cNvPr id="21" name="组合 20"/>
          <p:cNvGrpSpPr/>
          <p:nvPr>
            <p:custDataLst>
              <p:tags r:id="rId7"/>
            </p:custDataLst>
          </p:nvPr>
        </p:nvGrpSpPr>
        <p:grpSpPr>
          <a:xfrm>
            <a:off x="612775" y="3121554"/>
            <a:ext cx="3080385" cy="1533525"/>
            <a:chOff x="7056" y="2333"/>
            <a:chExt cx="5112" cy="2880"/>
          </a:xfrm>
        </p:grpSpPr>
        <p:sp>
          <p:nvSpPr>
            <p:cNvPr id="11" name="Rounded Rectangle 10"/>
            <p:cNvSpPr/>
            <p:nvPr>
              <p:custDataLst>
                <p:tags r:id="rId8"/>
              </p:custDataLst>
            </p:nvPr>
          </p:nvSpPr>
          <p:spPr>
            <a:xfrm>
              <a:off x="7056" y="2333"/>
              <a:ext cx="5112" cy="2880"/>
            </a:xfrm>
            <a:prstGeom prst="roundRect">
              <a:avLst/>
            </a:prstGeom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>
              <p:custDataLst>
                <p:tags r:id="rId9"/>
              </p:custDataLst>
            </p:nvPr>
          </p:nvSpPr>
          <p:spPr>
            <a:xfrm>
              <a:off x="8487" y="2859"/>
              <a:ext cx="2365" cy="4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400" b="1">
                  <a:solidFill>
                    <a:srgbClr val="00B0F0"/>
                  </a:solidFill>
                  <a:latin typeface="方正粗黑宋简体" panose="02000000000000000000" charset="-122"/>
                  <a:ea typeface="方正粗黑宋简体" panose="02000000000000000000" charset="-122"/>
                  <a:cs typeface="方正粗黑宋简体" panose="02000000000000000000" charset="-122"/>
                </a:rPr>
                <a:t>零和 + 一阶差分</a:t>
              </a:r>
              <a:endParaRPr sz="1400" b="1">
                <a:solidFill>
                  <a:srgbClr val="00B0F0"/>
                </a:solidFill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endParaRPr>
            </a:p>
          </p:txBody>
        </p:sp>
        <p:sp>
          <p:nvSpPr>
            <p:cNvPr id="13" name="TextBox 12"/>
            <p:cNvSpPr txBox="1"/>
            <p:nvPr>
              <p:custDataLst>
                <p:tags r:id="rId10"/>
              </p:custDataLst>
            </p:nvPr>
          </p:nvSpPr>
          <p:spPr>
            <a:xfrm>
              <a:off x="7373" y="3507"/>
              <a:ext cx="4594" cy="80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400" b="0">
                  <a:solidFill>
                    <a:srgbClr val="00B0F0"/>
                  </a:solidFill>
                  <a:latin typeface="方正粗黑宋简体" panose="02000000000000000000" charset="-122"/>
                  <a:ea typeface="方正粗黑宋简体" panose="02000000000000000000" charset="-122"/>
                  <a:cs typeface="方正粗黑宋简体" panose="02000000000000000000" charset="-122"/>
                </a:rPr>
                <a:t>用“我方-敌方”消除绝对值膨胀，只奖励状态变化，不奖励静态占位。</a:t>
              </a:r>
              <a:endParaRPr sz="1400" b="0">
                <a:solidFill>
                  <a:srgbClr val="00B0F0"/>
                </a:solidFill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endParaRPr>
            </a:p>
          </p:txBody>
        </p:sp>
      </p:grpSp>
      <p:grpSp>
        <p:nvGrpSpPr>
          <p:cNvPr id="22" name="组合 21"/>
          <p:cNvGrpSpPr/>
          <p:nvPr>
            <p:custDataLst>
              <p:tags r:id="rId11"/>
            </p:custDataLst>
          </p:nvPr>
        </p:nvGrpSpPr>
        <p:grpSpPr>
          <a:xfrm>
            <a:off x="612775" y="4907280"/>
            <a:ext cx="3043555" cy="1602740"/>
            <a:chOff x="12888" y="2333"/>
            <a:chExt cx="5112" cy="2880"/>
          </a:xfrm>
        </p:grpSpPr>
        <p:sp>
          <p:nvSpPr>
            <p:cNvPr id="14" name="Rounded Rectangle 13"/>
            <p:cNvSpPr/>
            <p:nvPr>
              <p:custDataLst>
                <p:tags r:id="rId12"/>
              </p:custDataLst>
            </p:nvPr>
          </p:nvSpPr>
          <p:spPr>
            <a:xfrm>
              <a:off x="12888" y="2333"/>
              <a:ext cx="5112" cy="2880"/>
            </a:xfrm>
            <a:prstGeom prst="roundRect">
              <a:avLst/>
            </a:prstGeom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>
              <p:custDataLst>
                <p:tags r:id="rId13"/>
              </p:custDataLst>
            </p:nvPr>
          </p:nvSpPr>
          <p:spPr>
            <a:xfrm>
              <a:off x="14583" y="2859"/>
              <a:ext cx="2890" cy="38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400" b="1">
                  <a:solidFill>
                    <a:srgbClr val="00B0F0"/>
                  </a:solidFill>
                  <a:latin typeface="方正粗黑宋简体" panose="02000000000000000000" charset="-122"/>
                  <a:ea typeface="方正粗黑宋简体" panose="02000000000000000000" charset="-122"/>
                </a:rPr>
                <a:t>防摆烂惩罚项</a:t>
              </a:r>
              <a:endParaRPr sz="1400" b="1">
                <a:solidFill>
                  <a:srgbClr val="00B0F0"/>
                </a:solidFill>
                <a:latin typeface="方正粗黑宋简体" panose="02000000000000000000" charset="-122"/>
                <a:ea typeface="方正粗黑宋简体" panose="02000000000000000000" charset="-122"/>
              </a:endParaRPr>
            </a:p>
          </p:txBody>
        </p:sp>
        <p:sp>
          <p:nvSpPr>
            <p:cNvPr id="16" name="TextBox 15"/>
            <p:cNvSpPr txBox="1"/>
            <p:nvPr>
              <p:custDataLst>
                <p:tags r:id="rId14"/>
              </p:custDataLst>
            </p:nvPr>
          </p:nvSpPr>
          <p:spPr>
            <a:xfrm>
              <a:off x="13263" y="3449"/>
              <a:ext cx="4594" cy="11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400" b="0">
                  <a:solidFill>
                    <a:srgbClr val="00B0F0"/>
                  </a:solidFill>
                  <a:latin typeface="方正粗黑宋简体" panose="02000000000000000000" charset="-122"/>
                  <a:ea typeface="方正粗黑宋简体" panose="02000000000000000000" charset="-122"/>
                  <a:cs typeface="方正粗黑宋简体" panose="02000000000000000000" charset="-122"/>
                </a:rPr>
                <a:t>base_idle / grass_idle / tower_edge_idle 直接惩罚挂机与局部最优。</a:t>
              </a:r>
              <a:endParaRPr sz="1400" b="0">
                <a:solidFill>
                  <a:srgbClr val="00B0F0"/>
                </a:solidFill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endParaRPr>
            </a:p>
          </p:txBody>
        </p:sp>
      </p:grpSp>
      <p:sp>
        <p:nvSpPr>
          <p:cNvPr id="17" name="Rounded Rectangle 16"/>
          <p:cNvSpPr/>
          <p:nvPr/>
        </p:nvSpPr>
        <p:spPr>
          <a:xfrm>
            <a:off x="4893945" y="5674360"/>
            <a:ext cx="5709285" cy="499745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FFB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6330" y="5809615"/>
            <a:ext cx="8641080" cy="202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20">
                <a:solidFill>
                  <a:srgbClr val="F5FAFF"/>
                </a:solidFill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rPr>
              <a:t>结果：奖励函数不只是“给分”，而是在引导智能体形成推进节奏。</a:t>
            </a:r>
            <a:endParaRPr sz="1320">
              <a:solidFill>
                <a:srgbClr val="F5FAFF"/>
              </a:solidFill>
              <a:latin typeface="方正粗黑宋简体" panose="02000000000000000000" charset="-122"/>
              <a:ea typeface="方正粗黑宋简体" panose="02000000000000000000" charset="-122"/>
              <a:cs typeface="方正粗黑宋简体" panose="02000000000000000000" charset="-122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672195" y="2040890"/>
            <a:ext cx="3242310" cy="2691765"/>
          </a:xfrm>
          <a:prstGeom prst="rect">
            <a:avLst/>
          </a:prstGeom>
        </p:spPr>
      </p:pic>
      <p:pic>
        <p:nvPicPr>
          <p:cNvPr id="20" name="图片 19" descr="HOK_2026-06-04_10-09-34_54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096385" y="2040890"/>
            <a:ext cx="3379470" cy="2675255"/>
          </a:xfrm>
          <a:prstGeom prst="rect">
            <a:avLst/>
          </a:prstGeom>
        </p:spPr>
      </p:pic>
      <p:cxnSp>
        <p:nvCxnSpPr>
          <p:cNvPr id="24" name="直接箭头连接符 23"/>
          <p:cNvCxnSpPr/>
          <p:nvPr/>
        </p:nvCxnSpPr>
        <p:spPr>
          <a:xfrm>
            <a:off x="7597140" y="3213735"/>
            <a:ext cx="95440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8592" y="347472"/>
            <a:ext cx="2011680" cy="7031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72" y="393192"/>
            <a:ext cx="24688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0E5FF"/>
                </a:solidFill>
                <a:latin typeface="微软雅黑" panose="020B0503020204020204" charset="-122"/>
              </a:rPr>
              <a:t>创新分析 · 系统工程</a:t>
            </a:r>
            <a:endParaRPr sz="1500" b="1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10312" y="6364224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ADCCE8"/>
                </a:solidFill>
                <a:latin typeface="微软雅黑" panose="020B0503020204020204" charset="-122"/>
              </a:rPr>
              <a:t>15</a:t>
            </a:r>
            <a:endParaRPr sz="700" b="0">
              <a:solidFill>
                <a:srgbClr val="ADCCE8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6072" y="713232"/>
            <a:ext cx="7772400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5FAFF"/>
                </a:solidFill>
                <a:latin typeface="方正粗黑宋简体" panose="02000000000000000000" charset="-122"/>
                <a:ea typeface="方正粗黑宋简体" panose="02000000000000000000" charset="-122"/>
              </a:rPr>
              <a:t>系统工程创新让训练过程抗遗忘、可恢复、可观测</a:t>
            </a:r>
            <a:endParaRPr sz="2000" b="1">
              <a:solidFill>
                <a:srgbClr val="F5FAFF"/>
              </a:solidFill>
              <a:latin typeface="方正粗黑宋简体" panose="02000000000000000000" charset="-122"/>
              <a:ea typeface="方正粗黑宋简体" panose="02000000000000000000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84048" y="438912"/>
            <a:ext cx="36576" cy="493776"/>
          </a:xfrm>
          <a:prstGeom prst="rect">
            <a:avLst/>
          </a:prstGeom>
          <a:solidFill>
            <a:srgbClr val="00A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20" y="1600200"/>
            <a:ext cx="3291840" cy="1572768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4712" y="1737360"/>
            <a:ext cx="2962656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0E5FF"/>
                </a:solidFill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rPr>
              <a:t>Selfplay + 历史采样</a:t>
            </a:r>
            <a:endParaRPr sz="1400" b="1">
              <a:solidFill>
                <a:srgbClr val="00E5FF"/>
              </a:solidFill>
              <a:latin typeface="方正粗黑宋简体" panose="02000000000000000000" charset="-122"/>
              <a:ea typeface="方正粗黑宋简体" panose="02000000000000000000" charset="-122"/>
              <a:cs typeface="方正粗黑宋简体" panose="020000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24712" y="2075688"/>
            <a:ext cx="2962656" cy="8616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dirty="0">
                <a:solidFill>
                  <a:srgbClr val="F5FAFF"/>
                </a:solidFill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rPr>
              <a:t>85% </a:t>
            </a:r>
            <a:r>
              <a:rPr sz="1400" b="0" dirty="0" err="1">
                <a:solidFill>
                  <a:srgbClr val="F5FAFF"/>
                </a:solidFill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rPr>
              <a:t>最新模型</a:t>
            </a:r>
            <a:r>
              <a:rPr sz="1400" b="0" dirty="0">
                <a:solidFill>
                  <a:srgbClr val="F5FAFF"/>
                </a:solidFill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rPr>
              <a:t> + 15% </a:t>
            </a:r>
            <a:r>
              <a:rPr sz="1400" b="0" dirty="0" err="1">
                <a:solidFill>
                  <a:srgbClr val="F5FAFF"/>
                </a:solidFill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rPr>
              <a:t>common_ai，且</a:t>
            </a:r>
            <a:r>
              <a:rPr sz="1400" b="0" dirty="0">
                <a:solidFill>
                  <a:srgbClr val="F5FAFF"/>
                </a:solidFill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rPr>
              <a:t> 30% </a:t>
            </a:r>
            <a:r>
              <a:rPr sz="1400" b="0" dirty="0" err="1">
                <a:solidFill>
                  <a:srgbClr val="F5FAFF"/>
                </a:solidFill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rPr>
              <a:t>概率采样历史模型，缓解策略遗忘</a:t>
            </a:r>
            <a:r>
              <a:rPr sz="1400" b="0" dirty="0">
                <a:solidFill>
                  <a:srgbClr val="F5FAFF"/>
                </a:solidFill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rPr>
              <a:t>。</a:t>
            </a:r>
            <a:r>
              <a:rPr lang="zh-CN" sz="1400" b="0" dirty="0">
                <a:solidFill>
                  <a:srgbClr val="F5FAFF"/>
                </a:solidFill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rPr>
              <a:t>评估时选用模型池中的模型，不只以</a:t>
            </a:r>
            <a:r>
              <a:rPr lang="en-US" altLang="zh-CN" sz="1400" b="0" dirty="0">
                <a:solidFill>
                  <a:srgbClr val="F5FAFF"/>
                </a:solidFill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rPr>
              <a:t>comman_ai</a:t>
            </a:r>
            <a:r>
              <a:rPr lang="zh-CN" altLang="en-US" sz="1400" b="0" dirty="0">
                <a:solidFill>
                  <a:srgbClr val="F5FAFF"/>
                </a:solidFill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rPr>
              <a:t>作为评估</a:t>
            </a:r>
            <a:r>
              <a:rPr lang="zh-CN" altLang="en-US" sz="1400" b="0" dirty="0">
                <a:solidFill>
                  <a:srgbClr val="F5FAFF"/>
                </a:solidFill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rPr>
              <a:t>对象</a:t>
            </a:r>
            <a:endParaRPr lang="zh-CN" altLang="en-US" sz="1400" b="0" dirty="0">
              <a:solidFill>
                <a:srgbClr val="F5FAFF"/>
              </a:solidFill>
              <a:latin typeface="方正粗黑宋简体" panose="02000000000000000000" charset="-122"/>
              <a:ea typeface="方正粗黑宋简体" panose="02000000000000000000" charset="-122"/>
              <a:cs typeface="方正粗黑宋简体" panose="02000000000000000000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434840" y="1600200"/>
            <a:ext cx="3291840" cy="1572768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1" y="1737360"/>
            <a:ext cx="2962656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7C5CFF"/>
                </a:solidFill>
                <a:latin typeface="方正粗黑宋简体" panose="02000000000000000000" charset="-122"/>
                <a:ea typeface="方正粗黑宋简体" panose="02000000000000000000" charset="-122"/>
              </a:rPr>
              <a:t>断点续训</a:t>
            </a:r>
            <a:endParaRPr sz="1400" b="1">
              <a:solidFill>
                <a:srgbClr val="7C5CFF"/>
              </a:solidFill>
              <a:latin typeface="方正粗黑宋简体" panose="02000000000000000000" charset="-122"/>
              <a:ea typeface="方正粗黑宋简体" panose="020000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99431" y="2075688"/>
            <a:ext cx="2962656" cy="430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F5FAFF"/>
                </a:solidFill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rPr>
              <a:t>Disaster Recovery 自动处理崩溃；恢复后接续训练状态和退火进度。</a:t>
            </a:r>
            <a:endParaRPr sz="1400" b="0">
              <a:solidFill>
                <a:srgbClr val="F5FAFF"/>
              </a:solidFill>
              <a:latin typeface="方正粗黑宋简体" panose="02000000000000000000" charset="-122"/>
              <a:ea typeface="方正粗黑宋简体" panose="02000000000000000000" charset="-122"/>
              <a:cs typeface="方正粗黑宋简体" panose="02000000000000000000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909560" y="1600200"/>
            <a:ext cx="3291840" cy="1572768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C6F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74152" y="1737360"/>
            <a:ext cx="2962656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C6FF4E"/>
                </a:solidFill>
                <a:latin typeface="方正粗黑宋简体" panose="02000000000000000000" charset="-122"/>
                <a:ea typeface="方正粗黑宋简体" panose="02000000000000000000" charset="-122"/>
              </a:rPr>
              <a:t>全程监控</a:t>
            </a:r>
            <a:endParaRPr sz="1400" b="1">
              <a:solidFill>
                <a:srgbClr val="C6FF4E"/>
              </a:solidFill>
              <a:latin typeface="方正粗黑宋简体" panose="02000000000000000000" charset="-122"/>
              <a:ea typeface="方正粗黑宋简体" panose="020000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74152" y="2075688"/>
            <a:ext cx="2962656" cy="430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F5FAFF"/>
                </a:solidFill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rPr>
              <a:t>60 秒上报梯度、退火、KL、合法动作比例，支持训练健康度判断。</a:t>
            </a:r>
            <a:endParaRPr sz="1400" b="0">
              <a:solidFill>
                <a:srgbClr val="F5FAFF"/>
              </a:solidFill>
              <a:latin typeface="方正粗黑宋简体" panose="02000000000000000000" charset="-122"/>
              <a:ea typeface="方正粗黑宋简体" panose="02000000000000000000" charset="-122"/>
              <a:cs typeface="方正粗黑宋简体" panose="02000000000000000000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821180" y="5883910"/>
            <a:ext cx="8549640" cy="646430"/>
          </a:xfrm>
          <a:prstGeom prst="roundRect">
            <a:avLst/>
          </a:prstGeom>
          <a:solidFill>
            <a:srgbClr val="0D2D52"/>
          </a:solidFill>
          <a:ln w="14604">
            <a:solidFill>
              <a:srgbClr val="FFB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22703" y="6106795"/>
            <a:ext cx="96012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FBE4A"/>
                </a:solidFill>
                <a:latin typeface="方正粗黑宋简体" panose="02000000000000000000" charset="-122"/>
                <a:ea typeface="方正粗黑宋简体" panose="02000000000000000000" charset="-122"/>
              </a:rPr>
              <a:t>工程价值</a:t>
            </a:r>
            <a:endParaRPr sz="1600" b="1">
              <a:solidFill>
                <a:srgbClr val="FFBE4A"/>
              </a:solidFill>
              <a:latin typeface="方正粗黑宋简体" panose="02000000000000000000" charset="-122"/>
              <a:ea typeface="方正粗黑宋简体" panose="020000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283077" y="6106541"/>
            <a:ext cx="694944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F5FAFF"/>
                </a:solidFill>
                <a:latin typeface="方正粗黑宋简体" panose="02000000000000000000" charset="-122"/>
                <a:ea typeface="方正粗黑宋简体" panose="02000000000000000000" charset="-122"/>
              </a:rPr>
              <a:t>在算力有限的赛题中，稳定续训和可诊断比单次训练峰值更重要。</a:t>
            </a:r>
            <a:endParaRPr sz="1300" b="1">
              <a:solidFill>
                <a:srgbClr val="F5FAFF"/>
              </a:solidFill>
              <a:latin typeface="方正粗黑宋简体" panose="02000000000000000000" charset="-122"/>
              <a:ea typeface="方正粗黑宋简体" panose="02000000000000000000" charset="-122"/>
            </a:endParaRPr>
          </a:p>
        </p:txBody>
      </p:sp>
      <p:pic>
        <p:nvPicPr>
          <p:cNvPr id="21" name="图片 20" descr="训练监控 - 腾讯开悟比赛平台 和另外 9 个页面 - 个人 - Microsoft​ Edge 2026_6_4 10_57_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3770" y="3723005"/>
            <a:ext cx="2869565" cy="1999615"/>
          </a:xfrm>
          <a:prstGeom prst="rect">
            <a:avLst/>
          </a:prstGeom>
        </p:spPr>
      </p:pic>
      <p:cxnSp>
        <p:nvCxnSpPr>
          <p:cNvPr id="22" name="直接箭头连接符 21"/>
          <p:cNvCxnSpPr/>
          <p:nvPr/>
        </p:nvCxnSpPr>
        <p:spPr>
          <a:xfrm flipH="1">
            <a:off x="7562215" y="3283585"/>
            <a:ext cx="1616075" cy="3238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图片 24" descr="训练监控 - 腾讯开悟比赛平台 和另外 9 个页面 - 个人 - Microsoft​ Edge 2026_6_4 11_01_0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3175" y="3687445"/>
            <a:ext cx="2665730" cy="1979295"/>
          </a:xfrm>
          <a:prstGeom prst="rect">
            <a:avLst/>
          </a:prstGeom>
        </p:spPr>
      </p:pic>
      <p:cxnSp>
        <p:nvCxnSpPr>
          <p:cNvPr id="26" name="直接箭头连接符 25"/>
          <p:cNvCxnSpPr/>
          <p:nvPr/>
        </p:nvCxnSpPr>
        <p:spPr>
          <a:xfrm>
            <a:off x="2534285" y="3283585"/>
            <a:ext cx="0" cy="3187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7" name="图片 26" descr="训练监控 - 腾讯开悟比赛平台 和另外 9 个页面 - 个人 - Microsoft​ Edge 2026_6_4 11_05_0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53550" y="3723005"/>
            <a:ext cx="2790190" cy="1993900"/>
          </a:xfrm>
          <a:prstGeom prst="rect">
            <a:avLst/>
          </a:prstGeom>
        </p:spPr>
      </p:pic>
      <p:cxnSp>
        <p:nvCxnSpPr>
          <p:cNvPr id="28" name="直接箭头连接符 27"/>
          <p:cNvCxnSpPr/>
          <p:nvPr/>
        </p:nvCxnSpPr>
        <p:spPr>
          <a:xfrm>
            <a:off x="9695815" y="3288665"/>
            <a:ext cx="1505585" cy="3187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8592" y="347472"/>
            <a:ext cx="2011680" cy="7031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72" y="393192"/>
            <a:ext cx="24688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0E5FF"/>
                </a:solidFill>
                <a:latin typeface="微软雅黑" panose="020B0503020204020204" charset="-122"/>
              </a:rPr>
              <a:t>未来展望 · 算法优化</a:t>
            </a:r>
            <a:endParaRPr sz="1500" b="1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10312" y="6364224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ADCCE8"/>
                </a:solidFill>
                <a:latin typeface="微软雅黑" panose="020B0503020204020204" charset="-122"/>
              </a:rPr>
              <a:t>16</a:t>
            </a:r>
            <a:endParaRPr sz="700" b="0">
              <a:solidFill>
                <a:srgbClr val="ADCCE8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6072" y="713232"/>
            <a:ext cx="777240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5FAFF"/>
                </a:solidFill>
                <a:latin typeface="微软雅黑" panose="020B0503020204020204" charset="-122"/>
              </a:rPr>
              <a:t>后续算法优化优先提升探索效率、对手采样质量与价值尺度稳定性</a:t>
            </a:r>
            <a:endParaRPr sz="2000" b="1">
              <a:solidFill>
                <a:srgbClr val="F5FAFF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84048" y="438912"/>
            <a:ext cx="36576" cy="493776"/>
          </a:xfrm>
          <a:prstGeom prst="rect">
            <a:avLst/>
          </a:prstGeom>
          <a:solidFill>
            <a:srgbClr val="00A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481328"/>
            <a:ext cx="3246120" cy="2240280"/>
          </a:xfrm>
          <a:prstGeom prst="roundRect">
            <a:avLst/>
          </a:prstGeom>
          <a:solidFill>
            <a:srgbClr val="E1F3FF"/>
          </a:solidFill>
          <a:ln w="14604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600200"/>
            <a:ext cx="29169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6192F"/>
                </a:solidFill>
                <a:latin typeface="微软雅黑" panose="020B0503020204020204" charset="-122"/>
              </a:rPr>
              <a:t>1.1 ICM / RND</a:t>
            </a:r>
            <a:endParaRPr sz="1400" b="1">
              <a:solidFill>
                <a:srgbClr val="06192F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87552" y="1956816"/>
            <a:ext cx="2916936" cy="1673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0" b="0">
                <a:solidFill>
                  <a:srgbClr val="06192F"/>
                </a:solidFill>
                <a:latin typeface="微软雅黑" panose="020B0503020204020204" charset="-122"/>
              </a:rPr>
              <a:t>内在好奇心为稀疏奖励补探索信号
算力：+30%，速度约 -25%，样本效率 2-3 倍</a:t>
            </a:r>
            <a:endParaRPr sz="1080" b="0">
              <a:solidFill>
                <a:srgbClr val="06192F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480560" y="1481328"/>
            <a:ext cx="3246120" cy="2240280"/>
          </a:xfrm>
          <a:prstGeom prst="roundRect">
            <a:avLst/>
          </a:prstGeom>
          <a:solidFill>
            <a:srgbClr val="E1F3FF"/>
          </a:solidFill>
          <a:ln w="14604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5152" y="1600200"/>
            <a:ext cx="29169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6192F"/>
                </a:solidFill>
                <a:latin typeface="微软雅黑" panose="020B0503020204020204" charset="-122"/>
              </a:rPr>
              <a:t>1.2 PFSP</a:t>
            </a:r>
            <a:endParaRPr sz="1400" b="1">
              <a:solidFill>
                <a:srgbClr val="06192F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645152" y="1956816"/>
            <a:ext cx="2916936" cy="1673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0" b="0">
                <a:solidFill>
                  <a:srgbClr val="06192F"/>
                </a:solidFill>
                <a:latin typeface="微软雅黑" panose="020B0503020204020204" charset="-122"/>
              </a:rPr>
              <a:t>按历史胜率优先采样“打不过的”模型。
算力：几乎无变化；策略提升更稳定。</a:t>
            </a:r>
            <a:endParaRPr sz="1080" b="0">
              <a:solidFill>
                <a:srgbClr val="06192F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138160" y="1481328"/>
            <a:ext cx="3246120" cy="2240280"/>
          </a:xfrm>
          <a:prstGeom prst="roundRect">
            <a:avLst/>
          </a:prstGeom>
          <a:solidFill>
            <a:srgbClr val="E1F3FF"/>
          </a:solidFill>
          <a:ln w="14604">
            <a:solidFill>
              <a:srgbClr val="C6F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1600200"/>
            <a:ext cx="29169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6192F"/>
                </a:solidFill>
                <a:latin typeface="微软雅黑" panose="020B0503020204020204" charset="-122"/>
              </a:rPr>
              <a:t>1.3 Value Norm</a:t>
            </a:r>
            <a:endParaRPr sz="1400" b="1">
              <a:solidFill>
                <a:srgbClr val="06192F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302752" y="1956816"/>
            <a:ext cx="2916936" cy="1673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0" b="0">
                <a:solidFill>
                  <a:srgbClr val="06192F"/>
                </a:solidFill>
                <a:latin typeface="微软雅黑" panose="020B0503020204020204" charset="-122"/>
              </a:rPr>
              <a:t>对 5 个 Value 头做 Running Mean/Std 归一化。
算力：+5%；显著提升训练稳定性。</a:t>
            </a:r>
            <a:endParaRPr sz="1080" b="0">
              <a:solidFill>
                <a:srgbClr val="06192F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103120" y="4709160"/>
            <a:ext cx="7973568" cy="68580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FFB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95728" y="4928616"/>
            <a:ext cx="738835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F5FAFF"/>
                </a:solidFill>
                <a:latin typeface="微软雅黑" panose="020B0503020204020204" charset="-122"/>
              </a:rPr>
              <a:t>优先级建议：先做 PFSP 与 Value Norm，再评估 ICM/RND 的额外算力收益。</a:t>
            </a:r>
            <a:endParaRPr sz="1200" b="1">
              <a:solidFill>
                <a:srgbClr val="F5FAF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8592" y="347472"/>
            <a:ext cx="2011680" cy="7031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72" y="393192"/>
            <a:ext cx="24688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0E5FF"/>
                </a:solidFill>
                <a:latin typeface="微软雅黑" panose="020B0503020204020204" charset="-122"/>
              </a:rPr>
              <a:t>未来展望 · 工程优化</a:t>
            </a:r>
            <a:endParaRPr sz="1500" b="1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10312" y="6364224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ADCCE8"/>
                </a:solidFill>
                <a:latin typeface="微软雅黑" panose="020B0503020204020204" charset="-122"/>
              </a:rPr>
              <a:t>17</a:t>
            </a:r>
            <a:endParaRPr sz="700" b="0">
              <a:solidFill>
                <a:srgbClr val="ADCCE8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6072" y="713232"/>
            <a:ext cx="777240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5FAFF"/>
                </a:solidFill>
                <a:latin typeface="微软雅黑" panose="020B0503020204020204" charset="-122"/>
              </a:rPr>
              <a:t>工程侧优先减少冗余计算，把有限算力换成更高吞吐</a:t>
            </a:r>
            <a:endParaRPr sz="2000" b="1">
              <a:solidFill>
                <a:srgbClr val="F5FAFF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84048" y="438912"/>
            <a:ext cx="36576" cy="493776"/>
          </a:xfrm>
          <a:prstGeom prst="rect">
            <a:avLst/>
          </a:prstGeom>
          <a:solidFill>
            <a:srgbClr val="00A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508760"/>
            <a:ext cx="10469880" cy="105156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1709928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0E5FF"/>
                </a:solidFill>
                <a:latin typeface="微软雅黑" panose="020B0503020204020204" charset="-122"/>
              </a:rPr>
              <a:t>共享编码器</a:t>
            </a:r>
            <a:endParaRPr sz="1500" b="1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880360" y="1728216"/>
            <a:ext cx="3886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F5FAFF"/>
                </a:solidFill>
                <a:latin typeface="微软雅黑" panose="020B0503020204020204" charset="-122"/>
              </a:rPr>
              <a:t>5 类实体先共享底层 Encoder，再分支</a:t>
            </a:r>
            <a:endParaRPr sz="1150" b="0">
              <a:solidFill>
                <a:srgbClr val="F5FAFF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0" y="1728216"/>
            <a:ext cx="35661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20" b="1">
                <a:solidFill>
                  <a:srgbClr val="C6FF4E"/>
                </a:solidFill>
                <a:latin typeface="微软雅黑" panose="020B0503020204020204" charset="-122"/>
              </a:rPr>
              <a:t>参数量 -40%，推理速度 1.5×</a:t>
            </a:r>
            <a:endParaRPr sz="1220" b="1">
              <a:solidFill>
                <a:srgbClr val="C6FF4E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68680" y="2834639"/>
            <a:ext cx="10469880" cy="105156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035808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7C5CFF"/>
                </a:solidFill>
                <a:latin typeface="微软雅黑" panose="020B0503020204020204" charset="-122"/>
              </a:rPr>
              <a:t>PER</a:t>
            </a:r>
            <a:endParaRPr sz="1500" b="1">
              <a:solidFill>
                <a:srgbClr val="7C5CFF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880360" y="3054096"/>
            <a:ext cx="3886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F5FAFF"/>
                </a:solidFill>
                <a:latin typeface="微软雅黑" panose="020B0503020204020204" charset="-122"/>
              </a:rPr>
              <a:t>按 TD-Error 优先采样高价值 transition</a:t>
            </a:r>
            <a:endParaRPr sz="1150" b="0">
              <a:solidFill>
                <a:srgbClr val="F5FAFF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315200" y="3054096"/>
            <a:ext cx="35661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20" b="1">
                <a:solidFill>
                  <a:srgbClr val="C6FF4E"/>
                </a:solidFill>
                <a:latin typeface="微软雅黑" panose="020B0503020204020204" charset="-122"/>
              </a:rPr>
              <a:t>算力 +10%，样本效率 +30-50%</a:t>
            </a:r>
            <a:endParaRPr sz="1220" b="1">
              <a:solidFill>
                <a:srgbClr val="C6FF4E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68680" y="4160520"/>
            <a:ext cx="10469880" cy="105156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C6F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361688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C6FF4E"/>
                </a:solidFill>
                <a:latin typeface="微软雅黑" panose="020B0503020204020204" charset="-122"/>
              </a:rPr>
              <a:t>动态 Batching</a:t>
            </a:r>
            <a:endParaRPr sz="1500" b="1">
              <a:solidFill>
                <a:srgbClr val="C6FF4E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880360" y="4379976"/>
            <a:ext cx="3886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F5FAFF"/>
                </a:solidFill>
                <a:latin typeface="微软雅黑" panose="020B0503020204020204" charset="-122"/>
              </a:rPr>
              <a:t>按 LSTM 序列长度动态组 batch</a:t>
            </a:r>
            <a:endParaRPr sz="1150" b="0">
              <a:solidFill>
                <a:srgbClr val="F5FAFF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315200" y="4379976"/>
            <a:ext cx="35661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20" b="1">
                <a:solidFill>
                  <a:srgbClr val="00E5FF"/>
                </a:solidFill>
                <a:latin typeface="微软雅黑" panose="020B0503020204020204" charset="-122"/>
              </a:rPr>
              <a:t>GPU 利用率 +20%，训练速度 +30%</a:t>
            </a:r>
            <a:endParaRPr sz="1220" b="1">
              <a:solidFill>
                <a:srgbClr val="00E5F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48640" y="777240"/>
            <a:ext cx="0" cy="5760720"/>
          </a:xfrm>
          <a:prstGeom prst="line">
            <a:avLst/>
          </a:prstGeom>
          <a:ln w="5080">
            <a:solidFill>
              <a:srgbClr val="10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2011680" y="777240"/>
            <a:ext cx="0" cy="5760720"/>
          </a:xfrm>
          <a:prstGeom prst="line">
            <a:avLst/>
          </a:prstGeom>
          <a:ln w="5080">
            <a:solidFill>
              <a:srgbClr val="10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474720" y="777240"/>
            <a:ext cx="0" cy="5760720"/>
          </a:xfrm>
          <a:prstGeom prst="line">
            <a:avLst/>
          </a:prstGeom>
          <a:ln w="5080">
            <a:solidFill>
              <a:srgbClr val="10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937760" y="777240"/>
            <a:ext cx="0" cy="5760720"/>
          </a:xfrm>
          <a:prstGeom prst="line">
            <a:avLst/>
          </a:prstGeom>
          <a:ln w="5080">
            <a:solidFill>
              <a:srgbClr val="10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400800" y="777240"/>
            <a:ext cx="0" cy="5760720"/>
          </a:xfrm>
          <a:prstGeom prst="line">
            <a:avLst/>
          </a:prstGeom>
          <a:ln w="5080">
            <a:solidFill>
              <a:srgbClr val="10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863840" y="777240"/>
            <a:ext cx="0" cy="5760720"/>
          </a:xfrm>
          <a:prstGeom prst="line">
            <a:avLst/>
          </a:prstGeom>
          <a:ln w="5080">
            <a:solidFill>
              <a:srgbClr val="10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326880" y="777240"/>
            <a:ext cx="0" cy="5760720"/>
          </a:xfrm>
          <a:prstGeom prst="line">
            <a:avLst/>
          </a:prstGeom>
          <a:ln w="5080">
            <a:solidFill>
              <a:srgbClr val="10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789920" y="777240"/>
            <a:ext cx="0" cy="5760720"/>
          </a:xfrm>
          <a:prstGeom prst="line">
            <a:avLst/>
          </a:prstGeom>
          <a:ln w="5080">
            <a:solidFill>
              <a:srgbClr val="10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0040" y="1234440"/>
            <a:ext cx="11521440" cy="0"/>
          </a:xfrm>
          <a:prstGeom prst="line">
            <a:avLst/>
          </a:prstGeom>
          <a:ln w="5080">
            <a:solidFill>
              <a:srgbClr val="10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0040" y="2331720"/>
            <a:ext cx="11521440" cy="0"/>
          </a:xfrm>
          <a:prstGeom prst="line">
            <a:avLst/>
          </a:prstGeom>
          <a:ln w="5080">
            <a:solidFill>
              <a:srgbClr val="10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" y="3429000"/>
            <a:ext cx="11521440" cy="0"/>
          </a:xfrm>
          <a:prstGeom prst="line">
            <a:avLst/>
          </a:prstGeom>
          <a:ln w="5080">
            <a:solidFill>
              <a:srgbClr val="10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" y="4526280"/>
            <a:ext cx="11521440" cy="0"/>
          </a:xfrm>
          <a:prstGeom prst="line">
            <a:avLst/>
          </a:prstGeom>
          <a:ln w="5080">
            <a:solidFill>
              <a:srgbClr val="10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20040" y="5623560"/>
            <a:ext cx="11521440" cy="0"/>
          </a:xfrm>
          <a:prstGeom prst="line">
            <a:avLst/>
          </a:prstGeom>
          <a:ln w="5080">
            <a:solidFill>
              <a:srgbClr val="10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75488" y="256032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8D6E7"/>
                </a:solidFill>
                <a:latin typeface="Microsoft YaHei"/>
              </a:rPr>
              <a:t>未来展望 · 泛化应用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20272" y="219456"/>
            <a:ext cx="411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>
                <a:solidFill>
                  <a:srgbClr val="AAB6CB"/>
                </a:solidFill>
                <a:latin typeface="Aptos"/>
              </a:rPr>
              <a:t>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530352"/>
            <a:ext cx="102412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4F7FB"/>
                </a:solidFill>
                <a:latin typeface="Microsoft YaHei"/>
              </a:rPr>
              <a:t>从推塔智能体到多目标场景：对象、位置、价值信号可复用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" y="932688"/>
            <a:ext cx="9966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AB6CB"/>
                </a:solidFill>
                <a:latin typeface="Microsoft YaHei"/>
              </a:rPr>
              <a:t>迁移重点不是直接复用模型权重，而是复用“结构化对象 + 多目标价值 + 合法动作约束”的建模方式。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" y="1344168"/>
            <a:ext cx="4581144" cy="5038344"/>
          </a:xfrm>
          <a:prstGeom prst="roundRect">
            <a:avLst/>
          </a:prstGeom>
          <a:solidFill>
            <a:srgbClr val="0A1528"/>
          </a:solidFill>
          <a:ln w="12700">
            <a:solidFill>
              <a:srgbClr val="19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1417320"/>
            <a:ext cx="4434840" cy="2345436"/>
          </a:xfrm>
          <a:prstGeom prst="roundRect">
            <a:avLst/>
          </a:prstGeom>
          <a:solidFill>
            <a:srgbClr val="0B172B"/>
          </a:solidFill>
          <a:ln w="12700">
            <a:solidFill>
              <a:srgbClr val="2440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" y="1581912"/>
            <a:ext cx="4105655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28D6E7"/>
                </a:solidFill>
                <a:latin typeface="Microsoft YaHei"/>
              </a:rPr>
              <a:t>推荐系统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5840" y="1819656"/>
            <a:ext cx="1234440" cy="168706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526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24712" y="2039112"/>
            <a:ext cx="996696" cy="1248156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216152" y="2203704"/>
            <a:ext cx="804672" cy="292608"/>
          </a:xfrm>
          <a:prstGeom prst="roundRect">
            <a:avLst/>
          </a:prstGeom>
          <a:solidFill>
            <a:srgbClr val="28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216152" y="2624328"/>
            <a:ext cx="804672" cy="292608"/>
          </a:xfrm>
          <a:prstGeom prst="roundRect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216152" y="3044952"/>
            <a:ext cx="804672" cy="292608"/>
          </a:xfrm>
          <a:prstGeom prst="roundRect">
            <a:avLst/>
          </a:prstGeom>
          <a:solidFill>
            <a:srgbClr val="6CE5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96312" y="2057400"/>
            <a:ext cx="13258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4F7FB"/>
                </a:solidFill>
                <a:latin typeface="Microsoft YaHei"/>
              </a:rPr>
              <a:t>多目标排序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96312" y="2404872"/>
            <a:ext cx="13258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50">
                <a:solidFill>
                  <a:srgbClr val="AAB6CB"/>
                </a:solidFill>
                <a:latin typeface="Microsoft YaHei"/>
              </a:rPr>
              <a:t>CTR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50">
                <a:solidFill>
                  <a:srgbClr val="AAB6CB"/>
                </a:solidFill>
                <a:latin typeface="Microsoft YaHei"/>
              </a:rPr>
              <a:t>停留时长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50">
                <a:solidFill>
                  <a:srgbClr val="AAB6CB"/>
                </a:solidFill>
                <a:latin typeface="Microsoft YaHei"/>
              </a:rPr>
              <a:t>转化 / 复访</a:t>
            </a:r>
          </a:p>
        </p:txBody>
      </p:sp>
      <p:sp>
        <p:nvSpPr>
          <p:cNvPr id="29" name="Oval 28"/>
          <p:cNvSpPr/>
          <p:nvPr/>
        </p:nvSpPr>
        <p:spPr>
          <a:xfrm>
            <a:off x="2313432" y="2350008"/>
            <a:ext cx="73152" cy="73152"/>
          </a:xfrm>
          <a:prstGeom prst="ellipse">
            <a:avLst/>
          </a:prstGeom>
          <a:solidFill>
            <a:srgbClr val="28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313432" y="2715768"/>
            <a:ext cx="73152" cy="73152"/>
          </a:xfrm>
          <a:prstGeom prst="ellipse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313432" y="3081528"/>
            <a:ext cx="73152" cy="73152"/>
          </a:xfrm>
          <a:prstGeom prst="ellipse">
            <a:avLst/>
          </a:prstGeom>
          <a:solidFill>
            <a:srgbClr val="6CE5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4088" y="3433572"/>
            <a:ext cx="4032503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AAB6CB"/>
                </a:solidFill>
                <a:latin typeface="Microsoft YaHei"/>
              </a:rPr>
              <a:t>用户 × 物品 × 上下文</a:t>
            </a:r>
          </a:p>
        </p:txBody>
      </p:sp>
      <p:pic>
        <p:nvPicPr>
          <p:cNvPr id="33" name="Picture 32" descr="crop_waymo_189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963924"/>
            <a:ext cx="4434840" cy="23454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502920" y="5852160"/>
            <a:ext cx="4434840" cy="457200"/>
          </a:xfrm>
          <a:prstGeom prst="rect">
            <a:avLst/>
          </a:prstGeom>
          <a:solidFill>
            <a:srgbClr val="061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" y="5961888"/>
            <a:ext cx="410565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F4F7FB"/>
                </a:solidFill>
                <a:latin typeface="Microsoft YaHei"/>
              </a:rPr>
              <a:t>自动驾驶：道路参与者与安全约束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3963924"/>
            <a:ext cx="4434840" cy="2345436"/>
          </a:xfrm>
          <a:prstGeom prst="rect">
            <a:avLst/>
          </a:prstGeom>
          <a:noFill/>
          <a:ln w="15240">
            <a:solidFill>
              <a:srgbClr val="6CE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257800" y="1417320"/>
            <a:ext cx="6355080" cy="4892040"/>
          </a:xfrm>
          <a:prstGeom prst="roundRect">
            <a:avLst/>
          </a:prstGeom>
          <a:solidFill>
            <a:srgbClr val="081326"/>
          </a:solidFill>
          <a:ln w="12700">
            <a:solidFill>
              <a:srgbClr val="18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532120" y="1627632"/>
            <a:ext cx="5806440" cy="2029968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3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532120" y="1792224"/>
            <a:ext cx="45720" cy="1700784"/>
          </a:xfrm>
          <a:prstGeom prst="rect">
            <a:avLst/>
          </a:prstGeom>
          <a:solidFill>
            <a:srgbClr val="28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33288" y="1792224"/>
            <a:ext cx="55321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28D6E7"/>
                </a:solidFill>
                <a:latin typeface="Aptos"/>
              </a:rPr>
              <a:t>RECOMMENDER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33288" y="2020824"/>
            <a:ext cx="54864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1">
                <a:solidFill>
                  <a:srgbClr val="F4F7FB"/>
                </a:solidFill>
                <a:latin typeface="Microsoft YaHei"/>
              </a:rPr>
              <a:t>推荐系统：排序也是多目标取舍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60720" y="2450592"/>
            <a:ext cx="1600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F4F7FB"/>
                </a:solidFill>
                <a:latin typeface="Microsoft YaHei"/>
              </a:rPr>
              <a:t>多 Value 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96328" y="2450592"/>
            <a:ext cx="2286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28D6E7"/>
                </a:solidFill>
                <a:latin typeface="Microsoft YaHei"/>
              </a:rPr>
              <a:t>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52360" y="2450592"/>
            <a:ext cx="36575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AB6CB"/>
                </a:solidFill>
                <a:latin typeface="Microsoft YaHei"/>
              </a:rPr>
              <a:t>CTR / 停留 / 转化等目标分解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60720" y="2843784"/>
            <a:ext cx="1600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F4F7FB"/>
                </a:solidFill>
                <a:latin typeface="Microsoft YaHei"/>
              </a:rPr>
              <a:t>对象编码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96328" y="2843784"/>
            <a:ext cx="2286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28D6E7"/>
                </a:solidFill>
                <a:latin typeface="Microsoft YaHei"/>
              </a:rPr>
              <a:t>→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52360" y="2843784"/>
            <a:ext cx="36575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AB6CB"/>
                </a:solidFill>
                <a:latin typeface="Microsoft YaHei"/>
              </a:rPr>
              <a:t>用户、物品、上下文分通道建模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60720" y="3236976"/>
            <a:ext cx="1600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F4F7FB"/>
                </a:solidFill>
                <a:latin typeface="Microsoft YaHei"/>
              </a:rPr>
              <a:t>位置编码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96328" y="3236976"/>
            <a:ext cx="2286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28D6E7"/>
                </a:solidFill>
                <a:latin typeface="Microsoft YaHei"/>
              </a:rPr>
              <a:t>→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52360" y="3236976"/>
            <a:ext cx="36575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AB6CB"/>
                </a:solidFill>
                <a:latin typeface="Microsoft YaHei"/>
              </a:rPr>
              <a:t>时间戳与列表位置共同影响决策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532120" y="3931920"/>
            <a:ext cx="5806440" cy="2029968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3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532120" y="4096511"/>
            <a:ext cx="45720" cy="1700784"/>
          </a:xfrm>
          <a:prstGeom prst="rect">
            <a:avLst/>
          </a:prstGeom>
          <a:solidFill>
            <a:srgbClr val="6CE5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733288" y="4096511"/>
            <a:ext cx="55321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6CE5B1"/>
                </a:solidFill>
                <a:latin typeface="Aptos"/>
              </a:rPr>
              <a:t>AUTONOMOUS DRIVING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33288" y="4325112"/>
            <a:ext cx="54864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1">
                <a:solidFill>
                  <a:srgbClr val="F4F7FB"/>
                </a:solidFill>
                <a:latin typeface="Microsoft YaHei"/>
              </a:rPr>
              <a:t>自动驾驶：从动作合法到安全可执行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760720" y="4754880"/>
            <a:ext cx="1600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F4F7FB"/>
                </a:solidFill>
                <a:latin typeface="Microsoft YaHei"/>
              </a:rPr>
              <a:t>对象通道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96328" y="4754880"/>
            <a:ext cx="2286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6CE5B1"/>
                </a:solidFill>
                <a:latin typeface="Microsoft YaHei"/>
              </a:rPr>
              <a:t>→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52360" y="4754880"/>
            <a:ext cx="36575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AB6CB"/>
                </a:solidFill>
                <a:latin typeface="Microsoft YaHei"/>
              </a:rPr>
              <a:t>自车、他车、行人、道路元素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760720" y="5148072"/>
            <a:ext cx="1600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F4F7FB"/>
                </a:solidFill>
                <a:latin typeface="Microsoft YaHei"/>
              </a:rPr>
              <a:t>双重位置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196328" y="5148072"/>
            <a:ext cx="2286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6CE5B1"/>
                </a:solidFill>
                <a:latin typeface="Microsoft YaHei"/>
              </a:rPr>
              <a:t>→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52360" y="5148072"/>
            <a:ext cx="36575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AB6CB"/>
                </a:solidFill>
                <a:latin typeface="Microsoft YaHei"/>
              </a:rPr>
              <a:t>相对距离与全局道路坐标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760720" y="5541264"/>
            <a:ext cx="1600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F4F7FB"/>
                </a:solidFill>
                <a:latin typeface="Microsoft YaHei"/>
              </a:rPr>
              <a:t>安全约束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196328" y="5541264"/>
            <a:ext cx="2286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6CE5B1"/>
                </a:solidFill>
                <a:latin typeface="Microsoft YaHei"/>
              </a:rPr>
              <a:t>→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452360" y="5541264"/>
            <a:ext cx="36575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AB6CB"/>
                </a:solidFill>
                <a:latin typeface="Microsoft YaHei"/>
              </a:rPr>
              <a:t>过滤不可执行或高风险动作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532120" y="5961888"/>
            <a:ext cx="1298448" cy="256032"/>
          </a:xfrm>
          <a:prstGeom prst="roundRect">
            <a:avLst/>
          </a:prstGeom>
          <a:solidFill>
            <a:srgbClr val="0B1D35"/>
          </a:solidFill>
          <a:ln w="12700">
            <a:solidFill>
              <a:srgbClr val="28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532120" y="6012179"/>
            <a:ext cx="1298448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19" b="1">
                <a:solidFill>
                  <a:srgbClr val="F4F7FB"/>
                </a:solidFill>
                <a:latin typeface="Microsoft YaHei"/>
              </a:rPr>
              <a:t>短视频推荐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949440" y="5961888"/>
            <a:ext cx="1298448" cy="256032"/>
          </a:xfrm>
          <a:prstGeom prst="roundRect">
            <a:avLst/>
          </a:prstGeom>
          <a:solidFill>
            <a:srgbClr val="0B1D35"/>
          </a:solidFill>
          <a:ln w="12700">
            <a:solidFill>
              <a:srgbClr val="28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949440" y="6012179"/>
            <a:ext cx="1298448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19" b="1">
                <a:solidFill>
                  <a:srgbClr val="F4F7FB"/>
                </a:solidFill>
                <a:latin typeface="Microsoft YaHei"/>
              </a:rPr>
              <a:t>商品排序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366760" y="5961888"/>
            <a:ext cx="1298448" cy="256032"/>
          </a:xfrm>
          <a:prstGeom prst="roundRect">
            <a:avLst/>
          </a:prstGeom>
          <a:solidFill>
            <a:srgbClr val="0B1D35"/>
          </a:solidFill>
          <a:ln w="12700">
            <a:solidFill>
              <a:srgbClr val="28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366760" y="6012179"/>
            <a:ext cx="1298448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19" b="1">
                <a:solidFill>
                  <a:srgbClr val="F4F7FB"/>
                </a:solidFill>
                <a:latin typeface="Microsoft YaHei"/>
              </a:rPr>
              <a:t>城市 NOA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784080" y="5961888"/>
            <a:ext cx="1298448" cy="256032"/>
          </a:xfrm>
          <a:prstGeom prst="roundRect">
            <a:avLst/>
          </a:prstGeom>
          <a:solidFill>
            <a:srgbClr val="0B1D35"/>
          </a:solidFill>
          <a:ln w="12700">
            <a:solidFill>
              <a:srgbClr val="28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784080" y="6012179"/>
            <a:ext cx="1298448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19" b="1">
                <a:solidFill>
                  <a:srgbClr val="F4F7FB"/>
                </a:solidFill>
                <a:latin typeface="Microsoft YaHei"/>
              </a:rPr>
              <a:t>RoboTaxi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02920" y="6565392"/>
            <a:ext cx="3749039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20" b="0">
                <a:solidFill>
                  <a:srgbClr val="7F8CA5"/>
                </a:solidFill>
                <a:latin typeface="Microsoft YaHei"/>
              </a:rPr>
              <a:t>图片来源：Wikimedia Commons，详见 Reference 页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48640" y="777240"/>
            <a:ext cx="0" cy="5760720"/>
          </a:xfrm>
          <a:prstGeom prst="line">
            <a:avLst/>
          </a:prstGeom>
          <a:ln w="5080">
            <a:solidFill>
              <a:srgbClr val="10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2011680" y="777240"/>
            <a:ext cx="0" cy="5760720"/>
          </a:xfrm>
          <a:prstGeom prst="line">
            <a:avLst/>
          </a:prstGeom>
          <a:ln w="5080">
            <a:solidFill>
              <a:srgbClr val="10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474720" y="777240"/>
            <a:ext cx="0" cy="5760720"/>
          </a:xfrm>
          <a:prstGeom prst="line">
            <a:avLst/>
          </a:prstGeom>
          <a:ln w="5080">
            <a:solidFill>
              <a:srgbClr val="10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937760" y="777240"/>
            <a:ext cx="0" cy="5760720"/>
          </a:xfrm>
          <a:prstGeom prst="line">
            <a:avLst/>
          </a:prstGeom>
          <a:ln w="5080">
            <a:solidFill>
              <a:srgbClr val="10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400800" y="777240"/>
            <a:ext cx="0" cy="5760720"/>
          </a:xfrm>
          <a:prstGeom prst="line">
            <a:avLst/>
          </a:prstGeom>
          <a:ln w="5080">
            <a:solidFill>
              <a:srgbClr val="10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863840" y="777240"/>
            <a:ext cx="0" cy="5760720"/>
          </a:xfrm>
          <a:prstGeom prst="line">
            <a:avLst/>
          </a:prstGeom>
          <a:ln w="5080">
            <a:solidFill>
              <a:srgbClr val="10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326880" y="777240"/>
            <a:ext cx="0" cy="5760720"/>
          </a:xfrm>
          <a:prstGeom prst="line">
            <a:avLst/>
          </a:prstGeom>
          <a:ln w="5080">
            <a:solidFill>
              <a:srgbClr val="10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789920" y="777240"/>
            <a:ext cx="0" cy="5760720"/>
          </a:xfrm>
          <a:prstGeom prst="line">
            <a:avLst/>
          </a:prstGeom>
          <a:ln w="5080">
            <a:solidFill>
              <a:srgbClr val="10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0040" y="1234440"/>
            <a:ext cx="11521440" cy="0"/>
          </a:xfrm>
          <a:prstGeom prst="line">
            <a:avLst/>
          </a:prstGeom>
          <a:ln w="5080">
            <a:solidFill>
              <a:srgbClr val="10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0040" y="2331720"/>
            <a:ext cx="11521440" cy="0"/>
          </a:xfrm>
          <a:prstGeom prst="line">
            <a:avLst/>
          </a:prstGeom>
          <a:ln w="5080">
            <a:solidFill>
              <a:srgbClr val="10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" y="3429000"/>
            <a:ext cx="11521440" cy="0"/>
          </a:xfrm>
          <a:prstGeom prst="line">
            <a:avLst/>
          </a:prstGeom>
          <a:ln w="5080">
            <a:solidFill>
              <a:srgbClr val="10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" y="4526280"/>
            <a:ext cx="11521440" cy="0"/>
          </a:xfrm>
          <a:prstGeom prst="line">
            <a:avLst/>
          </a:prstGeom>
          <a:ln w="5080">
            <a:solidFill>
              <a:srgbClr val="10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20040" y="5623560"/>
            <a:ext cx="11521440" cy="0"/>
          </a:xfrm>
          <a:prstGeom prst="line">
            <a:avLst/>
          </a:prstGeom>
          <a:ln w="5080">
            <a:solidFill>
              <a:srgbClr val="10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75488" y="256032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8D6E7"/>
                </a:solidFill>
                <a:latin typeface="Microsoft YaHei"/>
              </a:rPr>
              <a:t>未来展望 · 泛化应用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20272" y="219456"/>
            <a:ext cx="411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>
                <a:solidFill>
                  <a:srgbClr val="AAB6CB"/>
                </a:solidFill>
                <a:latin typeface="Aptos"/>
              </a:rPr>
              <a:t>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530352"/>
            <a:ext cx="102412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4F7FB"/>
                </a:solidFill>
                <a:latin typeface="Microsoft YaHei"/>
              </a:rPr>
              <a:t>金融与工业场景更强调风险约束和稳定控制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" y="932688"/>
            <a:ext cx="9966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AB6CB"/>
                </a:solidFill>
                <a:latin typeface="Microsoft YaHei"/>
              </a:rPr>
              <a:t>这类任务与 1v1 对抗相同，都需要在收益、风险、资源消耗之间持续权衡。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" y="1344168"/>
            <a:ext cx="4581144" cy="5038344"/>
          </a:xfrm>
          <a:prstGeom prst="roundRect">
            <a:avLst/>
          </a:prstGeom>
          <a:solidFill>
            <a:srgbClr val="0A1528"/>
          </a:solidFill>
          <a:ln w="12700">
            <a:solidFill>
              <a:srgbClr val="19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rop_trading_189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417320"/>
            <a:ext cx="4434840" cy="2345436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502920" y="3305556"/>
            <a:ext cx="4434840" cy="457200"/>
          </a:xfrm>
          <a:prstGeom prst="rect">
            <a:avLst/>
          </a:prstGeom>
          <a:solidFill>
            <a:srgbClr val="061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" y="3415284"/>
            <a:ext cx="410565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F4F7FB"/>
                </a:solidFill>
                <a:latin typeface="Microsoft YaHei"/>
              </a:rPr>
              <a:t>量化交易：收益、风险与回撤并存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1417320"/>
            <a:ext cx="4434840" cy="2345436"/>
          </a:xfrm>
          <a:prstGeom prst="rect">
            <a:avLst/>
          </a:prstGeom>
          <a:noFill/>
          <a:ln w="15240"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crop_industry_robot_189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963924"/>
            <a:ext cx="4434840" cy="2345436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502920" y="5852160"/>
            <a:ext cx="4434840" cy="457200"/>
          </a:xfrm>
          <a:prstGeom prst="rect">
            <a:avLst/>
          </a:prstGeom>
          <a:solidFill>
            <a:srgbClr val="061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" y="5961888"/>
            <a:ext cx="410565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F4F7FB"/>
                </a:solidFill>
                <a:latin typeface="Microsoft YaHei"/>
              </a:rPr>
              <a:t>工业控制：设备状态与工艺目标耦合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963924"/>
            <a:ext cx="4434840" cy="2345436"/>
          </a:xfrm>
          <a:prstGeom prst="rect">
            <a:avLst/>
          </a:prstGeom>
          <a:noFill/>
          <a:ln w="15240">
            <a:solidFill>
              <a:srgbClr val="28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257800" y="1417320"/>
            <a:ext cx="6355080" cy="4892040"/>
          </a:xfrm>
          <a:prstGeom prst="roundRect">
            <a:avLst/>
          </a:prstGeom>
          <a:solidFill>
            <a:srgbClr val="081326"/>
          </a:solidFill>
          <a:ln w="12700">
            <a:solidFill>
              <a:srgbClr val="18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532120" y="1627632"/>
            <a:ext cx="5806440" cy="2029968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3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532120" y="1792224"/>
            <a:ext cx="45720" cy="1700784"/>
          </a:xfrm>
          <a:prstGeom prst="rect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33288" y="1792224"/>
            <a:ext cx="55321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FFB454"/>
                </a:solidFill>
                <a:latin typeface="Aptos"/>
              </a:rPr>
              <a:t>QUANT TRADING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33288" y="2020824"/>
            <a:ext cx="54864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1">
                <a:solidFill>
                  <a:srgbClr val="F4F7FB"/>
                </a:solidFill>
                <a:latin typeface="Microsoft YaHei"/>
              </a:rPr>
              <a:t>量化交易：面向不同市场状态的策略演化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720" y="2450592"/>
            <a:ext cx="1600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F4F7FB"/>
                </a:solidFill>
                <a:latin typeface="Microsoft YaHei"/>
              </a:rPr>
              <a:t>多目标价值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96328" y="2450592"/>
            <a:ext cx="2286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B454"/>
                </a:solidFill>
                <a:latin typeface="Microsoft YaHei"/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2450592"/>
            <a:ext cx="36575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AB6CB"/>
                </a:solidFill>
                <a:latin typeface="Microsoft YaHei"/>
              </a:rPr>
              <a:t>收益、风险、回撤分项评估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60720" y="2843784"/>
            <a:ext cx="1600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F4F7FB"/>
                </a:solidFill>
                <a:latin typeface="Microsoft YaHei"/>
              </a:rPr>
              <a:t>历史采样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96328" y="2843784"/>
            <a:ext cx="2286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B454"/>
                </a:solidFill>
                <a:latin typeface="Microsoft YaHei"/>
              </a:rP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52360" y="2843784"/>
            <a:ext cx="36575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AB6CB"/>
                </a:solidFill>
                <a:latin typeface="Microsoft YaHei"/>
              </a:rPr>
              <a:t>用不同市场阶段模拟对手分布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60720" y="3236976"/>
            <a:ext cx="1600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F4F7FB"/>
                </a:solidFill>
                <a:latin typeface="Microsoft YaHei"/>
              </a:rPr>
              <a:t>熵退火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96328" y="3236976"/>
            <a:ext cx="2286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B454"/>
                </a:solidFill>
                <a:latin typeface="Microsoft YaHei"/>
              </a:rPr>
              <a:t>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52360" y="3236976"/>
            <a:ext cx="36575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AB6CB"/>
                </a:solidFill>
                <a:latin typeface="Microsoft YaHei"/>
              </a:rPr>
              <a:t>前期探索，后期收敛到稳定策略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532120" y="3931920"/>
            <a:ext cx="5806440" cy="2029968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3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532120" y="4096511"/>
            <a:ext cx="45720" cy="1700784"/>
          </a:xfrm>
          <a:prstGeom prst="rect">
            <a:avLst/>
          </a:prstGeom>
          <a:solidFill>
            <a:srgbClr val="28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33288" y="4096511"/>
            <a:ext cx="55321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28D6E7"/>
                </a:solidFill>
                <a:latin typeface="Aptos"/>
              </a:rPr>
              <a:t>INDUSTRIAL CONTROL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33288" y="4325112"/>
            <a:ext cx="54864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1">
                <a:solidFill>
                  <a:srgbClr val="F4F7FB"/>
                </a:solidFill>
                <a:latin typeface="Microsoft YaHei"/>
              </a:rPr>
              <a:t>工业控制：安全边界下的连续优化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60720" y="4754880"/>
            <a:ext cx="1600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F4F7FB"/>
                </a:solidFill>
                <a:latin typeface="Microsoft YaHei"/>
              </a:rPr>
              <a:t>数值分桶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96328" y="4754880"/>
            <a:ext cx="2286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28D6E7"/>
                </a:solidFill>
                <a:latin typeface="Microsoft YaHei"/>
              </a:rPr>
              <a:t>→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52360" y="4754880"/>
            <a:ext cx="36575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AB6CB"/>
                </a:solidFill>
                <a:latin typeface="Microsoft YaHei"/>
              </a:rPr>
              <a:t>温度、压力、流量阶段化表示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60720" y="5148072"/>
            <a:ext cx="1600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F4F7FB"/>
                </a:solidFill>
                <a:latin typeface="Microsoft YaHei"/>
              </a:rPr>
              <a:t>价值分组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96328" y="5148072"/>
            <a:ext cx="2286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28D6E7"/>
                </a:solidFill>
                <a:latin typeface="Microsoft YaHei"/>
              </a:rPr>
              <a:t>→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52360" y="5148072"/>
            <a:ext cx="36575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AB6CB"/>
                </a:solidFill>
                <a:latin typeface="Microsoft YaHei"/>
              </a:rPr>
              <a:t>能耗、质量、设备寿命分项诊断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760720" y="5541264"/>
            <a:ext cx="1600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F4F7FB"/>
                </a:solidFill>
                <a:latin typeface="Microsoft YaHei"/>
              </a:rPr>
              <a:t>兜底规则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96328" y="5541264"/>
            <a:ext cx="2286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28D6E7"/>
                </a:solidFill>
                <a:latin typeface="Microsoft YaHei"/>
              </a:rPr>
              <a:t>→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52360" y="5541264"/>
            <a:ext cx="36575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AB6CB"/>
                </a:solidFill>
                <a:latin typeface="Microsoft YaHei"/>
              </a:rPr>
              <a:t>异常状态下优先保证可控与安全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532120" y="5961888"/>
            <a:ext cx="1298448" cy="256032"/>
          </a:xfrm>
          <a:prstGeom prst="roundRect">
            <a:avLst/>
          </a:prstGeom>
          <a:solidFill>
            <a:srgbClr val="0B1D35"/>
          </a:solidFill>
          <a:ln w="12700">
            <a:solidFill>
              <a:srgbClr val="28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532120" y="6012179"/>
            <a:ext cx="1298448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19" b="1">
                <a:solidFill>
                  <a:srgbClr val="F4F7FB"/>
                </a:solidFill>
                <a:latin typeface="Microsoft YaHei"/>
              </a:rPr>
              <a:t>做市策略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949440" y="5961888"/>
            <a:ext cx="1298448" cy="256032"/>
          </a:xfrm>
          <a:prstGeom prst="roundRect">
            <a:avLst/>
          </a:prstGeom>
          <a:solidFill>
            <a:srgbClr val="0B1D35"/>
          </a:solidFill>
          <a:ln w="12700">
            <a:solidFill>
              <a:srgbClr val="28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949440" y="6012179"/>
            <a:ext cx="1298448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19" b="1">
                <a:solidFill>
                  <a:srgbClr val="F4F7FB"/>
                </a:solidFill>
                <a:latin typeface="Microsoft YaHei"/>
              </a:rPr>
              <a:t>智能电网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366760" y="5961888"/>
            <a:ext cx="1298448" cy="256032"/>
          </a:xfrm>
          <a:prstGeom prst="roundRect">
            <a:avLst/>
          </a:prstGeom>
          <a:solidFill>
            <a:srgbClr val="0B1D35"/>
          </a:solidFill>
          <a:ln w="12700">
            <a:solidFill>
              <a:srgbClr val="28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366760" y="6012179"/>
            <a:ext cx="1298448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19" b="1">
                <a:solidFill>
                  <a:srgbClr val="F4F7FB"/>
                </a:solidFill>
                <a:latin typeface="Microsoft YaHei"/>
              </a:rPr>
              <a:t>化工反应釜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784080" y="5961888"/>
            <a:ext cx="1298448" cy="256032"/>
          </a:xfrm>
          <a:prstGeom prst="roundRect">
            <a:avLst/>
          </a:prstGeom>
          <a:solidFill>
            <a:srgbClr val="0B1D35"/>
          </a:solidFill>
          <a:ln w="12700">
            <a:solidFill>
              <a:srgbClr val="28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784080" y="6012179"/>
            <a:ext cx="1298448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19" b="1">
                <a:solidFill>
                  <a:srgbClr val="F4F7FB"/>
                </a:solidFill>
                <a:latin typeface="Microsoft YaHei"/>
              </a:rPr>
              <a:t>半导体制造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2920" y="6565392"/>
            <a:ext cx="3749039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20" b="0">
                <a:solidFill>
                  <a:srgbClr val="7F8CA5"/>
                </a:solidFill>
                <a:latin typeface="Microsoft YaHei"/>
              </a:rPr>
              <a:t>图片来源：Wikimedia Commons，详见 Reference 页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48640" y="777240"/>
            <a:ext cx="0" cy="5760720"/>
          </a:xfrm>
          <a:prstGeom prst="line">
            <a:avLst/>
          </a:prstGeom>
          <a:ln w="5080">
            <a:solidFill>
              <a:srgbClr val="10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2011680" y="777240"/>
            <a:ext cx="0" cy="5760720"/>
          </a:xfrm>
          <a:prstGeom prst="line">
            <a:avLst/>
          </a:prstGeom>
          <a:ln w="5080">
            <a:solidFill>
              <a:srgbClr val="10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474720" y="777240"/>
            <a:ext cx="0" cy="5760720"/>
          </a:xfrm>
          <a:prstGeom prst="line">
            <a:avLst/>
          </a:prstGeom>
          <a:ln w="5080">
            <a:solidFill>
              <a:srgbClr val="10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937760" y="777240"/>
            <a:ext cx="0" cy="5760720"/>
          </a:xfrm>
          <a:prstGeom prst="line">
            <a:avLst/>
          </a:prstGeom>
          <a:ln w="5080">
            <a:solidFill>
              <a:srgbClr val="10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400800" y="777240"/>
            <a:ext cx="0" cy="5760720"/>
          </a:xfrm>
          <a:prstGeom prst="line">
            <a:avLst/>
          </a:prstGeom>
          <a:ln w="5080">
            <a:solidFill>
              <a:srgbClr val="10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863840" y="777240"/>
            <a:ext cx="0" cy="5760720"/>
          </a:xfrm>
          <a:prstGeom prst="line">
            <a:avLst/>
          </a:prstGeom>
          <a:ln w="5080">
            <a:solidFill>
              <a:srgbClr val="10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326880" y="777240"/>
            <a:ext cx="0" cy="5760720"/>
          </a:xfrm>
          <a:prstGeom prst="line">
            <a:avLst/>
          </a:prstGeom>
          <a:ln w="5080">
            <a:solidFill>
              <a:srgbClr val="10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789920" y="777240"/>
            <a:ext cx="0" cy="5760720"/>
          </a:xfrm>
          <a:prstGeom prst="line">
            <a:avLst/>
          </a:prstGeom>
          <a:ln w="5080">
            <a:solidFill>
              <a:srgbClr val="10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0040" y="1234440"/>
            <a:ext cx="11521440" cy="0"/>
          </a:xfrm>
          <a:prstGeom prst="line">
            <a:avLst/>
          </a:prstGeom>
          <a:ln w="5080">
            <a:solidFill>
              <a:srgbClr val="10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0040" y="2331720"/>
            <a:ext cx="11521440" cy="0"/>
          </a:xfrm>
          <a:prstGeom prst="line">
            <a:avLst/>
          </a:prstGeom>
          <a:ln w="5080">
            <a:solidFill>
              <a:srgbClr val="10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" y="3429000"/>
            <a:ext cx="11521440" cy="0"/>
          </a:xfrm>
          <a:prstGeom prst="line">
            <a:avLst/>
          </a:prstGeom>
          <a:ln w="5080">
            <a:solidFill>
              <a:srgbClr val="10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" y="4526280"/>
            <a:ext cx="11521440" cy="0"/>
          </a:xfrm>
          <a:prstGeom prst="line">
            <a:avLst/>
          </a:prstGeom>
          <a:ln w="5080">
            <a:solidFill>
              <a:srgbClr val="10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20040" y="5623560"/>
            <a:ext cx="11521440" cy="0"/>
          </a:xfrm>
          <a:prstGeom prst="line">
            <a:avLst/>
          </a:prstGeom>
          <a:ln w="5080">
            <a:solidFill>
              <a:srgbClr val="10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75488" y="256032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8D6E7"/>
                </a:solidFill>
                <a:latin typeface="Microsoft YaHei"/>
              </a:rPr>
              <a:t>未来展望 · 泛化应用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20272" y="219456"/>
            <a:ext cx="411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>
                <a:solidFill>
                  <a:srgbClr val="AAB6CB"/>
                </a:solidFill>
                <a:latin typeface="Aptos"/>
              </a:rPr>
              <a:t>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530352"/>
            <a:ext cx="102412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4F7FB"/>
                </a:solidFill>
                <a:latin typeface="Microsoft YaHei"/>
              </a:rPr>
              <a:t>机器人与 RLHF：合法动作与多目标价值对齐是共性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" y="932688"/>
            <a:ext cx="9966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AB6CB"/>
                </a:solidFill>
                <a:latin typeface="Microsoft YaHei"/>
              </a:rPr>
              <a:t>二者都不是单一奖励最大化问题，而是“目标达成、风险控制、行为边界”共同约束。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" y="1344168"/>
            <a:ext cx="4581144" cy="5038344"/>
          </a:xfrm>
          <a:prstGeom prst="roundRect">
            <a:avLst/>
          </a:prstGeom>
          <a:solidFill>
            <a:srgbClr val="0A1528"/>
          </a:solidFill>
          <a:ln w="12700">
            <a:solidFill>
              <a:srgbClr val="19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rop_robot_arm_189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417320"/>
            <a:ext cx="4434840" cy="2345436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502920" y="3305556"/>
            <a:ext cx="4434840" cy="457200"/>
          </a:xfrm>
          <a:prstGeom prst="rect">
            <a:avLst/>
          </a:prstGeom>
          <a:solidFill>
            <a:srgbClr val="061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" y="3415284"/>
            <a:ext cx="410565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F4F7FB"/>
                </a:solidFill>
                <a:latin typeface="Microsoft YaHei"/>
              </a:rPr>
              <a:t>机器人：目标、障碍与动作安全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1417320"/>
            <a:ext cx="4434840" cy="2345436"/>
          </a:xfrm>
          <a:prstGeom prst="rect">
            <a:avLst/>
          </a:prstGeom>
          <a:noFill/>
          <a:ln w="15240">
            <a:solidFill>
              <a:srgbClr val="6CE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02920" y="3963924"/>
            <a:ext cx="4434840" cy="2345436"/>
          </a:xfrm>
          <a:prstGeom prst="roundRect">
            <a:avLst/>
          </a:prstGeom>
          <a:solidFill>
            <a:srgbClr val="0B172B"/>
          </a:solidFill>
          <a:ln w="12700">
            <a:solidFill>
              <a:srgbClr val="2440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128515"/>
            <a:ext cx="4069079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B38CFF"/>
                </a:solidFill>
                <a:latin typeface="Microsoft YaHei"/>
              </a:rPr>
              <a:t>RLHF 对齐闭环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4649724"/>
            <a:ext cx="1051560" cy="438912"/>
          </a:xfrm>
          <a:prstGeom prst="roundRect">
            <a:avLst/>
          </a:prstGeom>
          <a:solidFill>
            <a:srgbClr val="14233F"/>
          </a:solidFill>
          <a:ln w="12700">
            <a:solidFill>
              <a:srgbClr val="B3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4759452"/>
            <a:ext cx="90525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60" b="1">
                <a:solidFill>
                  <a:srgbClr val="F4F7FB"/>
                </a:solidFill>
                <a:latin typeface="Aptos"/>
              </a:rPr>
              <a:t>Prompt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560320" y="4649724"/>
            <a:ext cx="1051560" cy="438912"/>
          </a:xfrm>
          <a:prstGeom prst="roundRect">
            <a:avLst/>
          </a:prstGeom>
          <a:solidFill>
            <a:srgbClr val="14233F"/>
          </a:solidFill>
          <a:ln w="12700">
            <a:solidFill>
              <a:srgbClr val="B3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33472" y="4759452"/>
            <a:ext cx="90525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60" b="1">
                <a:solidFill>
                  <a:srgbClr val="F4F7FB"/>
                </a:solidFill>
                <a:latin typeface="Aptos"/>
              </a:rPr>
              <a:t>Response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560320" y="5472683"/>
            <a:ext cx="1051560" cy="438912"/>
          </a:xfrm>
          <a:prstGeom prst="roundRect">
            <a:avLst/>
          </a:prstGeom>
          <a:solidFill>
            <a:srgbClr val="14233F"/>
          </a:solidFill>
          <a:ln w="12700">
            <a:solidFill>
              <a:srgbClr val="B3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33472" y="5582412"/>
            <a:ext cx="90525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60" b="1">
                <a:solidFill>
                  <a:srgbClr val="F4F7FB"/>
                </a:solidFill>
                <a:latin typeface="Aptos"/>
              </a:rPr>
              <a:t>Feedback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5472683"/>
            <a:ext cx="1051560" cy="438912"/>
          </a:xfrm>
          <a:prstGeom prst="roundRect">
            <a:avLst/>
          </a:prstGeom>
          <a:solidFill>
            <a:srgbClr val="14233F"/>
          </a:solidFill>
          <a:ln w="12700">
            <a:solidFill>
              <a:srgbClr val="B3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" y="5582412"/>
            <a:ext cx="90525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60" b="1">
                <a:solidFill>
                  <a:srgbClr val="F4F7FB"/>
                </a:solidFill>
                <a:latin typeface="Aptos"/>
              </a:rPr>
              <a:t>Value
Model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911095" y="4869180"/>
            <a:ext cx="585217" cy="0"/>
          </a:xfrm>
          <a:prstGeom prst="line">
            <a:avLst/>
          </a:prstGeom>
          <a:ln w="15240">
            <a:solidFill>
              <a:srgbClr val="B38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090672" y="5106924"/>
            <a:ext cx="0" cy="301752"/>
          </a:xfrm>
          <a:prstGeom prst="line">
            <a:avLst/>
          </a:prstGeom>
          <a:ln w="15240">
            <a:solidFill>
              <a:srgbClr val="B38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1911095" y="5692140"/>
            <a:ext cx="585217" cy="0"/>
          </a:xfrm>
          <a:prstGeom prst="line">
            <a:avLst/>
          </a:prstGeom>
          <a:ln w="15240">
            <a:solidFill>
              <a:srgbClr val="B38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353312" y="5106924"/>
            <a:ext cx="0" cy="301752"/>
          </a:xfrm>
          <a:prstGeom prst="line">
            <a:avLst/>
          </a:prstGeom>
          <a:ln w="15240">
            <a:solidFill>
              <a:srgbClr val="B38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85800" y="5980176"/>
            <a:ext cx="4069079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AAB6CB"/>
                </a:solidFill>
                <a:latin typeface="Microsoft YaHei"/>
              </a:rPr>
              <a:t>KL 监控 / 多目标奖励 / 人类反馈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257800" y="1417320"/>
            <a:ext cx="6355080" cy="4892040"/>
          </a:xfrm>
          <a:prstGeom prst="roundRect">
            <a:avLst/>
          </a:prstGeom>
          <a:solidFill>
            <a:srgbClr val="081326"/>
          </a:solidFill>
          <a:ln w="12700">
            <a:solidFill>
              <a:srgbClr val="18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532120" y="1627632"/>
            <a:ext cx="5806440" cy="2029968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3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532120" y="1792224"/>
            <a:ext cx="45720" cy="1700784"/>
          </a:xfrm>
          <a:prstGeom prst="rect">
            <a:avLst/>
          </a:prstGeom>
          <a:solidFill>
            <a:srgbClr val="6CE5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33288" y="1792224"/>
            <a:ext cx="55321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6CE5B1"/>
                </a:solidFill>
                <a:latin typeface="Aptos"/>
              </a:rPr>
              <a:t>ROBOTICS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33288" y="2020824"/>
            <a:ext cx="54864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1">
                <a:solidFill>
                  <a:srgbClr val="F4F7FB"/>
                </a:solidFill>
                <a:latin typeface="Microsoft YaHei"/>
              </a:rPr>
              <a:t>机器人：组合动作需要安全过滤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60720" y="2450592"/>
            <a:ext cx="1600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F4F7FB"/>
                </a:solidFill>
                <a:latin typeface="Microsoft YaHei"/>
              </a:rPr>
              <a:t>对象编码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96328" y="2450592"/>
            <a:ext cx="2286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6CE5B1"/>
                </a:solidFill>
                <a:latin typeface="Microsoft YaHei"/>
              </a:rPr>
              <a:t>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52360" y="2450592"/>
            <a:ext cx="36575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AB6CB"/>
                </a:solidFill>
                <a:latin typeface="Microsoft YaHei"/>
              </a:rPr>
              <a:t>自身、障碍物、目标物分离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60720" y="2843784"/>
            <a:ext cx="1600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F4F7FB"/>
                </a:solidFill>
                <a:latin typeface="Microsoft YaHei"/>
              </a:rPr>
              <a:t>组合动作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96328" y="2843784"/>
            <a:ext cx="2286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6CE5B1"/>
                </a:solidFill>
                <a:latin typeface="Microsoft YaHei"/>
              </a:rPr>
              <a:t>→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52360" y="2843784"/>
            <a:ext cx="36575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AB6CB"/>
                </a:solidFill>
                <a:latin typeface="Microsoft YaHei"/>
              </a:rPr>
              <a:t>离散技能 + 连续控制参数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60720" y="3236976"/>
            <a:ext cx="1600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F4F7FB"/>
                </a:solidFill>
                <a:latin typeface="Microsoft YaHei"/>
              </a:rPr>
              <a:t>Fallback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96328" y="3236976"/>
            <a:ext cx="2286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6CE5B1"/>
                </a:solidFill>
                <a:latin typeface="Microsoft YaHei"/>
              </a:rPr>
              <a:t>→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52360" y="3236976"/>
            <a:ext cx="36575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AB6CB"/>
                </a:solidFill>
                <a:latin typeface="Microsoft YaHei"/>
              </a:rPr>
              <a:t>越界或异常动作回退到安全动作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532120" y="3931920"/>
            <a:ext cx="5806440" cy="2029968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3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532120" y="4096511"/>
            <a:ext cx="45720" cy="1700784"/>
          </a:xfrm>
          <a:prstGeom prst="rect">
            <a:avLst/>
          </a:prstGeom>
          <a:solidFill>
            <a:srgbClr val="B3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733288" y="4096511"/>
            <a:ext cx="55321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B38CFF"/>
                </a:solidFill>
                <a:latin typeface="Aptos"/>
              </a:rPr>
              <a:t>RLHF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733288" y="4325112"/>
            <a:ext cx="54864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1">
                <a:solidFill>
                  <a:srgbClr val="F4F7FB"/>
                </a:solidFill>
                <a:latin typeface="Microsoft YaHei"/>
              </a:rPr>
              <a:t>RLHF：价值头可对应多维对齐目标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760720" y="4754880"/>
            <a:ext cx="1600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F4F7FB"/>
                </a:solidFill>
                <a:latin typeface="Microsoft YaHei"/>
              </a:rPr>
              <a:t>多价值头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96328" y="4754880"/>
            <a:ext cx="2286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B38CFF"/>
                </a:solidFill>
                <a:latin typeface="Microsoft YaHei"/>
              </a:rPr>
              <a:t>→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52360" y="4754880"/>
            <a:ext cx="36575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AB6CB"/>
                </a:solidFill>
                <a:latin typeface="Microsoft YaHei"/>
              </a:rPr>
              <a:t>Helpfulness / Safety / Honesty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760720" y="5148072"/>
            <a:ext cx="1600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F4F7FB"/>
                </a:solidFill>
                <a:latin typeface="Microsoft YaHei"/>
              </a:rPr>
              <a:t>KL 监控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96328" y="5148072"/>
            <a:ext cx="2286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B38CFF"/>
                </a:solidFill>
                <a:latin typeface="Microsoft YaHei"/>
              </a:rPr>
              <a:t>→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52360" y="5148072"/>
            <a:ext cx="36575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AB6CB"/>
                </a:solidFill>
                <a:latin typeface="Microsoft YaHei"/>
              </a:rPr>
              <a:t>限制策略偏离初始模型过远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760720" y="5541264"/>
            <a:ext cx="1600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F4F7FB"/>
                </a:solidFill>
                <a:latin typeface="Microsoft YaHei"/>
              </a:rPr>
              <a:t>诊断体系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196328" y="5541264"/>
            <a:ext cx="2286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B38CFF"/>
                </a:solidFill>
                <a:latin typeface="Microsoft YaHei"/>
              </a:rPr>
              <a:t>→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452360" y="5541264"/>
            <a:ext cx="36575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AB6CB"/>
                </a:solidFill>
                <a:latin typeface="Microsoft YaHei"/>
              </a:rPr>
              <a:t>分别观察各目标收益与冲突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532120" y="5961888"/>
            <a:ext cx="1298448" cy="256032"/>
          </a:xfrm>
          <a:prstGeom prst="roundRect">
            <a:avLst/>
          </a:prstGeom>
          <a:solidFill>
            <a:srgbClr val="0B1D35"/>
          </a:solidFill>
          <a:ln w="12700">
            <a:solidFill>
              <a:srgbClr val="28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532120" y="6012179"/>
            <a:ext cx="1298448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19" b="1">
                <a:solidFill>
                  <a:srgbClr val="F4F7FB"/>
                </a:solidFill>
                <a:latin typeface="Microsoft YaHei"/>
              </a:rPr>
              <a:t>机械臂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949440" y="5961888"/>
            <a:ext cx="1298448" cy="256032"/>
          </a:xfrm>
          <a:prstGeom prst="roundRect">
            <a:avLst/>
          </a:prstGeom>
          <a:solidFill>
            <a:srgbClr val="0B1D35"/>
          </a:solidFill>
          <a:ln w="12700">
            <a:solidFill>
              <a:srgbClr val="28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949440" y="6012179"/>
            <a:ext cx="1298448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19" b="1">
                <a:solidFill>
                  <a:srgbClr val="F4F7FB"/>
                </a:solidFill>
                <a:latin typeface="Microsoft YaHei"/>
              </a:rPr>
              <a:t>足式机器人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366760" y="5961888"/>
            <a:ext cx="1298448" cy="256032"/>
          </a:xfrm>
          <a:prstGeom prst="roundRect">
            <a:avLst/>
          </a:prstGeom>
          <a:solidFill>
            <a:srgbClr val="0B1D35"/>
          </a:solidFill>
          <a:ln w="12700">
            <a:solidFill>
              <a:srgbClr val="28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366760" y="6012179"/>
            <a:ext cx="1298448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19" b="1">
                <a:solidFill>
                  <a:srgbClr val="F4F7FB"/>
                </a:solidFill>
                <a:latin typeface="Microsoft YaHei"/>
              </a:rPr>
              <a:t>四旋翼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784080" y="5961888"/>
            <a:ext cx="1298448" cy="256032"/>
          </a:xfrm>
          <a:prstGeom prst="roundRect">
            <a:avLst/>
          </a:prstGeom>
          <a:solidFill>
            <a:srgbClr val="0B1D35"/>
          </a:solidFill>
          <a:ln w="12700">
            <a:solidFill>
              <a:srgbClr val="28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784080" y="6012179"/>
            <a:ext cx="1298448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19" b="1">
                <a:solidFill>
                  <a:srgbClr val="F4F7FB"/>
                </a:solidFill>
                <a:latin typeface="Microsoft YaHei"/>
              </a:rPr>
              <a:t>大模型对齐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02920" y="6565392"/>
            <a:ext cx="3749039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20" b="0">
                <a:solidFill>
                  <a:srgbClr val="7F8CA5"/>
                </a:solidFill>
                <a:latin typeface="Microsoft YaHei"/>
              </a:rPr>
              <a:t>图片来源：Wikimedia Commons，详见 Reference 页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48640" y="777240"/>
            <a:ext cx="0" cy="5760720"/>
          </a:xfrm>
          <a:prstGeom prst="line">
            <a:avLst/>
          </a:prstGeom>
          <a:ln w="5080">
            <a:solidFill>
              <a:srgbClr val="10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2011680" y="777240"/>
            <a:ext cx="0" cy="5760720"/>
          </a:xfrm>
          <a:prstGeom prst="line">
            <a:avLst/>
          </a:prstGeom>
          <a:ln w="5080">
            <a:solidFill>
              <a:srgbClr val="10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474720" y="777240"/>
            <a:ext cx="0" cy="5760720"/>
          </a:xfrm>
          <a:prstGeom prst="line">
            <a:avLst/>
          </a:prstGeom>
          <a:ln w="5080">
            <a:solidFill>
              <a:srgbClr val="10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937760" y="777240"/>
            <a:ext cx="0" cy="5760720"/>
          </a:xfrm>
          <a:prstGeom prst="line">
            <a:avLst/>
          </a:prstGeom>
          <a:ln w="5080">
            <a:solidFill>
              <a:srgbClr val="10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400800" y="777240"/>
            <a:ext cx="0" cy="5760720"/>
          </a:xfrm>
          <a:prstGeom prst="line">
            <a:avLst/>
          </a:prstGeom>
          <a:ln w="5080">
            <a:solidFill>
              <a:srgbClr val="10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863840" y="777240"/>
            <a:ext cx="0" cy="5760720"/>
          </a:xfrm>
          <a:prstGeom prst="line">
            <a:avLst/>
          </a:prstGeom>
          <a:ln w="5080">
            <a:solidFill>
              <a:srgbClr val="10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326880" y="777240"/>
            <a:ext cx="0" cy="5760720"/>
          </a:xfrm>
          <a:prstGeom prst="line">
            <a:avLst/>
          </a:prstGeom>
          <a:ln w="5080">
            <a:solidFill>
              <a:srgbClr val="10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789920" y="777240"/>
            <a:ext cx="0" cy="5760720"/>
          </a:xfrm>
          <a:prstGeom prst="line">
            <a:avLst/>
          </a:prstGeom>
          <a:ln w="5080">
            <a:solidFill>
              <a:srgbClr val="10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0040" y="1234440"/>
            <a:ext cx="11521440" cy="0"/>
          </a:xfrm>
          <a:prstGeom prst="line">
            <a:avLst/>
          </a:prstGeom>
          <a:ln w="5080">
            <a:solidFill>
              <a:srgbClr val="10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0040" y="2331720"/>
            <a:ext cx="11521440" cy="0"/>
          </a:xfrm>
          <a:prstGeom prst="line">
            <a:avLst/>
          </a:prstGeom>
          <a:ln w="5080">
            <a:solidFill>
              <a:srgbClr val="10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" y="3429000"/>
            <a:ext cx="11521440" cy="0"/>
          </a:xfrm>
          <a:prstGeom prst="line">
            <a:avLst/>
          </a:prstGeom>
          <a:ln w="5080">
            <a:solidFill>
              <a:srgbClr val="10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" y="4526280"/>
            <a:ext cx="11521440" cy="0"/>
          </a:xfrm>
          <a:prstGeom prst="line">
            <a:avLst/>
          </a:prstGeom>
          <a:ln w="5080">
            <a:solidFill>
              <a:srgbClr val="10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20040" y="5623560"/>
            <a:ext cx="11521440" cy="0"/>
          </a:xfrm>
          <a:prstGeom prst="line">
            <a:avLst/>
          </a:prstGeom>
          <a:ln w="5080">
            <a:solidFill>
              <a:srgbClr val="10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75488" y="256032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8D6E7"/>
                </a:solidFill>
                <a:latin typeface="Microsoft YaHei"/>
              </a:rPr>
              <a:t>未来展望 · 泛化应用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20272" y="219456"/>
            <a:ext cx="411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>
                <a:solidFill>
                  <a:srgbClr val="AAB6CB"/>
                </a:solidFill>
                <a:latin typeface="Aptos"/>
              </a:rPr>
              <a:t>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530352"/>
            <a:ext cx="102412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4F7FB"/>
                </a:solidFill>
                <a:latin typeface="Microsoft YaHei"/>
              </a:rPr>
              <a:t>对抗场景的迁移重点：对手建模、历史采样与安全兜底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" y="932688"/>
            <a:ext cx="9966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AB6CB"/>
                </a:solidFill>
                <a:latin typeface="Microsoft YaHei"/>
              </a:rPr>
              <a:t>游戏 AI 与网络安全都存在动态对手，单一固定对手评估不足以覆盖策略分布。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" y="1344168"/>
            <a:ext cx="4581144" cy="5038344"/>
          </a:xfrm>
          <a:prstGeom prst="roundRect">
            <a:avLst/>
          </a:prstGeom>
          <a:solidFill>
            <a:srgbClr val="0A1528"/>
          </a:solidFill>
          <a:ln w="12700">
            <a:solidFill>
              <a:srgbClr val="19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rop_esports_189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417320"/>
            <a:ext cx="4434840" cy="2345436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502920" y="3305556"/>
            <a:ext cx="4434840" cy="457200"/>
          </a:xfrm>
          <a:prstGeom prst="rect">
            <a:avLst/>
          </a:prstGeom>
          <a:solidFill>
            <a:srgbClr val="061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" y="3415284"/>
            <a:ext cx="410565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F4F7FB"/>
                </a:solidFill>
                <a:latin typeface="Microsoft YaHei"/>
              </a:rPr>
              <a:t>游戏 AI：自博弈与历史策略对抗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1417320"/>
            <a:ext cx="4434840" cy="2345436"/>
          </a:xfrm>
          <a:prstGeom prst="rect">
            <a:avLst/>
          </a:prstGeom>
          <a:noFill/>
          <a:ln w="15240"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crop_cyber_189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963924"/>
            <a:ext cx="4434840" cy="2345436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502920" y="5852160"/>
            <a:ext cx="4434840" cy="457200"/>
          </a:xfrm>
          <a:prstGeom prst="rect">
            <a:avLst/>
          </a:prstGeom>
          <a:solidFill>
            <a:srgbClr val="061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" y="5961888"/>
            <a:ext cx="410565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F4F7FB"/>
                </a:solidFill>
                <a:latin typeface="Microsoft YaHei"/>
              </a:rPr>
              <a:t>网络安全：正常与异常流量的持续对抗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963924"/>
            <a:ext cx="4434840" cy="2345436"/>
          </a:xfrm>
          <a:prstGeom prst="rect">
            <a:avLst/>
          </a:prstGeom>
          <a:noFill/>
          <a:ln w="15240">
            <a:solidFill>
              <a:srgbClr val="28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257800" y="1417320"/>
            <a:ext cx="6355080" cy="4892040"/>
          </a:xfrm>
          <a:prstGeom prst="roundRect">
            <a:avLst/>
          </a:prstGeom>
          <a:solidFill>
            <a:srgbClr val="081326"/>
          </a:solidFill>
          <a:ln w="12700">
            <a:solidFill>
              <a:srgbClr val="18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532120" y="1627632"/>
            <a:ext cx="5806440" cy="2029968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3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532120" y="1792224"/>
            <a:ext cx="45720" cy="1700784"/>
          </a:xfrm>
          <a:prstGeom prst="rect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33288" y="1792224"/>
            <a:ext cx="55321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FFB454"/>
                </a:solidFill>
                <a:latin typeface="Aptos"/>
              </a:rPr>
              <a:t>GAME AI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33288" y="2020824"/>
            <a:ext cx="54864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1">
                <a:solidFill>
                  <a:srgbClr val="F4F7FB"/>
                </a:solidFill>
                <a:latin typeface="Microsoft YaHei"/>
              </a:rPr>
              <a:t>游戏 AI：从 1v1 推塔扩展到多类型对抗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720" y="2450592"/>
            <a:ext cx="1600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F4F7FB"/>
                </a:solidFill>
                <a:latin typeface="Microsoft YaHei"/>
              </a:rPr>
              <a:t>Selfplay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96328" y="2450592"/>
            <a:ext cx="2286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B454"/>
                </a:solidFill>
                <a:latin typeface="Microsoft YaHei"/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2450592"/>
            <a:ext cx="36575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AB6CB"/>
                </a:solidFill>
                <a:latin typeface="Microsoft YaHei"/>
              </a:rPr>
              <a:t>通过历史模型缓解策略遗忘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60720" y="2843784"/>
            <a:ext cx="1600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F4F7FB"/>
                </a:solidFill>
                <a:latin typeface="Microsoft YaHei"/>
              </a:rPr>
              <a:t>数值分桶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96328" y="2843784"/>
            <a:ext cx="2286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B454"/>
                </a:solidFill>
                <a:latin typeface="Microsoft YaHei"/>
              </a:rP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52360" y="2843784"/>
            <a:ext cx="36575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AB6CB"/>
                </a:solidFill>
                <a:latin typeface="Microsoft YaHei"/>
              </a:rPr>
              <a:t>血量、弹药、技能 CD 等阶段信号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60720" y="3236976"/>
            <a:ext cx="1600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F4F7FB"/>
                </a:solidFill>
                <a:latin typeface="Microsoft YaHei"/>
              </a:rPr>
              <a:t>零和奖励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96328" y="3236976"/>
            <a:ext cx="2286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B454"/>
                </a:solidFill>
                <a:latin typeface="Microsoft YaHei"/>
              </a:rPr>
              <a:t>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52360" y="3236976"/>
            <a:ext cx="36575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AB6CB"/>
                </a:solidFill>
                <a:latin typeface="Microsoft YaHei"/>
              </a:rPr>
              <a:t>目标天然对抗，适合差分反馈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532120" y="3931920"/>
            <a:ext cx="5806440" cy="2029968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3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532120" y="4096511"/>
            <a:ext cx="45720" cy="1700784"/>
          </a:xfrm>
          <a:prstGeom prst="rect">
            <a:avLst/>
          </a:prstGeom>
          <a:solidFill>
            <a:srgbClr val="28D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33288" y="4096511"/>
            <a:ext cx="55321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28D6E7"/>
                </a:solidFill>
                <a:latin typeface="Aptos"/>
              </a:rPr>
              <a:t>CYBERSECURITY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33288" y="4325112"/>
            <a:ext cx="54864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1">
                <a:solidFill>
                  <a:srgbClr val="F4F7FB"/>
                </a:solidFill>
                <a:latin typeface="Microsoft YaHei"/>
              </a:rPr>
              <a:t>网络安全：检测器也需要避免低收益策略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60720" y="4754880"/>
            <a:ext cx="1600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F4F7FB"/>
                </a:solidFill>
                <a:latin typeface="Microsoft YaHei"/>
              </a:rPr>
              <a:t>友敌编码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96328" y="4754880"/>
            <a:ext cx="2286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28D6E7"/>
                </a:solidFill>
                <a:latin typeface="Microsoft YaHei"/>
              </a:rPr>
              <a:t>→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52360" y="4754880"/>
            <a:ext cx="36575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AB6CB"/>
                </a:solidFill>
                <a:latin typeface="Microsoft YaHei"/>
              </a:rPr>
              <a:t>正常流量与异常流量分通道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60720" y="5148072"/>
            <a:ext cx="1600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F4F7FB"/>
                </a:solidFill>
                <a:latin typeface="Microsoft YaHei"/>
              </a:rPr>
              <a:t>时序拓扑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96328" y="5148072"/>
            <a:ext cx="2286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28D6E7"/>
                </a:solidFill>
                <a:latin typeface="Microsoft YaHei"/>
              </a:rPr>
              <a:t>→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52360" y="5148072"/>
            <a:ext cx="36575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AB6CB"/>
                </a:solidFill>
                <a:latin typeface="Microsoft YaHei"/>
              </a:rPr>
              <a:t>IP、服务、连接关系联合建模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760720" y="5541264"/>
            <a:ext cx="1600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F4F7FB"/>
                </a:solidFill>
                <a:latin typeface="Microsoft YaHei"/>
              </a:rPr>
              <a:t>防摆烂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96328" y="5541264"/>
            <a:ext cx="2286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28D6E7"/>
                </a:solidFill>
                <a:latin typeface="Microsoft YaHei"/>
              </a:rPr>
              <a:t>→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52360" y="5541264"/>
            <a:ext cx="36575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AB6CB"/>
                </a:solidFill>
                <a:latin typeface="Microsoft YaHei"/>
              </a:rPr>
              <a:t>避免模型长期输出“无异常”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532120" y="5961888"/>
            <a:ext cx="1298448" cy="256032"/>
          </a:xfrm>
          <a:prstGeom prst="roundRect">
            <a:avLst/>
          </a:prstGeom>
          <a:solidFill>
            <a:srgbClr val="0B1D35"/>
          </a:solidFill>
          <a:ln w="12700">
            <a:solidFill>
              <a:srgbClr val="28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532120" y="6012179"/>
            <a:ext cx="1298448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19" b="1">
                <a:solidFill>
                  <a:srgbClr val="F4F7FB"/>
                </a:solidFill>
                <a:latin typeface="Microsoft YaHei"/>
              </a:rPr>
              <a:t>MOBA / RTS / FPS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949440" y="5961888"/>
            <a:ext cx="1298448" cy="256032"/>
          </a:xfrm>
          <a:prstGeom prst="roundRect">
            <a:avLst/>
          </a:prstGeom>
          <a:solidFill>
            <a:srgbClr val="0B1D35"/>
          </a:solidFill>
          <a:ln w="12700">
            <a:solidFill>
              <a:srgbClr val="28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949440" y="6012179"/>
            <a:ext cx="1298448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19" b="1">
                <a:solidFill>
                  <a:srgbClr val="F4F7FB"/>
                </a:solidFill>
                <a:latin typeface="Microsoft YaHei"/>
              </a:rPr>
              <a:t>入侵检测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366760" y="5961888"/>
            <a:ext cx="1298448" cy="256032"/>
          </a:xfrm>
          <a:prstGeom prst="roundRect">
            <a:avLst/>
          </a:prstGeom>
          <a:solidFill>
            <a:srgbClr val="0B1D35"/>
          </a:solidFill>
          <a:ln w="12700">
            <a:solidFill>
              <a:srgbClr val="28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366760" y="6012179"/>
            <a:ext cx="1298448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19" b="1">
                <a:solidFill>
                  <a:srgbClr val="F4F7FB"/>
                </a:solidFill>
                <a:latin typeface="Microsoft YaHei"/>
              </a:rPr>
              <a:t>APT 识别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784080" y="5961888"/>
            <a:ext cx="1298448" cy="256032"/>
          </a:xfrm>
          <a:prstGeom prst="roundRect">
            <a:avLst/>
          </a:prstGeom>
          <a:solidFill>
            <a:srgbClr val="0B1D35"/>
          </a:solidFill>
          <a:ln w="12700">
            <a:solidFill>
              <a:srgbClr val="28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784080" y="6012179"/>
            <a:ext cx="1298448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19" b="1">
                <a:solidFill>
                  <a:srgbClr val="F4F7FB"/>
                </a:solidFill>
                <a:latin typeface="Microsoft YaHei"/>
              </a:rPr>
              <a:t>欺诈交易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2920" y="6565392"/>
            <a:ext cx="3749039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20" b="0">
                <a:solidFill>
                  <a:srgbClr val="7F8CA5"/>
                </a:solidFill>
                <a:latin typeface="Microsoft YaHei"/>
              </a:rPr>
              <a:t>图片来源：Wikimedia Commons，详见 Reference 页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3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8592" y="329184"/>
            <a:ext cx="2011680" cy="7031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1325880"/>
            <a:ext cx="4846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ADCCE8"/>
                </a:solidFill>
                <a:latin typeface="微软雅黑" panose="020B0503020204020204" charset="-122"/>
              </a:rPr>
              <a:t>Tencent AI Arena Global Open Competition</a:t>
            </a:r>
            <a:endParaRPr sz="1100" b="0">
              <a:solidFill>
                <a:srgbClr val="ADCCE8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8680" y="1920240"/>
            <a:ext cx="31089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F5FAFF"/>
                </a:solidFill>
                <a:latin typeface="微软雅黑" panose="020B0503020204020204" charset="-122"/>
              </a:rPr>
              <a:t>THANKS</a:t>
            </a:r>
            <a:endParaRPr sz="3400" b="1">
              <a:solidFill>
                <a:srgbClr val="F5FAFF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96112" y="2670048"/>
            <a:ext cx="2697480" cy="3200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944368"/>
            <a:ext cx="4297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0E5FF"/>
                </a:solidFill>
                <a:latin typeface="微软雅黑" panose="020B0503020204020204" charset="-122"/>
              </a:rPr>
              <a:t>2026 腾讯开悟人工智能全球公开赛</a:t>
            </a:r>
            <a:endParaRPr sz="1300" b="1">
              <a:solidFill>
                <a:srgbClr val="00E5FF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68680" y="4160520"/>
            <a:ext cx="3977639" cy="658368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370832"/>
            <a:ext cx="352044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F5FAFF"/>
                </a:solidFill>
                <a:latin typeface="微软雅黑" panose="020B0503020204020204" charset="-122"/>
              </a:rPr>
              <a:t>FedExing · T2600875 · 郭鸿毅 / 周德诺 / 古天豪</a:t>
            </a:r>
            <a:endParaRPr sz="1050" b="0">
              <a:solidFill>
                <a:srgbClr val="F5FAF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2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777240"/>
            <a:ext cx="0" cy="5760720"/>
          </a:xfrm>
          <a:prstGeom prst="line">
            <a:avLst/>
          </a:prstGeom>
          <a:ln w="5080">
            <a:solidFill>
              <a:srgbClr val="10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2011680" y="777240"/>
            <a:ext cx="0" cy="5760720"/>
          </a:xfrm>
          <a:prstGeom prst="line">
            <a:avLst/>
          </a:prstGeom>
          <a:ln w="5080">
            <a:solidFill>
              <a:srgbClr val="10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474720" y="777240"/>
            <a:ext cx="0" cy="5760720"/>
          </a:xfrm>
          <a:prstGeom prst="line">
            <a:avLst/>
          </a:prstGeom>
          <a:ln w="5080">
            <a:solidFill>
              <a:srgbClr val="10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937760" y="777240"/>
            <a:ext cx="0" cy="5760720"/>
          </a:xfrm>
          <a:prstGeom prst="line">
            <a:avLst/>
          </a:prstGeom>
          <a:ln w="5080">
            <a:solidFill>
              <a:srgbClr val="10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400800" y="777240"/>
            <a:ext cx="0" cy="5760720"/>
          </a:xfrm>
          <a:prstGeom prst="line">
            <a:avLst/>
          </a:prstGeom>
          <a:ln w="5080">
            <a:solidFill>
              <a:srgbClr val="10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863840" y="777240"/>
            <a:ext cx="0" cy="5760720"/>
          </a:xfrm>
          <a:prstGeom prst="line">
            <a:avLst/>
          </a:prstGeom>
          <a:ln w="5080">
            <a:solidFill>
              <a:srgbClr val="10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326880" y="777240"/>
            <a:ext cx="0" cy="5760720"/>
          </a:xfrm>
          <a:prstGeom prst="line">
            <a:avLst/>
          </a:prstGeom>
          <a:ln w="5080">
            <a:solidFill>
              <a:srgbClr val="10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789920" y="777240"/>
            <a:ext cx="0" cy="5760720"/>
          </a:xfrm>
          <a:prstGeom prst="line">
            <a:avLst/>
          </a:prstGeom>
          <a:ln w="5080">
            <a:solidFill>
              <a:srgbClr val="10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0040" y="1234440"/>
            <a:ext cx="11521440" cy="0"/>
          </a:xfrm>
          <a:prstGeom prst="line">
            <a:avLst/>
          </a:prstGeom>
          <a:ln w="5080">
            <a:solidFill>
              <a:srgbClr val="10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0040" y="2331720"/>
            <a:ext cx="11521440" cy="0"/>
          </a:xfrm>
          <a:prstGeom prst="line">
            <a:avLst/>
          </a:prstGeom>
          <a:ln w="5080">
            <a:solidFill>
              <a:srgbClr val="10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" y="3429000"/>
            <a:ext cx="11521440" cy="0"/>
          </a:xfrm>
          <a:prstGeom prst="line">
            <a:avLst/>
          </a:prstGeom>
          <a:ln w="5080">
            <a:solidFill>
              <a:srgbClr val="10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" y="4526280"/>
            <a:ext cx="11521440" cy="0"/>
          </a:xfrm>
          <a:prstGeom prst="line">
            <a:avLst/>
          </a:prstGeom>
          <a:ln w="5080">
            <a:solidFill>
              <a:srgbClr val="10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20040" y="5623560"/>
            <a:ext cx="11521440" cy="0"/>
          </a:xfrm>
          <a:prstGeom prst="line">
            <a:avLst/>
          </a:prstGeom>
          <a:ln w="5080">
            <a:solidFill>
              <a:srgbClr val="10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02920" y="502920"/>
            <a:ext cx="6217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F4F7FB"/>
                </a:solidFill>
                <a:latin typeface="Aptos"/>
              </a:rPr>
              <a:t>References / 图片来源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960120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AAB6CB"/>
                </a:solidFill>
                <a:latin typeface="Microsoft YaHei"/>
              </a:rPr>
              <a:t>以下图片均来自 Wikimedia Commons，仅作为场景示意；PPT 中推荐系统与 RLHF 示意图为本地绘制。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1508760"/>
            <a:ext cx="5230368" cy="1024128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3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1655063"/>
            <a:ext cx="9601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28D6E7"/>
                </a:solidFill>
                <a:latin typeface="Microsoft YaHei"/>
              </a:rPr>
              <a:t>自动驾驶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1655063"/>
            <a:ext cx="38862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40" b="1">
                <a:solidFill>
                  <a:srgbClr val="F4F7FB"/>
                </a:solidFill>
                <a:latin typeface="Aptos"/>
              </a:rPr>
              <a:t>San Francisco, California Street, autonomous vehicle (Waymo)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" y="1947672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40" b="0">
                <a:solidFill>
                  <a:srgbClr val="93A4C0"/>
                </a:solidFill>
                <a:latin typeface="Aptos"/>
              </a:rPr>
              <a:t>https://commons.wikimedia.org/wiki/File:San_Francisco_(CA,_USA),_California_Street,_autonomes_Fahrzeug_(Waymo)_--_2022_--_2925.jpg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1508760"/>
            <a:ext cx="5230368" cy="1024128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3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28816" y="1655063"/>
            <a:ext cx="9601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28D6E7"/>
                </a:solidFill>
                <a:latin typeface="Microsoft YaHei"/>
              </a:rPr>
              <a:t>量化交易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3488" y="1655063"/>
            <a:ext cx="38862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40" b="1">
                <a:solidFill>
                  <a:srgbClr val="F4F7FB"/>
                </a:solidFill>
                <a:latin typeface="Aptos"/>
              </a:rPr>
              <a:t>Frankfurt Stock Exchange (Ank Kumar) 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8816" y="1947672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40" b="0">
                <a:solidFill>
                  <a:srgbClr val="93A4C0"/>
                </a:solidFill>
                <a:latin typeface="Aptos"/>
              </a:rPr>
              <a:t>https://commons.wikimedia.org/wiki/File:Frankfurt_Stock_Exchange_(Ank_Kumar)_03.jpg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2834639"/>
            <a:ext cx="5230368" cy="1024128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3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" y="2980944"/>
            <a:ext cx="9601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28D6E7"/>
                </a:solidFill>
                <a:latin typeface="Microsoft YaHei"/>
              </a:rPr>
              <a:t>工业控制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64208" y="2980944"/>
            <a:ext cx="38862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40" b="1">
                <a:solidFill>
                  <a:srgbClr val="F4F7FB"/>
                </a:solidFill>
                <a:latin typeface="Aptos"/>
              </a:rPr>
              <a:t>MIREA Laboratory Industry 4.0 Digital robotic manufacturing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3273551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40" b="0">
                <a:solidFill>
                  <a:srgbClr val="93A4C0"/>
                </a:solidFill>
                <a:latin typeface="Aptos"/>
              </a:rPr>
              <a:t>https://commons.wikimedia.org/wiki/File:MIREA_Laboratory_Industry_4.0._Digital_robotic_manufacturing_5.jpg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27648" y="2834639"/>
            <a:ext cx="5230368" cy="1024128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3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28816" y="2980944"/>
            <a:ext cx="9601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28D6E7"/>
                </a:solidFill>
                <a:latin typeface="Microsoft YaHei"/>
              </a:rPr>
              <a:t>机器人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33488" y="2980944"/>
            <a:ext cx="38862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40" b="1">
                <a:solidFill>
                  <a:srgbClr val="F4F7FB"/>
                </a:solidFill>
                <a:latin typeface="Aptos"/>
              </a:rPr>
              <a:t>Robot arm handles an assay plate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8816" y="3273551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40" b="0">
                <a:solidFill>
                  <a:srgbClr val="93A4C0"/>
                </a:solidFill>
                <a:latin typeface="Aptos"/>
              </a:rPr>
              <a:t>https://commons.wikimedia.org/wiki/File:Robot_arm_handles_an_assay_plate.jpg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160520"/>
            <a:ext cx="5230368" cy="1024128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3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9536" y="4306824"/>
            <a:ext cx="9601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28D6E7"/>
                </a:solidFill>
                <a:latin typeface="Microsoft YaHei"/>
              </a:rPr>
              <a:t>游戏 AI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64208" y="4306824"/>
            <a:ext cx="38862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40" b="1">
                <a:solidFill>
                  <a:srgbClr val="F4F7FB"/>
                </a:solidFill>
                <a:latin typeface="Aptos"/>
              </a:rPr>
              <a:t>Riot Games Arena VCT Americas February 2024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" y="4599431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40" b="0">
                <a:solidFill>
                  <a:srgbClr val="93A4C0"/>
                </a:solidFill>
                <a:latin typeface="Aptos"/>
              </a:rPr>
              <a:t>https://commons.wikimedia.org/wiki/File:Riot_Games_Arena_VCT_Americas_February_2024.jpg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27648" y="4160520"/>
            <a:ext cx="5230368" cy="1024128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3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28816" y="4306824"/>
            <a:ext cx="9601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28D6E7"/>
                </a:solidFill>
                <a:latin typeface="Microsoft YaHei"/>
              </a:rPr>
              <a:t>网络安全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33488" y="4306824"/>
            <a:ext cx="38862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40" b="1">
                <a:solidFill>
                  <a:srgbClr val="F4F7FB"/>
                </a:solidFill>
                <a:latin typeface="Aptos"/>
              </a:rPr>
              <a:t>Server rack filled with networking equipment and cables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8816" y="4599431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40" b="0">
                <a:solidFill>
                  <a:srgbClr val="93A4C0"/>
                </a:solidFill>
                <a:latin typeface="Aptos"/>
              </a:rPr>
              <a:t>https://commons.wikimedia.org/wiki/File:EFTA00002005_-_Server_rack_filled_with_networking_equipment_and_cables_including_blue_Ethernet_connections_and_orange_wires_in_a_data_center_environment.jpg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6217920"/>
            <a:ext cx="102412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FFB454"/>
                </a:solidFill>
                <a:latin typeface="Microsoft YaHei"/>
              </a:rPr>
              <a:t>注：泛化应用为建模思想迁移方向，不表示当前模型已在上述场景完成验证。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69.2,&quot;left&quot;:61.92,&quot;top&quot;:123.84,&quot;width&quot;:833.7599999999999}"/>
</p:tagLst>
</file>

<file path=ppt/tags/tag2.xml><?xml version="1.0" encoding="utf-8"?>
<p:tagLst xmlns:p="http://schemas.openxmlformats.org/presentationml/2006/main">
  <p:tag name="KSO_WM_DIAGRAM_VIRTUALLY_FRAME" val="{&quot;height&quot;:169.2,&quot;left&quot;:61.92,&quot;top&quot;:123.84,&quot;width&quot;:833.7599999999999}"/>
</p:tagLst>
</file>

<file path=ppt/tags/tag3.xml><?xml version="1.0" encoding="utf-8"?>
<p:tagLst xmlns:p="http://schemas.openxmlformats.org/presentationml/2006/main">
  <p:tag name="KSO_WM_DIAGRAM_VIRTUALLY_FRAME" val="{&quot;height&quot;:169.2,&quot;left&quot;:61.92,&quot;top&quot;:123.84,&quot;width&quot;:833.7599999999999}"/>
</p:tagLst>
</file>

<file path=ppt/tags/tag4.xml><?xml version="1.0" encoding="utf-8"?>
<p:tagLst xmlns:p="http://schemas.openxmlformats.org/presentationml/2006/main">
  <p:tag name="KSO_WM_DIAGRAM_VIRTUALLY_FRAME" val="{&quot;height&quot;:169.2,&quot;left&quot;:61.92,&quot;top&quot;:123.84,&quot;width&quot;:833.7599999999999}"/>
</p:tagLst>
</file>

<file path=ppt/tags/tag5.xml><?xml version="1.0" encoding="utf-8"?>
<p:tagLst xmlns:p="http://schemas.openxmlformats.org/presentationml/2006/main">
  <p:tag name="KSO_WM_DIAGRAM_VIRTUALLY_FRAME" val="{&quot;height&quot;:169.2,&quot;left&quot;:61.92,&quot;top&quot;:123.84,&quot;width&quot;:833.7599999999999}"/>
</p:tagLst>
</file>

<file path=ppt/tags/tag6.xml><?xml version="1.0" encoding="utf-8"?>
<p:tagLst xmlns:p="http://schemas.openxmlformats.org/presentationml/2006/main">
  <p:tag name="KSO_WM_DIAGRAM_VIRTUALLY_FRAME" val="{&quot;height&quot;:169.2,&quot;left&quot;:61.92,&quot;top&quot;:123.84,&quot;width&quot;:833.7599999999999}"/>
</p:tagLst>
</file>

<file path=ppt/tags/tag7.xml><?xml version="1.0" encoding="utf-8"?>
<p:tagLst xmlns:p="http://schemas.openxmlformats.org/presentationml/2006/main">
  <p:tag name="KSO_WM_DIAGRAM_VIRTUALLY_FRAME" val="{&quot;height&quot;:169.2,&quot;left&quot;:61.92,&quot;top&quot;:123.84,&quot;width&quot;:833.7599999999999}"/>
</p:tagLst>
</file>

<file path=ppt/tags/tag8.xml><?xml version="1.0" encoding="utf-8"?>
<p:tagLst xmlns:p="http://schemas.openxmlformats.org/presentationml/2006/main">
  <p:tag name="KSO_WM_DIAGRAM_VIRTUALLY_FRAME" val="{&quot;height&quot;:169.2,&quot;left&quot;:61.92,&quot;top&quot;:123.84,&quot;width&quot;:833.7599999999999}"/>
</p:tagLst>
</file>

<file path=ppt/tags/tag9.xml><?xml version="1.0" encoding="utf-8"?>
<p:tagLst xmlns:p="http://schemas.openxmlformats.org/presentationml/2006/main">
  <p:tag name="KSO_WM_DIAGRAM_VIRTUALLY_FRAME" val="{&quot;height&quot;:169.2,&quot;left&quot;:61.92,&quot;top&quot;:123.84,&quot;width&quot;:833.7599999999999}"/>
</p:tagLst>
</file>

<file path=ppt/tags/tag10.xml><?xml version="1.0" encoding="utf-8"?>
<p:tagLst xmlns:p="http://schemas.openxmlformats.org/presentationml/2006/main">
  <p:tag name="KSO_WM_DIAGRAM_VIRTUALLY_FRAME" val="{&quot;height&quot;:410.55,&quot;left&quot;:48.25,&quot;top&quot;:102.05,&quot;width&quot;:246.35}"/>
</p:tagLst>
</file>

<file path=ppt/tags/tag11.xml><?xml version="1.0" encoding="utf-8"?>
<p:tagLst xmlns:p="http://schemas.openxmlformats.org/presentationml/2006/main">
  <p:tag name="KSO_WM_DIAGRAM_VIRTUALLY_FRAME" val="{&quot;height&quot;:144,&quot;left&quot;:61.2,&quot;top&quot;:116.64000000000001,&quot;width&quot;:838.7999212598424}"/>
</p:tagLst>
</file>

<file path=ppt/tags/tag12.xml><?xml version="1.0" encoding="utf-8"?>
<p:tagLst xmlns:p="http://schemas.openxmlformats.org/presentationml/2006/main">
  <p:tag name="KSO_WM_DIAGRAM_VIRTUALLY_FRAME" val="{&quot;height&quot;:144,&quot;left&quot;:61.2,&quot;top&quot;:116.64000000000001,&quot;width&quot;:838.7999212598424}"/>
</p:tagLst>
</file>

<file path=ppt/tags/tag13.xml><?xml version="1.0" encoding="utf-8"?>
<p:tagLst xmlns:p="http://schemas.openxmlformats.org/presentationml/2006/main">
  <p:tag name="KSO_WM_DIAGRAM_VIRTUALLY_FRAME" val="{&quot;height&quot;:144,&quot;left&quot;:61.2,&quot;top&quot;:116.64000000000001,&quot;width&quot;:838.7999212598424}"/>
</p:tagLst>
</file>

<file path=ppt/tags/tag14.xml><?xml version="1.0" encoding="utf-8"?>
<p:tagLst xmlns:p="http://schemas.openxmlformats.org/presentationml/2006/main">
  <p:tag name="KSO_WM_DIAGRAM_VIRTUALLY_FRAME" val="{&quot;height&quot;:410.55,&quot;left&quot;:48.25,&quot;top&quot;:102.05,&quot;width&quot;:246.35}"/>
</p:tagLst>
</file>

<file path=ppt/tags/tag15.xml><?xml version="1.0" encoding="utf-8"?>
<p:tagLst xmlns:p="http://schemas.openxmlformats.org/presentationml/2006/main">
  <p:tag name="KSO_WM_DIAGRAM_VIRTUALLY_FRAME" val="{&quot;height&quot;:144,&quot;left&quot;:61.2,&quot;top&quot;:116.64000000000001,&quot;width&quot;:838.7999212598424}"/>
</p:tagLst>
</file>

<file path=ppt/tags/tag16.xml><?xml version="1.0" encoding="utf-8"?>
<p:tagLst xmlns:p="http://schemas.openxmlformats.org/presentationml/2006/main">
  <p:tag name="KSO_WM_DIAGRAM_VIRTUALLY_FRAME" val="{&quot;height&quot;:144,&quot;left&quot;:61.2,&quot;top&quot;:116.64000000000001,&quot;width&quot;:838.7999212598424}"/>
</p:tagLst>
</file>

<file path=ppt/tags/tag17.xml><?xml version="1.0" encoding="utf-8"?>
<p:tagLst xmlns:p="http://schemas.openxmlformats.org/presentationml/2006/main">
  <p:tag name="KSO_WM_DIAGRAM_VIRTUALLY_FRAME" val="{&quot;height&quot;:144,&quot;left&quot;:61.2,&quot;top&quot;:116.64000000000001,&quot;width&quot;:838.7999212598424}"/>
</p:tagLst>
</file>

<file path=ppt/tags/tag18.xml><?xml version="1.0" encoding="utf-8"?>
<p:tagLst xmlns:p="http://schemas.openxmlformats.org/presentationml/2006/main">
  <p:tag name="KSO_WM_DIAGRAM_VIRTUALLY_FRAME" val="{&quot;height&quot;:410.55,&quot;left&quot;:48.25,&quot;top&quot;:102.05,&quot;width&quot;:246.35}"/>
</p:tagLst>
</file>

<file path=ppt/tags/tag19.xml><?xml version="1.0" encoding="utf-8"?>
<p:tagLst xmlns:p="http://schemas.openxmlformats.org/presentationml/2006/main">
  <p:tag name="KSO_WM_DIAGRAM_VIRTUALLY_FRAME" val="{&quot;height&quot;:144,&quot;left&quot;:61.2,&quot;top&quot;:116.64000000000001,&quot;width&quot;:838.7999212598424}"/>
</p:tagLst>
</file>

<file path=ppt/tags/tag20.xml><?xml version="1.0" encoding="utf-8"?>
<p:tagLst xmlns:p="http://schemas.openxmlformats.org/presentationml/2006/main">
  <p:tag name="KSO_WM_DIAGRAM_VIRTUALLY_FRAME" val="{&quot;height&quot;:144,&quot;left&quot;:61.2,&quot;top&quot;:116.64000000000001,&quot;width&quot;:838.7999212598424}"/>
</p:tagLst>
</file>

<file path=ppt/tags/tag21.xml><?xml version="1.0" encoding="utf-8"?>
<p:tagLst xmlns:p="http://schemas.openxmlformats.org/presentationml/2006/main">
  <p:tag name="KSO_WM_DIAGRAM_VIRTUALLY_FRAME" val="{&quot;height&quot;:144,&quot;left&quot;:61.2,&quot;top&quot;:116.64000000000001,&quot;width&quot;:838.799921259842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4533</Words>
  <Application>WPS 演示</Application>
  <PresentationFormat>宽屏</PresentationFormat>
  <Paragraphs>504</Paragraphs>
  <Slides>22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1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方正粗黑宋简体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郭鸿毅</dc:creator>
  <dc:description>generated using python-pptx</dc:description>
  <cp:lastModifiedBy>周德诺</cp:lastModifiedBy>
  <cp:revision>9</cp:revision>
  <dcterms:created xsi:type="dcterms:W3CDTF">2013-01-27T09:14:00Z</dcterms:created>
  <dcterms:modified xsi:type="dcterms:W3CDTF">2026-06-04T07:02:08Z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618d1e0-f5d7-4da7-8ddd-3b83021a2c85_Enabled">
    <vt:lpwstr>true</vt:lpwstr>
  </property>
  <property fmtid="{D5CDD505-2E9C-101B-9397-08002B2CF9AE}" pid="3" name="MSIP_Label_a618d1e0-f5d7-4da7-8ddd-3b83021a2c85_SetDate">
    <vt:lpwstr>2026-06-04T00:48:01Z</vt:lpwstr>
  </property>
  <property fmtid="{D5CDD505-2E9C-101B-9397-08002B2CF9AE}" pid="4" name="MSIP_Label_a618d1e0-f5d7-4da7-8ddd-3b83021a2c85_Method">
    <vt:lpwstr>Standard</vt:lpwstr>
  </property>
  <property fmtid="{D5CDD505-2E9C-101B-9397-08002B2CF9AE}" pid="5" name="MSIP_Label_a618d1e0-f5d7-4da7-8ddd-3b83021a2c85_Name">
    <vt:lpwstr>Private</vt:lpwstr>
  </property>
  <property fmtid="{D5CDD505-2E9C-101B-9397-08002B2CF9AE}" pid="6" name="MSIP_Label_a618d1e0-f5d7-4da7-8ddd-3b83021a2c85_SiteId">
    <vt:lpwstr>ae323139-093a-4d2a-81a6-5d334bcd9019</vt:lpwstr>
  </property>
  <property fmtid="{D5CDD505-2E9C-101B-9397-08002B2CF9AE}" pid="7" name="MSIP_Label_a618d1e0-f5d7-4da7-8ddd-3b83021a2c85_ActionId">
    <vt:lpwstr>88eb3e2c-d3a9-4521-bce2-d3ebd7fd66f4</vt:lpwstr>
  </property>
  <property fmtid="{D5CDD505-2E9C-101B-9397-08002B2CF9AE}" pid="8" name="MSIP_Label_a618d1e0-f5d7-4da7-8ddd-3b83021a2c85_ContentBits">
    <vt:lpwstr>0</vt:lpwstr>
  </property>
  <property fmtid="{D5CDD505-2E9C-101B-9397-08002B2CF9AE}" pid="9" name="MSIP_Label_a618d1e0-f5d7-4da7-8ddd-3b83021a2c85_Tag">
    <vt:lpwstr>10, 3, 0, 1</vt:lpwstr>
  </property>
  <property fmtid="{D5CDD505-2E9C-101B-9397-08002B2CF9AE}" pid="10" name="KSOProductBuildVer">
    <vt:lpwstr>2052-12.1.0.26895</vt:lpwstr>
  </property>
  <property fmtid="{D5CDD505-2E9C-101B-9397-08002B2CF9AE}" pid="11" name="ICV">
    <vt:lpwstr>8F213B30628F49D89CD7DF8CA24C2253_12</vt:lpwstr>
  </property>
</Properties>
</file>