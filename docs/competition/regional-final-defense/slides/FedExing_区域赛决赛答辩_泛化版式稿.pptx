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6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gif"/><Relationship Id="rId5" Type="http://schemas.openxmlformats.org/officeDocument/2006/relationships/image" Target="../media/image10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jpeg"/><Relationship Id="rId3" Type="http://schemas.openxmlformats.org/officeDocument/2006/relationships/image" Target="../media/image3.png"/><Relationship Id="rId4" Type="http://schemas.openxmlformats.org/officeDocument/2006/relationships/image" Target="../media/image20.jp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image" Target="../media/image3.pn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jpeg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image" Target="../media/image3.pn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image3.jpe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image4.png"/>
          <p:cNvPicPr/>
          <p:nvPr/>
        </p:nvPicPr>
        <p:blipFill>
          <a:blip r:embed="rId3"/>
          <a:stretch/>
        </p:blipFill>
        <p:spPr>
          <a:xfrm>
            <a:off x="9308520" y="32904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3"/>
          <p:cNvSpPr/>
          <p:nvPr/>
        </p:nvSpPr>
        <p:spPr>
          <a:xfrm>
            <a:off x="530280" y="98748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2026 </a:t>
            </a:r>
            <a:r>
              <a:rPr lang="zh-CN" sz="105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腾讯开悟人工智能全球公开赛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30280" y="132588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3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线下答辩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67000" y="20116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智能体决策算法 </a:t>
            </a:r>
            <a:r>
              <a:rPr lang="en-US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中部赛区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567000" y="2541960"/>
            <a:ext cx="3062880" cy="270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603360" y="288036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赛道信息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1417320" y="288036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D01-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智能体决策算法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603360" y="320940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答辩团队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417320" y="32094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FedExing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603360" y="353880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团队编号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1417320" y="35388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T2600875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603360" y="386784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演讲人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1417320" y="3867840"/>
            <a:ext cx="3565800" cy="16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郭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鸿毅 </a:t>
            </a: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周德诺 </a:t>
            </a: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古天豪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目录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 dirty="0">
                <a:solidFill>
                  <a:srgbClr val="ADCCE8"/>
                </a:solidFill>
                <a:effectLst/>
                <a:uFillTx/>
                <a:latin typeface="微软雅黑"/>
              </a:rPr>
              <a:t>02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四段式讲清：赛题、算法、创新、落地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ounded Rectangle 7"/>
          <p:cNvSpPr/>
          <p:nvPr/>
        </p:nvSpPr>
        <p:spPr>
          <a:xfrm>
            <a:off x="932760" y="153612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1134000" y="170064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1938600" y="17740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赛题理解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1938600" y="224928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从绝悟发展与赛题目标出发，明确智能体应学会什么。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1"/>
          <p:cNvSpPr/>
          <p:nvPr/>
        </p:nvSpPr>
        <p:spPr>
          <a:xfrm>
            <a:off x="6327720" y="153612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6528960" y="170064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7333560" y="17740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算法设计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7333560" y="224928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用网络、</a:t>
            </a:r>
            <a:r>
              <a:rPr lang="en-US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PPO</a:t>
            </a: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、特征、奖励、工程五层构成训练闭环。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5"/>
          <p:cNvSpPr/>
          <p:nvPr/>
        </p:nvSpPr>
        <p:spPr>
          <a:xfrm>
            <a:off x="932760" y="395028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1134000" y="411480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1938600" y="41878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创新挖掘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1938600" y="466344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解释每个设计为什么能提高样本效率和训练稳定性。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9"/>
          <p:cNvSpPr/>
          <p:nvPr/>
        </p:nvSpPr>
        <p:spPr>
          <a:xfrm>
            <a:off x="6327720" y="395028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0"/>
          <p:cNvSpPr/>
          <p:nvPr/>
        </p:nvSpPr>
        <p:spPr>
          <a:xfrm>
            <a:off x="6528960" y="411480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1"/>
          <p:cNvSpPr/>
          <p:nvPr/>
        </p:nvSpPr>
        <p:spPr>
          <a:xfrm>
            <a:off x="7333560" y="41878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未来展望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2"/>
          <p:cNvSpPr/>
          <p:nvPr/>
        </p:nvSpPr>
        <p:spPr>
          <a:xfrm>
            <a:off x="7333560" y="466344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给出可继续优化的算法</a:t>
            </a:r>
            <a:r>
              <a:rPr lang="en-US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/</a:t>
            </a: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工程路线与泛化应用。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赛题理解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绝悟从模仿学习走向自博弈与通用智能体基座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6" name="Connector 7"/>
          <p:cNvCxnSpPr/>
          <p:nvPr/>
        </p:nvCxnSpPr>
        <p:spPr>
          <a:xfrm>
            <a:off x="1161000" y="2267640"/>
            <a:ext cx="9675000" cy="360"/>
          </a:xfrm>
          <a:prstGeom prst="straightConnector1">
            <a:avLst/>
          </a:prstGeom>
          <a:ln w="15240">
            <a:solidFill>
              <a:srgbClr val="00E5FF"/>
            </a:solidFill>
            <a:round/>
          </a:ln>
        </p:spPr>
      </p:cxnSp>
      <p:sp>
        <p:nvSpPr>
          <p:cNvPr id="107" name="Oval 8"/>
          <p:cNvSpPr/>
          <p:nvPr/>
        </p:nvSpPr>
        <p:spPr>
          <a:xfrm>
            <a:off x="84132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89604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2018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0"/>
          <p:cNvSpPr/>
          <p:nvPr/>
        </p:nvSpPr>
        <p:spPr>
          <a:xfrm>
            <a:off x="45720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62172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监督学习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62172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复刻职业操作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跻身顶尖业余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Oval 13"/>
          <p:cNvSpPr/>
          <p:nvPr/>
        </p:nvSpPr>
        <p:spPr>
          <a:xfrm>
            <a:off x="296280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4"/>
          <p:cNvSpPr/>
          <p:nvPr/>
        </p:nvSpPr>
        <p:spPr>
          <a:xfrm>
            <a:off x="301752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2019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5"/>
          <p:cNvSpPr/>
          <p:nvPr/>
        </p:nvSpPr>
        <p:spPr>
          <a:xfrm>
            <a:off x="257868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6"/>
          <p:cNvSpPr/>
          <p:nvPr/>
        </p:nvSpPr>
        <p:spPr>
          <a:xfrm>
            <a:off x="274320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自博弈强化学习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7"/>
          <p:cNvSpPr/>
          <p:nvPr/>
        </p:nvSpPr>
        <p:spPr>
          <a:xfrm>
            <a:off x="274320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3 </a:t>
            </a: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个月完成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1v1 → 5v5 </a:t>
            </a: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进阶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val 18"/>
          <p:cNvSpPr/>
          <p:nvPr/>
        </p:nvSpPr>
        <p:spPr>
          <a:xfrm>
            <a:off x="508392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9"/>
          <p:cNvSpPr/>
          <p:nvPr/>
        </p:nvSpPr>
        <p:spPr>
          <a:xfrm>
            <a:off x="513900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20"/>
          <p:cNvSpPr/>
          <p:nvPr/>
        </p:nvSpPr>
        <p:spPr>
          <a:xfrm>
            <a:off x="470016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1"/>
          <p:cNvSpPr/>
          <p:nvPr/>
        </p:nvSpPr>
        <p:spPr>
          <a:xfrm>
            <a:off x="486468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全英雄开放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2"/>
          <p:cNvSpPr/>
          <p:nvPr/>
        </p:nvSpPr>
        <p:spPr>
          <a:xfrm>
            <a:off x="486468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高难模式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胜率 </a:t>
            </a:r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96.2%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Oval 23"/>
          <p:cNvSpPr/>
          <p:nvPr/>
        </p:nvSpPr>
        <p:spPr>
          <a:xfrm>
            <a:off x="720540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4"/>
          <p:cNvSpPr/>
          <p:nvPr/>
        </p:nvSpPr>
        <p:spPr>
          <a:xfrm>
            <a:off x="726048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25"/>
          <p:cNvSpPr/>
          <p:nvPr/>
        </p:nvSpPr>
        <p:spPr>
          <a:xfrm>
            <a:off x="682128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6"/>
          <p:cNvSpPr/>
          <p:nvPr/>
        </p:nvSpPr>
        <p:spPr>
          <a:xfrm>
            <a:off x="698616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BP + </a:t>
            </a: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全局博弈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7"/>
          <p:cNvSpPr/>
          <p:nvPr/>
        </p:nvSpPr>
        <p:spPr>
          <a:xfrm>
            <a:off x="698616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BP </a:t>
            </a: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胜率测算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临场动态调策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Oval 28"/>
          <p:cNvSpPr/>
          <p:nvPr/>
        </p:nvSpPr>
        <p:spPr>
          <a:xfrm>
            <a:off x="932688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9"/>
          <p:cNvSpPr/>
          <p:nvPr/>
        </p:nvSpPr>
        <p:spPr>
          <a:xfrm>
            <a:off x="938160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2021+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30"/>
          <p:cNvSpPr/>
          <p:nvPr/>
        </p:nvSpPr>
        <p:spPr>
          <a:xfrm>
            <a:off x="894276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31"/>
          <p:cNvSpPr/>
          <p:nvPr/>
        </p:nvSpPr>
        <p:spPr>
          <a:xfrm>
            <a:off x="910728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跨场景基座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2"/>
          <p:cNvSpPr/>
          <p:nvPr/>
        </p:nvSpPr>
        <p:spPr>
          <a:xfrm>
            <a:off x="910728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从游戏到产业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多智能体泛化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33"/>
          <p:cNvSpPr/>
          <p:nvPr/>
        </p:nvSpPr>
        <p:spPr>
          <a:xfrm>
            <a:off x="932760" y="4864680"/>
            <a:ext cx="1828440" cy="78588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34"/>
          <p:cNvSpPr/>
          <p:nvPr/>
        </p:nvSpPr>
        <p:spPr>
          <a:xfrm>
            <a:off x="1069920" y="4974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96.2%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5"/>
          <p:cNvSpPr/>
          <p:nvPr/>
        </p:nvSpPr>
        <p:spPr>
          <a:xfrm>
            <a:off x="1069920" y="532188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2020 </a:t>
            </a: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高难模式胜率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36"/>
          <p:cNvSpPr/>
          <p:nvPr/>
        </p:nvSpPr>
        <p:spPr>
          <a:xfrm>
            <a:off x="3063240" y="4864680"/>
            <a:ext cx="1828440" cy="78588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37"/>
          <p:cNvSpPr/>
          <p:nvPr/>
        </p:nvSpPr>
        <p:spPr>
          <a:xfrm>
            <a:off x="3200400" y="4974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3</a:t>
            </a:r>
            <a:r>
              <a:rPr lang="zh-CN" sz="20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个月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8"/>
          <p:cNvSpPr/>
          <p:nvPr/>
        </p:nvSpPr>
        <p:spPr>
          <a:xfrm>
            <a:off x="3200400" y="532188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从 </a:t>
            </a:r>
            <a:r>
              <a:rPr lang="en-US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1v1 </a:t>
            </a: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到 </a:t>
            </a:r>
            <a:r>
              <a:rPr lang="en-US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5v5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39"/>
          <p:cNvSpPr/>
          <p:nvPr/>
        </p:nvSpPr>
        <p:spPr>
          <a:xfrm>
            <a:off x="5193720" y="4864680"/>
            <a:ext cx="1828440" cy="78588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40"/>
          <p:cNvSpPr/>
          <p:nvPr/>
        </p:nvSpPr>
        <p:spPr>
          <a:xfrm>
            <a:off x="5330880" y="4974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BP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1"/>
          <p:cNvSpPr/>
          <p:nvPr/>
        </p:nvSpPr>
        <p:spPr>
          <a:xfrm>
            <a:off x="5330880" y="532188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临场动态决策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赛题理解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核心目标不是“会动”，而是围绕推塔目标形成可迁移策略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ounded Rectangle 7"/>
          <p:cNvSpPr/>
          <p:nvPr/>
        </p:nvSpPr>
        <p:spPr>
          <a:xfrm>
            <a:off x="841320" y="1297764"/>
            <a:ext cx="11153211" cy="9140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1051919" y="166409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训练目标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2011680" y="1617267"/>
            <a:ext cx="9439801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让 </a:t>
            </a:r>
            <a:r>
              <a:rPr lang="en-US" sz="16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agent </a:t>
            </a:r>
            <a:r>
              <a:rPr lang="zh-CN" sz="16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在训练中逐渐感知英雄身份、理解游戏特性，并把操作选择收敛到“率先推掉敌方第一座塔”。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0"/>
          <p:cNvSpPr/>
          <p:nvPr/>
        </p:nvSpPr>
        <p:spPr>
          <a:xfrm>
            <a:off x="841320" y="2743200"/>
            <a:ext cx="3154320" cy="13255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1005840" y="2862000"/>
            <a:ext cx="2825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基本操作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1005840" y="3218760"/>
            <a:ext cx="2825280" cy="347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3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开局走中、保持距离、减少受控与被击、残血撤退、跟随兵线进塔。</a:t>
            </a:r>
            <a:endParaRPr lang="en-US" sz="113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3"/>
          <p:cNvSpPr/>
          <p:nvPr/>
        </p:nvSpPr>
        <p:spPr>
          <a:xfrm>
            <a:off x="4526280" y="2743200"/>
            <a:ext cx="3154320" cy="13255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4"/>
          <p:cNvSpPr/>
          <p:nvPr/>
        </p:nvSpPr>
        <p:spPr>
          <a:xfrm>
            <a:off x="4690800" y="2862000"/>
            <a:ext cx="2825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进阶博弈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5"/>
          <p:cNvSpPr/>
          <p:nvPr/>
        </p:nvSpPr>
        <p:spPr>
          <a:xfrm>
            <a:off x="4690800" y="3218760"/>
            <a:ext cx="2825280" cy="347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3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技能连招、释放时机、拿血包、打野怪、越塔强杀、塔外磨塔、硬推塔。</a:t>
            </a:r>
            <a:endParaRPr lang="en-US" sz="113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6"/>
          <p:cNvSpPr/>
          <p:nvPr/>
        </p:nvSpPr>
        <p:spPr>
          <a:xfrm>
            <a:off x="8211240" y="2743200"/>
            <a:ext cx="3154320" cy="13255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7"/>
          <p:cNvSpPr/>
          <p:nvPr/>
        </p:nvSpPr>
        <p:spPr>
          <a:xfrm>
            <a:off x="8375760" y="2862000"/>
            <a:ext cx="2825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现实约束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8"/>
          <p:cNvSpPr/>
          <p:nvPr/>
        </p:nvSpPr>
        <p:spPr>
          <a:xfrm>
            <a:off x="8375760" y="3218760"/>
            <a:ext cx="2825280" cy="347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3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算力与时间有限，设计必须提升训练效率，并平衡效果、稳定性与可复现。</a:t>
            </a:r>
            <a:endParaRPr lang="en-US" sz="113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cxnSp>
        <p:nvCxnSpPr>
          <p:cNvPr id="159" name="Connector 19"/>
          <p:cNvCxnSpPr/>
          <p:nvPr/>
        </p:nvCxnSpPr>
        <p:spPr>
          <a:xfrm>
            <a:off x="2423160" y="4069080"/>
            <a:ext cx="360" cy="82332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cxnSp>
        <p:nvCxnSpPr>
          <p:cNvPr id="160" name="Connector 20"/>
          <p:cNvCxnSpPr/>
          <p:nvPr/>
        </p:nvCxnSpPr>
        <p:spPr>
          <a:xfrm>
            <a:off x="6098760" y="4069080"/>
            <a:ext cx="360" cy="82332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cxnSp>
        <p:nvCxnSpPr>
          <p:cNvPr id="161" name="Connector 21"/>
          <p:cNvCxnSpPr/>
          <p:nvPr/>
        </p:nvCxnSpPr>
        <p:spPr>
          <a:xfrm>
            <a:off x="9784080" y="4069080"/>
            <a:ext cx="360" cy="823320"/>
          </a:xfrm>
          <a:prstGeom prst="straightConnector1">
            <a:avLst/>
          </a:prstGeom>
          <a:ln w="17780">
            <a:solidFill>
              <a:srgbClr val="FFBE4A"/>
            </a:solidFill>
            <a:round/>
          </a:ln>
        </p:spPr>
      </p:cxnSp>
      <p:sp>
        <p:nvSpPr>
          <p:cNvPr id="162" name="Rounded Rectangle 22"/>
          <p:cNvSpPr/>
          <p:nvPr/>
        </p:nvSpPr>
        <p:spPr>
          <a:xfrm>
            <a:off x="2011680" y="4892040"/>
            <a:ext cx="8137800" cy="74952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3"/>
          <p:cNvSpPr/>
          <p:nvPr/>
        </p:nvSpPr>
        <p:spPr>
          <a:xfrm>
            <a:off x="2286000" y="5102280"/>
            <a:ext cx="7589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设计原则：把先验知识写进观测、动作偏置、奖励分组和训练工程，而不是只堆训练轮次。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五层闭环把 </a:t>
            </a:r>
            <a:r>
              <a:rPr lang="en-US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PPO </a:t>
            </a: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从“能训练”推进到“可诊断、可恢复、可扩展”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70" name="Connector 7"/>
          <p:cNvCxnSpPr/>
          <p:nvPr/>
        </p:nvCxnSpPr>
        <p:spPr>
          <a:xfrm>
            <a:off x="2359080" y="1892520"/>
            <a:ext cx="3712680" cy="1171080"/>
          </a:xfrm>
          <a:prstGeom prst="straightConnector1">
            <a:avLst/>
          </a:prstGeom>
          <a:ln w="12700">
            <a:solidFill>
              <a:srgbClr val="00E5FF"/>
            </a:solidFill>
            <a:round/>
          </a:ln>
        </p:spPr>
      </p:cxnSp>
      <p:cxnSp>
        <p:nvCxnSpPr>
          <p:cNvPr id="171" name="Connector 8"/>
          <p:cNvCxnSpPr/>
          <p:nvPr/>
        </p:nvCxnSpPr>
        <p:spPr>
          <a:xfrm flipH="1">
            <a:off x="6071400" y="1892520"/>
            <a:ext cx="3466080" cy="1171080"/>
          </a:xfrm>
          <a:prstGeom prst="straightConnector1">
            <a:avLst/>
          </a:prstGeom>
          <a:ln w="12700">
            <a:solidFill>
              <a:srgbClr val="7C5CFF"/>
            </a:solidFill>
            <a:round/>
          </a:ln>
        </p:spPr>
      </p:cxnSp>
      <p:cxnSp>
        <p:nvCxnSpPr>
          <p:cNvPr id="172" name="Connector 9"/>
          <p:cNvCxnSpPr/>
          <p:nvPr/>
        </p:nvCxnSpPr>
        <p:spPr>
          <a:xfrm flipV="1">
            <a:off x="2359080" y="3063240"/>
            <a:ext cx="3712680" cy="1673640"/>
          </a:xfrm>
          <a:prstGeom prst="straightConnector1">
            <a:avLst/>
          </a:prstGeom>
          <a:ln w="12700">
            <a:solidFill>
              <a:srgbClr val="00ADFF"/>
            </a:solidFill>
            <a:round/>
          </a:ln>
        </p:spPr>
      </p:cxnSp>
      <p:cxnSp>
        <p:nvCxnSpPr>
          <p:cNvPr id="173" name="Connector 10"/>
          <p:cNvCxnSpPr/>
          <p:nvPr/>
        </p:nvCxnSpPr>
        <p:spPr>
          <a:xfrm flipH="1" flipV="1">
            <a:off x="6071400" y="3063240"/>
            <a:ext cx="3466080" cy="1673640"/>
          </a:xfrm>
          <a:prstGeom prst="straightConnector1">
            <a:avLst/>
          </a:prstGeom>
          <a:ln w="12700">
            <a:solidFill>
              <a:srgbClr val="FFBE4A"/>
            </a:solidFill>
            <a:round/>
          </a:ln>
        </p:spPr>
      </p:cxnSp>
      <p:cxnSp>
        <p:nvCxnSpPr>
          <p:cNvPr id="174" name="Connector 11"/>
          <p:cNvCxnSpPr/>
          <p:nvPr/>
        </p:nvCxnSpPr>
        <p:spPr>
          <a:xfrm flipV="1">
            <a:off x="5221080" y="3063240"/>
            <a:ext cx="850680" cy="2240640"/>
          </a:xfrm>
          <a:prstGeom prst="straightConnector1">
            <a:avLst/>
          </a:prstGeom>
          <a:ln w="12700">
            <a:solidFill>
              <a:srgbClr val="C6FF4E"/>
            </a:solidFill>
            <a:round/>
          </a:ln>
        </p:spPr>
      </p:cxnSp>
      <p:sp>
        <p:nvSpPr>
          <p:cNvPr id="175" name="Hexagon 12"/>
          <p:cNvSpPr/>
          <p:nvPr/>
        </p:nvSpPr>
        <p:spPr>
          <a:xfrm>
            <a:off x="4681800" y="2331720"/>
            <a:ext cx="2788560" cy="14626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5102280" y="267912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2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高效 </a:t>
            </a:r>
            <a:r>
              <a:rPr lang="en-US" sz="2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PPO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2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智能体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4"/>
          <p:cNvSpPr/>
          <p:nvPr/>
        </p:nvSpPr>
        <p:spPr>
          <a:xfrm>
            <a:off x="914400" y="141732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1078920" y="155448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网络架构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6"/>
          <p:cNvSpPr/>
          <p:nvPr/>
        </p:nvSpPr>
        <p:spPr>
          <a:xfrm>
            <a:off x="1078920" y="189288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MLP + LSTM + Multi-Head Output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17"/>
          <p:cNvSpPr/>
          <p:nvPr/>
        </p:nvSpPr>
        <p:spPr>
          <a:xfrm>
            <a:off x="8092440" y="141732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8"/>
          <p:cNvSpPr/>
          <p:nvPr/>
        </p:nvSpPr>
        <p:spPr>
          <a:xfrm>
            <a:off x="8256960" y="155448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PPO </a:t>
            </a:r>
            <a:r>
              <a:rPr lang="zh-CN" sz="135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核心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8256960" y="189288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Clip 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熵正则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梯度裁剪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20"/>
          <p:cNvSpPr/>
          <p:nvPr/>
        </p:nvSpPr>
        <p:spPr>
          <a:xfrm>
            <a:off x="914400" y="426096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21"/>
          <p:cNvSpPr/>
          <p:nvPr/>
        </p:nvSpPr>
        <p:spPr>
          <a:xfrm>
            <a:off x="1078920" y="439812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特征工程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2"/>
          <p:cNvSpPr/>
          <p:nvPr/>
        </p:nvSpPr>
        <p:spPr>
          <a:xfrm>
            <a:off x="1078920" y="473652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Obs Builder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：位置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数值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实体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23"/>
          <p:cNvSpPr/>
          <p:nvPr/>
        </p:nvSpPr>
        <p:spPr>
          <a:xfrm>
            <a:off x="8092440" y="426096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4"/>
          <p:cNvSpPr/>
          <p:nvPr/>
        </p:nvSpPr>
        <p:spPr>
          <a:xfrm>
            <a:off x="8256960" y="439812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奖励设计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5"/>
          <p:cNvSpPr/>
          <p:nvPr/>
        </p:nvSpPr>
        <p:spPr>
          <a:xfrm>
            <a:off x="8256960" y="473652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Reward Groups 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零和机制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26"/>
          <p:cNvSpPr/>
          <p:nvPr/>
        </p:nvSpPr>
        <p:spPr>
          <a:xfrm>
            <a:off x="3776400" y="482796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7"/>
          <p:cNvSpPr/>
          <p:nvPr/>
        </p:nvSpPr>
        <p:spPr>
          <a:xfrm>
            <a:off x="3940920" y="496512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系统工程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8"/>
          <p:cNvSpPr/>
          <p:nvPr/>
        </p:nvSpPr>
        <p:spPr>
          <a:xfrm>
            <a:off x="3940920" y="530352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Workflow + Config 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监控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断点恢复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网络架构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575999" y="713160"/>
            <a:ext cx="859675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实体专属编码 </a:t>
            </a: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时序公共特征 </a:t>
            </a: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多头输出，让策略同时理解对象</a:t>
            </a:r>
            <a:r>
              <a:rPr lang="zh-CN" alt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和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目标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ounded Rectangle 7"/>
          <p:cNvSpPr/>
          <p:nvPr/>
        </p:nvSpPr>
        <p:spPr>
          <a:xfrm>
            <a:off x="71316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84132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5</a:t>
            </a:r>
            <a:r>
              <a:rPr lang="zh-CN" sz="12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类实体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83196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英雄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小兵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塔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子弹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河道蟹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1" name="Connector 10"/>
          <p:cNvCxnSpPr/>
          <p:nvPr/>
        </p:nvCxnSpPr>
        <p:spPr>
          <a:xfrm>
            <a:off x="2130480" y="2806920"/>
            <a:ext cx="356760" cy="36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sp>
        <p:nvSpPr>
          <p:cNvPr id="202" name="Rounded Rectangle 11"/>
          <p:cNvSpPr/>
          <p:nvPr/>
        </p:nvSpPr>
        <p:spPr>
          <a:xfrm>
            <a:off x="248724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2"/>
          <p:cNvSpPr/>
          <p:nvPr/>
        </p:nvSpPr>
        <p:spPr>
          <a:xfrm>
            <a:off x="261504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专属 </a:t>
            </a:r>
            <a:r>
              <a:rPr lang="en-US" sz="120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MLP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3"/>
          <p:cNvSpPr/>
          <p:nvPr/>
        </p:nvSpPr>
        <p:spPr>
          <a:xfrm>
            <a:off x="260604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32–128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维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友敌独立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FC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5" name="Connector 14"/>
          <p:cNvCxnSpPr/>
          <p:nvPr/>
        </p:nvCxnSpPr>
        <p:spPr>
          <a:xfrm>
            <a:off x="3904200" y="2806920"/>
            <a:ext cx="357120" cy="360"/>
          </a:xfrm>
          <a:prstGeom prst="straightConnector1">
            <a:avLst/>
          </a:prstGeom>
          <a:ln w="17780">
            <a:solidFill>
              <a:srgbClr val="00ADFF"/>
            </a:solidFill>
            <a:round/>
          </a:ln>
        </p:spPr>
      </p:cxnSp>
      <p:sp>
        <p:nvSpPr>
          <p:cNvPr id="206" name="Rounded Rectangle 15"/>
          <p:cNvSpPr/>
          <p:nvPr/>
        </p:nvSpPr>
        <p:spPr>
          <a:xfrm>
            <a:off x="426096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6"/>
          <p:cNvSpPr/>
          <p:nvPr/>
        </p:nvSpPr>
        <p:spPr>
          <a:xfrm>
            <a:off x="438912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时序融合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7"/>
          <p:cNvSpPr/>
          <p:nvPr/>
        </p:nvSpPr>
        <p:spPr>
          <a:xfrm>
            <a:off x="438012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Concat → LN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LSTM(512) → LN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9" name="Connector 18"/>
          <p:cNvCxnSpPr/>
          <p:nvPr/>
        </p:nvCxnSpPr>
        <p:spPr>
          <a:xfrm>
            <a:off x="5678280" y="2806920"/>
            <a:ext cx="357120" cy="36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sp>
        <p:nvSpPr>
          <p:cNvPr id="210" name="Rounded Rectangle 19"/>
          <p:cNvSpPr/>
          <p:nvPr/>
        </p:nvSpPr>
        <p:spPr>
          <a:xfrm>
            <a:off x="603504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0"/>
          <p:cNvSpPr/>
          <p:nvPr/>
        </p:nvSpPr>
        <p:spPr>
          <a:xfrm>
            <a:off x="616320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公共特征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1"/>
          <p:cNvSpPr/>
          <p:nvPr/>
        </p:nvSpPr>
        <p:spPr>
          <a:xfrm>
            <a:off x="615384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dim_public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256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3" name="Connector 22"/>
          <p:cNvCxnSpPr/>
          <p:nvPr/>
        </p:nvCxnSpPr>
        <p:spPr>
          <a:xfrm>
            <a:off x="7452360" y="2806920"/>
            <a:ext cx="356760" cy="360"/>
          </a:xfrm>
          <a:prstGeom prst="straightConnector1">
            <a:avLst/>
          </a:prstGeom>
          <a:ln w="17780">
            <a:solidFill>
              <a:srgbClr val="C6FF4E"/>
            </a:solidFill>
            <a:round/>
          </a:ln>
        </p:spPr>
      </p:cxnSp>
      <p:sp>
        <p:nvSpPr>
          <p:cNvPr id="214" name="Rounded Rectangle 23"/>
          <p:cNvSpPr/>
          <p:nvPr/>
        </p:nvSpPr>
        <p:spPr>
          <a:xfrm>
            <a:off x="780912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24"/>
          <p:cNvSpPr/>
          <p:nvPr/>
        </p:nvSpPr>
        <p:spPr>
          <a:xfrm>
            <a:off x="793692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输出头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5"/>
          <p:cNvSpPr/>
          <p:nvPr/>
        </p:nvSpPr>
        <p:spPr>
          <a:xfrm>
            <a:off x="792792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5 Value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头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6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维组合动作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26"/>
          <p:cNvSpPr/>
          <p:nvPr/>
        </p:nvSpPr>
        <p:spPr>
          <a:xfrm>
            <a:off x="9711000" y="1815120"/>
            <a:ext cx="1782720" cy="19648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27"/>
          <p:cNvSpPr/>
          <p:nvPr/>
        </p:nvSpPr>
        <p:spPr>
          <a:xfrm>
            <a:off x="9900000" y="2093400"/>
            <a:ext cx="14536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动作先验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8"/>
          <p:cNvSpPr/>
          <p:nvPr/>
        </p:nvSpPr>
        <p:spPr>
          <a:xfrm>
            <a:off x="9875520" y="2520000"/>
            <a:ext cx="1453680" cy="56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Target Embedding + </a:t>
            </a:r>
            <a:r>
              <a:rPr lang="zh-CN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动态 </a:t>
            </a:r>
            <a:r>
              <a:rPr lang="en-US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Bias</a:t>
            </a:r>
            <a:r>
              <a:rPr lang="zh-CN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：基于血量、距离、存在性在 </a:t>
            </a:r>
            <a:r>
              <a:rPr lang="en-US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logits </a:t>
            </a:r>
            <a:r>
              <a:rPr lang="zh-CN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注入偏好，冷启动更快。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29"/>
          <p:cNvSpPr/>
          <p:nvPr/>
        </p:nvSpPr>
        <p:spPr>
          <a:xfrm>
            <a:off x="1097280" y="4663440"/>
            <a:ext cx="9966600" cy="7128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30"/>
          <p:cNvSpPr/>
          <p:nvPr/>
        </p:nvSpPr>
        <p:spPr>
          <a:xfrm>
            <a:off x="1344240" y="48920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关键收益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31"/>
          <p:cNvSpPr/>
          <p:nvPr/>
        </p:nvSpPr>
        <p:spPr>
          <a:xfrm>
            <a:off x="2148840" y="4883760"/>
            <a:ext cx="845784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敌</a:t>
            </a:r>
            <a:r>
              <a:rPr lang="zh-CN" altLang="en-US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我</a:t>
            </a:r>
            <a:r>
              <a:rPr lang="zh-CN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语义分离避免参数干扰；多任务价值头让 </a:t>
            </a:r>
            <a:r>
              <a:rPr lang="en-US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farm / </a:t>
            </a:r>
            <a:r>
              <a:rPr lang="en-US" sz="1250" b="0" u="none" strike="noStrike" dirty="0" err="1">
                <a:solidFill>
                  <a:srgbClr val="F5FAFF"/>
                </a:solidFill>
                <a:effectLst/>
                <a:uFillTx/>
                <a:latin typeface="微软雅黑"/>
              </a:rPr>
              <a:t>kda</a:t>
            </a:r>
            <a:r>
              <a:rPr lang="en-US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 / damage / push / state </a:t>
            </a:r>
            <a:r>
              <a:rPr lang="zh-CN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可分项诊断。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PPO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核心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PPO </a:t>
            </a: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更新被做成有护栏的闭环：限制步长、保留探索、监控崩溃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ounded Rectangle 7"/>
          <p:cNvSpPr/>
          <p:nvPr/>
        </p:nvSpPr>
        <p:spPr>
          <a:xfrm>
            <a:off x="78624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8"/>
          <p:cNvSpPr/>
          <p:nvPr/>
        </p:nvSpPr>
        <p:spPr>
          <a:xfrm>
            <a:off x="95112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Clip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9"/>
          <p:cNvSpPr/>
          <p:nvPr/>
        </p:nvSpPr>
        <p:spPr>
          <a:xfrm>
            <a:off x="98748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ε = 0.2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约束策略更新幅度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Connector 10"/>
          <p:cNvCxnSpPr/>
          <p:nvPr/>
        </p:nvCxnSpPr>
        <p:spPr>
          <a:xfrm>
            <a:off x="3117960" y="2432160"/>
            <a:ext cx="457560" cy="36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sp>
        <p:nvSpPr>
          <p:cNvPr id="233" name="Rounded Rectangle 11"/>
          <p:cNvSpPr/>
          <p:nvPr/>
        </p:nvSpPr>
        <p:spPr>
          <a:xfrm>
            <a:off x="357516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2"/>
          <p:cNvSpPr/>
          <p:nvPr/>
        </p:nvSpPr>
        <p:spPr>
          <a:xfrm>
            <a:off x="374004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55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熵正则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3"/>
          <p:cNvSpPr/>
          <p:nvPr/>
        </p:nvSpPr>
        <p:spPr>
          <a:xfrm>
            <a:off x="377640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en-US" sz="1050" b="0" u="none" strike="noStrike" dirty="0" err="1">
                <a:solidFill>
                  <a:srgbClr val="F5FAFF"/>
                </a:solidFill>
                <a:effectLst/>
                <a:uFillTx/>
                <a:latin typeface="微软雅黑"/>
              </a:rPr>
              <a:t>var_beta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 0.005 → 0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线性退火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6" name="Connector 14"/>
          <p:cNvCxnSpPr/>
          <p:nvPr/>
        </p:nvCxnSpPr>
        <p:spPr>
          <a:xfrm>
            <a:off x="5906880" y="2432160"/>
            <a:ext cx="457560" cy="36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sp>
        <p:nvSpPr>
          <p:cNvPr id="237" name="Rounded Rectangle 15"/>
          <p:cNvSpPr/>
          <p:nvPr/>
        </p:nvSpPr>
        <p:spPr>
          <a:xfrm>
            <a:off x="636408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6"/>
          <p:cNvSpPr/>
          <p:nvPr/>
        </p:nvSpPr>
        <p:spPr>
          <a:xfrm>
            <a:off x="652896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55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梯度护栏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7"/>
          <p:cNvSpPr/>
          <p:nvPr/>
        </p:nvSpPr>
        <p:spPr>
          <a:xfrm>
            <a:off x="656532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梯度裁剪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Adam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1e-4 → 5e-5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0" name="Connector 18"/>
          <p:cNvCxnSpPr/>
          <p:nvPr/>
        </p:nvCxnSpPr>
        <p:spPr>
          <a:xfrm>
            <a:off x="8695800" y="2432160"/>
            <a:ext cx="457560" cy="360"/>
          </a:xfrm>
          <a:prstGeom prst="straightConnector1">
            <a:avLst/>
          </a:prstGeom>
          <a:ln w="17780">
            <a:solidFill>
              <a:srgbClr val="C6FF4E"/>
            </a:solidFill>
            <a:round/>
          </a:ln>
        </p:spPr>
      </p:cxnSp>
      <p:sp>
        <p:nvSpPr>
          <p:cNvPr id="241" name="Rounded Rectangle 19"/>
          <p:cNvSpPr/>
          <p:nvPr/>
        </p:nvSpPr>
        <p:spPr>
          <a:xfrm>
            <a:off x="915300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20"/>
          <p:cNvSpPr/>
          <p:nvPr/>
        </p:nvSpPr>
        <p:spPr>
          <a:xfrm>
            <a:off x="931788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55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监控恢复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21"/>
          <p:cNvSpPr/>
          <p:nvPr/>
        </p:nvSpPr>
        <p:spPr>
          <a:xfrm>
            <a:off x="935424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KL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散度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Adam state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断点续训不重置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22"/>
          <p:cNvSpPr/>
          <p:nvPr/>
        </p:nvSpPr>
        <p:spPr>
          <a:xfrm>
            <a:off x="987480" y="3977640"/>
            <a:ext cx="4845960" cy="114264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23"/>
          <p:cNvSpPr/>
          <p:nvPr/>
        </p:nvSpPr>
        <p:spPr>
          <a:xfrm>
            <a:off x="1234440" y="420624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多任务优势融合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24"/>
          <p:cNvSpPr/>
          <p:nvPr/>
        </p:nvSpPr>
        <p:spPr>
          <a:xfrm>
            <a:off x="1234440" y="4553640"/>
            <a:ext cx="4187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5 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个 </a:t>
            </a: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Value 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头独立计算 </a:t>
            </a: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Advantage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，再按权重融合，减少单一价值函数对多目标任务的拉扯。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25"/>
          <p:cNvSpPr/>
          <p:nvPr/>
        </p:nvSpPr>
        <p:spPr>
          <a:xfrm>
            <a:off x="6327720" y="3977640"/>
            <a:ext cx="4800240" cy="114264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6"/>
          <p:cNvSpPr/>
          <p:nvPr/>
        </p:nvSpPr>
        <p:spPr>
          <a:xfrm>
            <a:off x="6565320" y="420624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训练安全性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7"/>
          <p:cNvSpPr/>
          <p:nvPr/>
        </p:nvSpPr>
        <p:spPr>
          <a:xfrm>
            <a:off x="6565320" y="4553640"/>
            <a:ext cx="4096080" cy="1661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KL 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双侧截断 ，配合梯度与熵退火监控，提前发现策略崩溃。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特征工程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Obs Builder </a:t>
            </a: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同时保留局部关系、全局地图语义与连续数值细节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ounded Rectangle 7"/>
          <p:cNvSpPr/>
          <p:nvPr/>
        </p:nvSpPr>
        <p:spPr>
          <a:xfrm>
            <a:off x="2261488" y="1630196"/>
            <a:ext cx="3108600" cy="126144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8"/>
          <p:cNvSpPr/>
          <p:nvPr/>
        </p:nvSpPr>
        <p:spPr>
          <a:xfrm>
            <a:off x="2590530" y="1795120"/>
            <a:ext cx="2779560" cy="2308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双重位置编码</a:t>
            </a:r>
            <a:endParaRPr lang="en-US" sz="15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9"/>
          <p:cNvSpPr/>
          <p:nvPr/>
        </p:nvSpPr>
        <p:spPr>
          <a:xfrm>
            <a:off x="2590530" y="2171793"/>
            <a:ext cx="2779560" cy="507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相对位置：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41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桶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归一化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全局位置：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30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桶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残差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兼顾局部对位与地图控制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10"/>
          <p:cNvSpPr/>
          <p:nvPr/>
        </p:nvSpPr>
        <p:spPr>
          <a:xfrm>
            <a:off x="6821912" y="1630196"/>
            <a:ext cx="3108600" cy="126144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11"/>
          <p:cNvSpPr/>
          <p:nvPr/>
        </p:nvSpPr>
        <p:spPr>
          <a:xfrm>
            <a:off x="7261834" y="1772956"/>
            <a:ext cx="2779560" cy="2308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数值分桶</a:t>
            </a:r>
            <a:endParaRPr lang="en-US" sz="15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2"/>
          <p:cNvSpPr/>
          <p:nvPr/>
        </p:nvSpPr>
        <p:spPr>
          <a:xfrm>
            <a:off x="7261834" y="2146548"/>
            <a:ext cx="2779560" cy="507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HP / EP / Money / CD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离散桶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比例值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边界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保留阶段语义与连续信息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6"/>
          <p:cNvSpPr/>
          <p:nvPr/>
        </p:nvSpPr>
        <p:spPr>
          <a:xfrm>
            <a:off x="1280160" y="4434840"/>
            <a:ext cx="9555120" cy="8683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7"/>
          <p:cNvSpPr/>
          <p:nvPr/>
        </p:nvSpPr>
        <p:spPr>
          <a:xfrm>
            <a:off x="1952403" y="471918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1" u="none" strike="noStrike" dirty="0">
                <a:solidFill>
                  <a:srgbClr val="FFBE4A"/>
                </a:solidFill>
                <a:effectLst/>
                <a:uFillTx/>
                <a:latin typeface="微软雅黑"/>
              </a:rPr>
              <a:t>设计取舍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8"/>
          <p:cNvSpPr/>
          <p:nvPr/>
        </p:nvSpPr>
        <p:spPr>
          <a:xfrm>
            <a:off x="2577573" y="4680937"/>
            <a:ext cx="786348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特征不是简单堆维度，而是把“距离、阶段”拆成网络容易学习的稳定信号。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Picture 1" descr="image1.png"/>
          <p:cNvPicPr/>
          <p:nvPr/>
        </p:nvPicPr>
        <p:blipFill>
          <a:blip r:embed="rId2"/>
          <a:stretch/>
        </p:blipFill>
        <p:spPr>
          <a:xfrm>
            <a:off x="240" y="2754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奖励设计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21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项奖励压缩成 </a:t>
            </a: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5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组可诊断目标，并通过零和差分对齐对抗任务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Rounded Rectangle 7"/>
          <p:cNvSpPr/>
          <p:nvPr/>
        </p:nvSpPr>
        <p:spPr>
          <a:xfrm>
            <a:off x="87768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8"/>
          <p:cNvSpPr/>
          <p:nvPr/>
        </p:nvSpPr>
        <p:spPr>
          <a:xfrm>
            <a:off x="104256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farm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9"/>
          <p:cNvSpPr/>
          <p:nvPr/>
        </p:nvSpPr>
        <p:spPr>
          <a:xfrm>
            <a:off x="104256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经济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10"/>
          <p:cNvSpPr/>
          <p:nvPr/>
        </p:nvSpPr>
        <p:spPr>
          <a:xfrm>
            <a:off x="303588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11"/>
          <p:cNvSpPr/>
          <p:nvPr/>
        </p:nvSpPr>
        <p:spPr>
          <a:xfrm>
            <a:off x="320040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kda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2"/>
          <p:cNvSpPr/>
          <p:nvPr/>
        </p:nvSpPr>
        <p:spPr>
          <a:xfrm>
            <a:off x="320040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战斗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13"/>
          <p:cNvSpPr/>
          <p:nvPr/>
        </p:nvSpPr>
        <p:spPr>
          <a:xfrm>
            <a:off x="519372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14"/>
          <p:cNvSpPr/>
          <p:nvPr/>
        </p:nvSpPr>
        <p:spPr>
          <a:xfrm>
            <a:off x="535824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damage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5"/>
          <p:cNvSpPr/>
          <p:nvPr/>
        </p:nvSpPr>
        <p:spPr>
          <a:xfrm>
            <a:off x="535824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伤害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16"/>
          <p:cNvSpPr/>
          <p:nvPr/>
        </p:nvSpPr>
        <p:spPr>
          <a:xfrm>
            <a:off x="735192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7"/>
          <p:cNvSpPr/>
          <p:nvPr/>
        </p:nvSpPr>
        <p:spPr>
          <a:xfrm>
            <a:off x="751644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push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8"/>
          <p:cNvSpPr/>
          <p:nvPr/>
        </p:nvSpPr>
        <p:spPr>
          <a:xfrm>
            <a:off x="751644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推进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19"/>
          <p:cNvSpPr/>
          <p:nvPr/>
        </p:nvSpPr>
        <p:spPr>
          <a:xfrm>
            <a:off x="950976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20"/>
          <p:cNvSpPr/>
          <p:nvPr/>
        </p:nvSpPr>
        <p:spPr>
          <a:xfrm>
            <a:off x="967428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state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1"/>
          <p:cNvSpPr/>
          <p:nvPr/>
        </p:nvSpPr>
        <p:spPr>
          <a:xfrm>
            <a:off x="967428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状态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22"/>
          <p:cNvSpPr/>
          <p:nvPr/>
        </p:nvSpPr>
        <p:spPr>
          <a:xfrm>
            <a:off x="1120371" y="3236940"/>
            <a:ext cx="4845960" cy="12798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3"/>
          <p:cNvSpPr/>
          <p:nvPr/>
        </p:nvSpPr>
        <p:spPr>
          <a:xfrm>
            <a:off x="1385640" y="3751085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零和机制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4"/>
          <p:cNvSpPr/>
          <p:nvPr/>
        </p:nvSpPr>
        <p:spPr>
          <a:xfrm>
            <a:off x="2391480" y="3642697"/>
            <a:ext cx="324576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我方得分 </a:t>
            </a:r>
            <a:r>
              <a:rPr lang="en-US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- </a:t>
            </a: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敌方得分 </a:t>
            </a:r>
            <a:r>
              <a:rPr lang="en-US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= </a:t>
            </a: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最终奖励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一阶差分作为本帧奖励增量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25"/>
          <p:cNvSpPr/>
          <p:nvPr/>
        </p:nvSpPr>
        <p:spPr>
          <a:xfrm>
            <a:off x="6373389" y="3209760"/>
            <a:ext cx="4525920" cy="12798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26"/>
          <p:cNvSpPr/>
          <p:nvPr/>
        </p:nvSpPr>
        <p:spPr>
          <a:xfrm>
            <a:off x="6615720" y="377640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关键权重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27"/>
          <p:cNvSpPr/>
          <p:nvPr/>
        </p:nvSpPr>
        <p:spPr>
          <a:xfrm>
            <a:off x="7543800" y="3456360"/>
            <a:ext cx="150840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8"/>
          <p:cNvSpPr/>
          <p:nvPr/>
        </p:nvSpPr>
        <p:spPr>
          <a:xfrm>
            <a:off x="7598520" y="3488400"/>
            <a:ext cx="13986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 err="1">
                <a:solidFill>
                  <a:srgbClr val="C6FF4E"/>
                </a:solidFill>
                <a:effectLst/>
                <a:uFillTx/>
                <a:latin typeface="微软雅黑"/>
              </a:rPr>
              <a:t>tower_hp_point</a:t>
            </a:r>
            <a:r>
              <a:rPr lang="en-US" sz="88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 5.0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29"/>
          <p:cNvSpPr/>
          <p:nvPr/>
        </p:nvSpPr>
        <p:spPr>
          <a:xfrm>
            <a:off x="9189720" y="3456360"/>
            <a:ext cx="100548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30"/>
          <p:cNvSpPr/>
          <p:nvPr/>
        </p:nvSpPr>
        <p:spPr>
          <a:xfrm>
            <a:off x="9244440" y="3488400"/>
            <a:ext cx="89568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 err="1">
                <a:solidFill>
                  <a:srgbClr val="00E5FF"/>
                </a:solidFill>
                <a:effectLst/>
                <a:uFillTx/>
                <a:latin typeface="微软雅黑"/>
              </a:rPr>
              <a:t>win_loss</a:t>
            </a:r>
            <a:r>
              <a:rPr lang="en-US" sz="88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 2.0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31"/>
          <p:cNvSpPr/>
          <p:nvPr/>
        </p:nvSpPr>
        <p:spPr>
          <a:xfrm>
            <a:off x="7598520" y="3900800"/>
            <a:ext cx="114264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32"/>
          <p:cNvSpPr/>
          <p:nvPr/>
        </p:nvSpPr>
        <p:spPr>
          <a:xfrm>
            <a:off x="7598520" y="3945600"/>
            <a:ext cx="1032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 err="1">
                <a:solidFill>
                  <a:srgbClr val="7C5CFF"/>
                </a:solidFill>
                <a:effectLst/>
                <a:uFillTx/>
                <a:latin typeface="微软雅黑"/>
              </a:rPr>
              <a:t>hp_point</a:t>
            </a:r>
            <a:r>
              <a:rPr lang="en-US" sz="880" b="1" u="none" strike="noStrike" dirty="0">
                <a:solidFill>
                  <a:srgbClr val="7C5CFF"/>
                </a:solidFill>
                <a:effectLst/>
                <a:uFillTx/>
                <a:latin typeface="微软雅黑"/>
              </a:rPr>
              <a:t> 2.0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33"/>
          <p:cNvSpPr/>
          <p:nvPr/>
        </p:nvSpPr>
        <p:spPr>
          <a:xfrm>
            <a:off x="9244440" y="3894731"/>
            <a:ext cx="100548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34"/>
          <p:cNvSpPr/>
          <p:nvPr/>
        </p:nvSpPr>
        <p:spPr>
          <a:xfrm>
            <a:off x="9221940" y="3945600"/>
            <a:ext cx="89568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>
                <a:solidFill>
                  <a:srgbClr val="FFBE4A"/>
                </a:solidFill>
                <a:effectLst/>
                <a:uFillTx/>
                <a:latin typeface="微软雅黑"/>
              </a:rPr>
              <a:t>death -1.2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35"/>
          <p:cNvSpPr/>
          <p:nvPr/>
        </p:nvSpPr>
        <p:spPr>
          <a:xfrm>
            <a:off x="1234440" y="5193720"/>
            <a:ext cx="9692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推进目标成为最强信号，战斗与状态奖励服务于推塔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系统工程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训练工程把模型迭代、对手采样、监控和恢复做成稳定流水线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Rounded Rectangle 7"/>
          <p:cNvSpPr/>
          <p:nvPr/>
        </p:nvSpPr>
        <p:spPr>
          <a:xfrm>
            <a:off x="777240" y="1828800"/>
            <a:ext cx="2331360" cy="11872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8"/>
          <p:cNvSpPr/>
          <p:nvPr/>
        </p:nvSpPr>
        <p:spPr>
          <a:xfrm>
            <a:off x="94176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对手池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9"/>
          <p:cNvSpPr/>
          <p:nvPr/>
        </p:nvSpPr>
        <p:spPr>
          <a:xfrm>
            <a:off x="94176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85% selfplay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15% common_ai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30%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历史模型采样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2" name="Connector 10"/>
          <p:cNvCxnSpPr/>
          <p:nvPr/>
        </p:nvCxnSpPr>
        <p:spPr>
          <a:xfrm>
            <a:off x="3108960" y="2633400"/>
            <a:ext cx="457560" cy="36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sp>
        <p:nvSpPr>
          <p:cNvPr id="313" name="Rounded Rectangle 11"/>
          <p:cNvSpPr/>
          <p:nvPr/>
        </p:nvSpPr>
        <p:spPr>
          <a:xfrm>
            <a:off x="3566160" y="1828800"/>
            <a:ext cx="2331360" cy="12704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2"/>
          <p:cNvSpPr/>
          <p:nvPr/>
        </p:nvSpPr>
        <p:spPr>
          <a:xfrm>
            <a:off x="373068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训练循环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3"/>
          <p:cNvSpPr/>
          <p:nvPr/>
        </p:nvSpPr>
        <p:spPr>
          <a:xfrm>
            <a:off x="373068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PPO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更新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多头价值诊断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合法动作比例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6" name="Connector 14"/>
          <p:cNvCxnSpPr/>
          <p:nvPr/>
        </p:nvCxnSpPr>
        <p:spPr>
          <a:xfrm>
            <a:off x="5897520" y="2633400"/>
            <a:ext cx="457560" cy="36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sp>
        <p:nvSpPr>
          <p:cNvPr id="317" name="Rounded Rectangle 15"/>
          <p:cNvSpPr/>
          <p:nvPr/>
        </p:nvSpPr>
        <p:spPr>
          <a:xfrm>
            <a:off x="6355080" y="1828800"/>
            <a:ext cx="2331360" cy="12693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16"/>
          <p:cNvSpPr/>
          <p:nvPr/>
        </p:nvSpPr>
        <p:spPr>
          <a:xfrm>
            <a:off x="651960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60s </a:t>
            </a:r>
            <a:r>
              <a:rPr lang="zh-CN" sz="140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监控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7"/>
          <p:cNvSpPr/>
          <p:nvPr/>
        </p:nvSpPr>
        <p:spPr>
          <a:xfrm>
            <a:off x="651960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value_loss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KL / gradient_norm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var_beta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Connector 18"/>
          <p:cNvCxnSpPr/>
          <p:nvPr/>
        </p:nvCxnSpPr>
        <p:spPr>
          <a:xfrm>
            <a:off x="8686800" y="2633400"/>
            <a:ext cx="457560" cy="360"/>
          </a:xfrm>
          <a:prstGeom prst="straightConnector1">
            <a:avLst/>
          </a:prstGeom>
          <a:ln w="17780">
            <a:solidFill>
              <a:srgbClr val="C6FF4E"/>
            </a:solidFill>
            <a:round/>
          </a:ln>
        </p:spPr>
      </p:cxnSp>
      <p:sp>
        <p:nvSpPr>
          <p:cNvPr id="321" name="Rounded Rectangle 19"/>
          <p:cNvSpPr/>
          <p:nvPr/>
        </p:nvSpPr>
        <p:spPr>
          <a:xfrm>
            <a:off x="9144000" y="1828800"/>
            <a:ext cx="2331360" cy="12679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20"/>
          <p:cNvSpPr/>
          <p:nvPr/>
        </p:nvSpPr>
        <p:spPr>
          <a:xfrm>
            <a:off x="930852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断点恢复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21"/>
          <p:cNvSpPr/>
          <p:nvPr/>
        </p:nvSpPr>
        <p:spPr>
          <a:xfrm>
            <a:off x="930852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Disaster Recovery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崩溃续接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退火进度安全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22"/>
          <p:cNvSpPr/>
          <p:nvPr/>
        </p:nvSpPr>
        <p:spPr>
          <a:xfrm>
            <a:off x="1234440" y="4526280"/>
            <a:ext cx="9673920" cy="822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3"/>
          <p:cNvSpPr/>
          <p:nvPr/>
        </p:nvSpPr>
        <p:spPr>
          <a:xfrm>
            <a:off x="1499760" y="479160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核心亮点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4"/>
          <p:cNvSpPr/>
          <p:nvPr/>
        </p:nvSpPr>
        <p:spPr>
          <a:xfrm>
            <a:off x="2491078" y="476874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多任务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Value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头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友敌独立编码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双重位置编码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零和奖励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Resume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安全退火。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网络架构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网络创新的核心，是把“对谁、在哪里、打谁”写进结构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ounded Rectangle 7"/>
          <p:cNvSpPr/>
          <p:nvPr/>
        </p:nvSpPr>
        <p:spPr>
          <a:xfrm>
            <a:off x="817080" y="2417400"/>
            <a:ext cx="3309840" cy="2148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4F81BD"/>
            </a:solidFill>
            <a:round/>
          </a:ln>
        </p:spPr>
        <p:style>
          <a:lnRef idx="3">
            <a:schemeClr val="accent1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8"/>
          <p:cNvSpPr/>
          <p:nvPr/>
        </p:nvSpPr>
        <p:spPr>
          <a:xfrm>
            <a:off x="1116000" y="2881091"/>
            <a:ext cx="2980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友敌独立 </a:t>
            </a:r>
            <a:r>
              <a:rPr lang="en-US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FC </a:t>
            </a: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9"/>
          <p:cNvSpPr/>
          <p:nvPr/>
        </p:nvSpPr>
        <p:spPr>
          <a:xfrm>
            <a:off x="1116000" y="3452888"/>
            <a:ext cx="2980440" cy="73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友方低血量意味着撤退，敌方低血量意味着追击；语义对称但行为相反，共享参数会互相干扰。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ounded Rectangle 10"/>
          <p:cNvSpPr/>
          <p:nvPr/>
        </p:nvSpPr>
        <p:spPr>
          <a:xfrm>
            <a:off x="4441080" y="2417400"/>
            <a:ext cx="3309840" cy="2148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4F81BD"/>
            </a:solidFill>
            <a:round/>
          </a:ln>
        </p:spPr>
        <p:style>
          <a:lnRef idx="3">
            <a:schemeClr val="accent1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1"/>
          <p:cNvSpPr/>
          <p:nvPr/>
        </p:nvSpPr>
        <p:spPr>
          <a:xfrm>
            <a:off x="4699627" y="2877740"/>
            <a:ext cx="2980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双重位置编码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2"/>
          <p:cNvSpPr/>
          <p:nvPr/>
        </p:nvSpPr>
        <p:spPr>
          <a:xfrm>
            <a:off x="4699627" y="3459703"/>
            <a:ext cx="2980440" cy="73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相对位置学习对位关系，全局位置学习地图控制；两套语义互补，避免单一编码偏置。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ounded Rectangle 13"/>
          <p:cNvSpPr/>
          <p:nvPr/>
        </p:nvSpPr>
        <p:spPr>
          <a:xfrm>
            <a:off x="8166960" y="2417400"/>
            <a:ext cx="3309840" cy="2148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4F81BD"/>
            </a:solidFill>
            <a:round/>
          </a:ln>
        </p:spPr>
        <p:style>
          <a:lnRef idx="3">
            <a:schemeClr val="accent1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14"/>
          <p:cNvSpPr/>
          <p:nvPr/>
        </p:nvSpPr>
        <p:spPr>
          <a:xfrm>
            <a:off x="8394480" y="2876606"/>
            <a:ext cx="2980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动态 </a:t>
            </a:r>
            <a:r>
              <a:rPr lang="en-US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Target Bias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15"/>
          <p:cNvSpPr/>
          <p:nvPr/>
        </p:nvSpPr>
        <p:spPr>
          <a:xfrm>
            <a:off x="8348040" y="3459703"/>
            <a:ext cx="2980440" cy="73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在 </a:t>
            </a:r>
            <a:r>
              <a:rPr lang="en-US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logits </a:t>
            </a: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中加入“血量低 </a:t>
            </a:r>
            <a:r>
              <a:rPr lang="en-US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+ </a:t>
            </a: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距离近”先验偏置，冷启动阶段更容易探索有效攻击对象。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PPO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核心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5"/>
          <p:cNvSpPr/>
          <p:nvPr/>
        </p:nvSpPr>
        <p:spPr>
          <a:xfrm>
            <a:off x="576000" y="713160"/>
            <a:ext cx="901656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让 </a:t>
            </a:r>
            <a:r>
              <a:rPr lang="en-US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PPO </a:t>
            </a: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在多目标对抗中稳定更新，而不是被单一奖励或异常梯度带偏。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14"/>
          <p:cNvSpPr/>
          <p:nvPr/>
        </p:nvSpPr>
        <p:spPr>
          <a:xfrm>
            <a:off x="9044280" y="1984320"/>
            <a:ext cx="147024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endParaRPr lang="en-US" sz="1360" b="1" u="none" strike="noStrike">
              <a:solidFill>
                <a:srgbClr val="C6FF4E"/>
              </a:solidFill>
              <a:effectLst/>
              <a:uFillTx/>
              <a:latin typeface="微软雅黑"/>
            </a:endParaRPr>
          </a:p>
        </p:txBody>
      </p:sp>
      <p:sp>
        <p:nvSpPr>
          <p:cNvPr id="349" name="TextBox 15"/>
          <p:cNvSpPr/>
          <p:nvPr/>
        </p:nvSpPr>
        <p:spPr>
          <a:xfrm>
            <a:off x="8321040" y="2418120"/>
            <a:ext cx="291672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endParaRPr lang="en-US" sz="1400" b="0" u="none" strike="noStrike">
              <a:solidFill>
                <a:srgbClr val="F5FAFF"/>
              </a:solidFill>
              <a:effectLst/>
              <a:uFillTx/>
              <a:latin typeface="方正粗黑宋简体"/>
            </a:endParaRPr>
          </a:p>
        </p:txBody>
      </p:sp>
      <p:pic>
        <p:nvPicPr>
          <p:cNvPr id="350" name="图片 23" descr="ppo_core_vertical_02_resume_entropy_anneal"/>
          <p:cNvPicPr/>
          <p:nvPr/>
        </p:nvPicPr>
        <p:blipFill>
          <a:blip r:embed="rId4"/>
          <a:stretch/>
        </p:blipFill>
        <p:spPr>
          <a:xfrm>
            <a:off x="1954440" y="1171440"/>
            <a:ext cx="3098520" cy="482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图片 24" descr="ppo_core_vertical_03_multitask_advantage"/>
          <p:cNvPicPr/>
          <p:nvPr/>
        </p:nvPicPr>
        <p:blipFill>
          <a:blip r:embed="rId5"/>
          <a:stretch/>
        </p:blipFill>
        <p:spPr>
          <a:xfrm>
            <a:off x="6714360" y="1139760"/>
            <a:ext cx="3118680" cy="4852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特征工程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特征创新用“双通道”保留阶段语义和连续细节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8" name="图片 7" descr="feature_code_vertical_01_dual_numeric_encoding"/>
          <p:cNvPicPr/>
          <p:nvPr/>
        </p:nvPicPr>
        <p:blipFill>
          <a:blip r:embed="rId4"/>
          <a:stretch/>
        </p:blipFill>
        <p:spPr>
          <a:xfrm>
            <a:off x="490680" y="1029240"/>
            <a:ext cx="3637440" cy="565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图片 8" descr="feature_code_vertical_02_money_delta"/>
          <p:cNvPicPr/>
          <p:nvPr/>
        </p:nvPicPr>
        <p:blipFill>
          <a:blip r:embed="rId5"/>
          <a:stretch/>
        </p:blipFill>
        <p:spPr>
          <a:xfrm>
            <a:off x="4328640" y="1020600"/>
            <a:ext cx="3647880" cy="567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图片 9" descr="feature_code_vertical_03_refresh_timer"/>
          <p:cNvPicPr/>
          <p:nvPr/>
        </p:nvPicPr>
        <p:blipFill>
          <a:blip r:embed="rId6"/>
          <a:stretch/>
        </p:blipFill>
        <p:spPr>
          <a:xfrm>
            <a:off x="8177040" y="1018440"/>
            <a:ext cx="3654720" cy="5686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奖励设计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奖励创新把稀疏胜负拆成可学习、可诊断、可反摆烂的信号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67" name="组合 18"/>
          <p:cNvGrpSpPr/>
          <p:nvPr/>
        </p:nvGrpSpPr>
        <p:grpSpPr>
          <a:xfrm>
            <a:off x="612720" y="1296000"/>
            <a:ext cx="3128400" cy="1573200"/>
            <a:chOff x="612720" y="1296000"/>
            <a:chExt cx="3128400" cy="1573200"/>
          </a:xfrm>
        </p:grpSpPr>
        <p:sp>
          <p:nvSpPr>
            <p:cNvPr id="368" name="Rounded Rectangle 7"/>
            <p:cNvSpPr/>
            <p:nvPr/>
          </p:nvSpPr>
          <p:spPr>
            <a:xfrm>
              <a:off x="612720" y="1296000"/>
              <a:ext cx="3128400" cy="157320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4F81BD"/>
              </a:solidFill>
              <a:round/>
            </a:ln>
          </p:spPr>
          <p:style>
            <a:lnRef idx="3">
              <a:schemeClr val="accent1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69" name="TextBox 8"/>
            <p:cNvSpPr/>
            <p:nvPr/>
          </p:nvSpPr>
          <p:spPr>
            <a:xfrm>
              <a:off x="1433520" y="1583280"/>
              <a:ext cx="1701000" cy="21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多任务分组奖励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TextBox 9"/>
            <p:cNvSpPr/>
            <p:nvPr/>
          </p:nvSpPr>
          <p:spPr>
            <a:xfrm>
              <a:off x="771120" y="1937520"/>
              <a:ext cx="2811240" cy="43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21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项原始奖励归为 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5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组，对应 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5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个独立 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Value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头，可定位能力短板。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1" name="组合 20"/>
          <p:cNvGrpSpPr/>
          <p:nvPr/>
        </p:nvGrpSpPr>
        <p:grpSpPr>
          <a:xfrm>
            <a:off x="612720" y="3121560"/>
            <a:ext cx="3080160" cy="1533240"/>
            <a:chOff x="612720" y="3121560"/>
            <a:chExt cx="3080160" cy="1533240"/>
          </a:xfrm>
        </p:grpSpPr>
        <p:sp>
          <p:nvSpPr>
            <p:cNvPr id="372" name="Rounded Rectangle 10"/>
            <p:cNvSpPr/>
            <p:nvPr/>
          </p:nvSpPr>
          <p:spPr>
            <a:xfrm>
              <a:off x="612720" y="3121560"/>
              <a:ext cx="3080160" cy="15332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4F81BD"/>
              </a:solidFill>
              <a:round/>
            </a:ln>
          </p:spPr>
          <p:style>
            <a:lnRef idx="3">
              <a:schemeClr val="accent1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73" name="TextBox 11"/>
            <p:cNvSpPr/>
            <p:nvPr/>
          </p:nvSpPr>
          <p:spPr>
            <a:xfrm>
              <a:off x="1474920" y="3401640"/>
              <a:ext cx="1424880" cy="21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零和 </a:t>
              </a:r>
              <a:r>
                <a:rPr lang="en-US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+ </a:t>
              </a: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一阶差分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TextBox 12"/>
            <p:cNvSpPr/>
            <p:nvPr/>
          </p:nvSpPr>
          <p:spPr>
            <a:xfrm>
              <a:off x="803880" y="3746520"/>
              <a:ext cx="2768040" cy="43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用“我方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-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敌方”消除绝对值膨胀，只奖励状态变化，不奖励静态占位。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5" name="组合 21"/>
          <p:cNvGrpSpPr/>
          <p:nvPr/>
        </p:nvGrpSpPr>
        <p:grpSpPr>
          <a:xfrm>
            <a:off x="612720" y="4907160"/>
            <a:ext cx="3043080" cy="1602360"/>
            <a:chOff x="612720" y="4907160"/>
            <a:chExt cx="3043080" cy="1602360"/>
          </a:xfrm>
        </p:grpSpPr>
        <p:sp>
          <p:nvSpPr>
            <p:cNvPr id="376" name="Rounded Rectangle 13"/>
            <p:cNvSpPr/>
            <p:nvPr/>
          </p:nvSpPr>
          <p:spPr>
            <a:xfrm>
              <a:off x="612720" y="4907160"/>
              <a:ext cx="3043080" cy="160236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4F81BD"/>
              </a:solidFill>
              <a:round/>
            </a:ln>
          </p:spPr>
          <p:style>
            <a:lnRef idx="3">
              <a:schemeClr val="accent1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77" name="TextBox 14"/>
            <p:cNvSpPr/>
            <p:nvPr/>
          </p:nvSpPr>
          <p:spPr>
            <a:xfrm>
              <a:off x="1621800" y="5199840"/>
              <a:ext cx="1720440" cy="21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防摆烂惩罚项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TextBox 15"/>
            <p:cNvSpPr/>
            <p:nvPr/>
          </p:nvSpPr>
          <p:spPr>
            <a:xfrm>
              <a:off x="835920" y="5528520"/>
              <a:ext cx="273492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base_idle / grass_idle / tower_edge_idle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直接惩罚挂机与局部最优。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9" name="Rounded Rectangle 16"/>
          <p:cNvSpPr/>
          <p:nvPr/>
        </p:nvSpPr>
        <p:spPr>
          <a:xfrm>
            <a:off x="4893840" y="5674320"/>
            <a:ext cx="5708880" cy="4993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17"/>
          <p:cNvSpPr/>
          <p:nvPr/>
        </p:nvSpPr>
        <p:spPr>
          <a:xfrm>
            <a:off x="3656160" y="5809680"/>
            <a:ext cx="8640720" cy="20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2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结果：奖励函数不只是“给分”，而是在引导智能体形成推进节奏。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图片 22"/>
          <p:cNvPicPr/>
          <p:nvPr/>
        </p:nvPicPr>
        <p:blipFill>
          <a:blip r:embed="rId4"/>
          <a:stretch/>
        </p:blipFill>
        <p:spPr>
          <a:xfrm>
            <a:off x="8672040" y="2040840"/>
            <a:ext cx="3241800" cy="269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2" name="图片 19" descr="HOK_2026-06-04_10-09-34_540"/>
          <p:cNvPicPr/>
          <p:nvPr/>
        </p:nvPicPr>
        <p:blipFill>
          <a:blip r:embed="rId5"/>
          <a:stretch/>
        </p:blipFill>
        <p:spPr>
          <a:xfrm>
            <a:off x="4096440" y="2040840"/>
            <a:ext cx="3378960" cy="26748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83" name="直接箭头连接符 23"/>
          <p:cNvCxnSpPr/>
          <p:nvPr/>
        </p:nvCxnSpPr>
        <p:spPr>
          <a:xfrm>
            <a:off x="7597080" y="3213720"/>
            <a:ext cx="954720" cy="36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5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系统工程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系统工程创新让训练过程抗遗忘、可恢复、可观测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ounded Rectangle 7"/>
          <p:cNvSpPr/>
          <p:nvPr/>
        </p:nvSpPr>
        <p:spPr>
          <a:xfrm>
            <a:off x="960120" y="1600200"/>
            <a:ext cx="3291480" cy="15724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8"/>
          <p:cNvSpPr/>
          <p:nvPr/>
        </p:nvSpPr>
        <p:spPr>
          <a:xfrm>
            <a:off x="1124640" y="1737360"/>
            <a:ext cx="2962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FF"/>
                </a:solidFill>
                <a:effectLst/>
                <a:uFillTx/>
                <a:latin typeface="方正粗黑宋简体"/>
                <a:ea typeface="方正粗黑宋简体"/>
              </a:rPr>
              <a:t>Selfplay + </a:t>
            </a: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方正粗黑宋简体"/>
                <a:ea typeface="方正粗黑宋简体"/>
              </a:rPr>
              <a:t>历史采样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9"/>
          <p:cNvSpPr/>
          <p:nvPr/>
        </p:nvSpPr>
        <p:spPr>
          <a:xfrm>
            <a:off x="1124640" y="2075760"/>
            <a:ext cx="2962440" cy="86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85%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最新模型 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+ 15% common_ai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，且 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30%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概率采样历史模型，缓解策略遗忘。评估时选用模型池中的模型，不只以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comman_ai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作为评估对象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10"/>
          <p:cNvSpPr/>
          <p:nvPr/>
        </p:nvSpPr>
        <p:spPr>
          <a:xfrm>
            <a:off x="4434840" y="1600200"/>
            <a:ext cx="3291480" cy="15724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11"/>
          <p:cNvSpPr/>
          <p:nvPr/>
        </p:nvSpPr>
        <p:spPr>
          <a:xfrm>
            <a:off x="4599360" y="1737360"/>
            <a:ext cx="2962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7C5CFF"/>
                </a:solidFill>
                <a:effectLst/>
                <a:uFillTx/>
                <a:latin typeface="方正粗黑宋简体"/>
                <a:ea typeface="方正粗黑宋简体"/>
              </a:rPr>
              <a:t>断点续训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12"/>
          <p:cNvSpPr/>
          <p:nvPr/>
        </p:nvSpPr>
        <p:spPr>
          <a:xfrm>
            <a:off x="4599360" y="2075760"/>
            <a:ext cx="296244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Disaster Recovery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自动处理崩溃；恢复后接续训练状态和退火进度。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ounded Rectangle 13"/>
          <p:cNvSpPr/>
          <p:nvPr/>
        </p:nvSpPr>
        <p:spPr>
          <a:xfrm>
            <a:off x="7909560" y="1600200"/>
            <a:ext cx="3291480" cy="15724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14"/>
          <p:cNvSpPr/>
          <p:nvPr/>
        </p:nvSpPr>
        <p:spPr>
          <a:xfrm>
            <a:off x="8074080" y="1737360"/>
            <a:ext cx="2962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C6FF4E"/>
                </a:solidFill>
                <a:effectLst/>
                <a:uFillTx/>
                <a:latin typeface="方正粗黑宋简体"/>
                <a:ea typeface="方正粗黑宋简体"/>
              </a:rPr>
              <a:t>全程监控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5"/>
          <p:cNvSpPr/>
          <p:nvPr/>
        </p:nvSpPr>
        <p:spPr>
          <a:xfrm>
            <a:off x="8074080" y="2075760"/>
            <a:ext cx="296244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60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秒上报梯度、退火、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KL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、合法动作比例，支持训练健康度判断。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16"/>
          <p:cNvSpPr/>
          <p:nvPr/>
        </p:nvSpPr>
        <p:spPr>
          <a:xfrm>
            <a:off x="1821240" y="5883840"/>
            <a:ext cx="8549280" cy="6462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17"/>
          <p:cNvSpPr/>
          <p:nvPr/>
        </p:nvSpPr>
        <p:spPr>
          <a:xfrm>
            <a:off x="2322720" y="6106680"/>
            <a:ext cx="95976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1" u="none" strike="noStrike">
                <a:solidFill>
                  <a:srgbClr val="FFBE4A"/>
                </a:solidFill>
                <a:effectLst/>
                <a:uFillTx/>
                <a:latin typeface="方正粗黑宋简体"/>
                <a:ea typeface="方正粗黑宋简体"/>
              </a:rPr>
              <a:t>工程价值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8"/>
          <p:cNvSpPr/>
          <p:nvPr/>
        </p:nvSpPr>
        <p:spPr>
          <a:xfrm>
            <a:off x="3283200" y="6106680"/>
            <a:ext cx="6949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在算力有限的赛题中，稳定续训和可诊断比单次训练峰值更重要。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图片 20" descr="训练监控 - 腾讯开悟比赛平台 和另外 9 个页面 - 个人 - Microsoft​ Edge 2026_6_4 10_57_44"/>
          <p:cNvPicPr/>
          <p:nvPr/>
        </p:nvPicPr>
        <p:blipFill>
          <a:blip r:embed="rId4"/>
          <a:stretch/>
        </p:blipFill>
        <p:spPr>
          <a:xfrm>
            <a:off x="6033600" y="3723120"/>
            <a:ext cx="2869200" cy="199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3" name="直接箭头连接符 21"/>
          <p:cNvCxnSpPr/>
          <p:nvPr/>
        </p:nvCxnSpPr>
        <p:spPr>
          <a:xfrm flipH="1">
            <a:off x="7562160" y="3283560"/>
            <a:ext cx="1616400" cy="32400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  <p:pic>
        <p:nvPicPr>
          <p:cNvPr id="404" name="图片 24" descr="训练监控 - 腾讯开悟比赛平台 和另外 9 个页面 - 个人 - Microsoft​ Edge 2026_6_4 11_01_03"/>
          <p:cNvPicPr/>
          <p:nvPr/>
        </p:nvPicPr>
        <p:blipFill>
          <a:blip r:embed="rId5"/>
          <a:stretch/>
        </p:blipFill>
        <p:spPr>
          <a:xfrm>
            <a:off x="1273320" y="3687480"/>
            <a:ext cx="2665440" cy="19789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5" name="直接箭头连接符 25"/>
          <p:cNvCxnSpPr/>
          <p:nvPr/>
        </p:nvCxnSpPr>
        <p:spPr>
          <a:xfrm>
            <a:off x="2534040" y="3283560"/>
            <a:ext cx="360" cy="31896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  <p:pic>
        <p:nvPicPr>
          <p:cNvPr id="406" name="图片 26" descr="训练监控 - 腾讯开悟比赛平台 和另外 9 个页面 - 个人 - Microsoft​ Edge 2026_6_4 11_05_03"/>
          <p:cNvPicPr/>
          <p:nvPr/>
        </p:nvPicPr>
        <p:blipFill>
          <a:blip r:embed="rId6"/>
          <a:stretch/>
        </p:blipFill>
        <p:spPr>
          <a:xfrm>
            <a:off x="9353520" y="3723120"/>
            <a:ext cx="2790000" cy="1993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7" name="直接箭头连接符 27"/>
          <p:cNvCxnSpPr/>
          <p:nvPr/>
        </p:nvCxnSpPr>
        <p:spPr>
          <a:xfrm>
            <a:off x="9695520" y="3288600"/>
            <a:ext cx="1506240" cy="31896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未来展望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算法优化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后续算法优化优先提升探索效率、对手采样质量与价值尺度稳定性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Rounded Rectangle 7"/>
          <p:cNvSpPr/>
          <p:nvPr/>
        </p:nvSpPr>
        <p:spPr>
          <a:xfrm>
            <a:off x="841612" y="2664142"/>
            <a:ext cx="3245760" cy="223992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8"/>
          <p:cNvSpPr/>
          <p:nvPr/>
        </p:nvSpPr>
        <p:spPr>
          <a:xfrm>
            <a:off x="1046263" y="3257498"/>
            <a:ext cx="291672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1.1 RND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9"/>
          <p:cNvSpPr/>
          <p:nvPr/>
        </p:nvSpPr>
        <p:spPr>
          <a:xfrm>
            <a:off x="1046263" y="3826442"/>
            <a:ext cx="2916720" cy="332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内在好奇心为稀疏奖励补探索信号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算力：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+30%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，速度约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-25%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，样本效率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2-3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倍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10"/>
          <p:cNvSpPr/>
          <p:nvPr/>
        </p:nvSpPr>
        <p:spPr>
          <a:xfrm>
            <a:off x="4604220" y="2664142"/>
            <a:ext cx="3245760" cy="22399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11"/>
          <p:cNvSpPr/>
          <p:nvPr/>
        </p:nvSpPr>
        <p:spPr>
          <a:xfrm>
            <a:off x="4873680" y="3270561"/>
            <a:ext cx="291672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1.2 PSP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12"/>
          <p:cNvSpPr/>
          <p:nvPr/>
        </p:nvSpPr>
        <p:spPr>
          <a:xfrm>
            <a:off x="4873680" y="3843568"/>
            <a:ext cx="2916720" cy="332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按历史胜率优先采样“打不过的”模型。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算力：几乎无变化；策略提升更稳定。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20" name="Rounded Rectangle 13"/>
          <p:cNvSpPr/>
          <p:nvPr/>
        </p:nvSpPr>
        <p:spPr>
          <a:xfrm>
            <a:off x="8302680" y="2664142"/>
            <a:ext cx="3245760" cy="22399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14"/>
          <p:cNvSpPr/>
          <p:nvPr/>
        </p:nvSpPr>
        <p:spPr>
          <a:xfrm>
            <a:off x="8544343" y="3321098"/>
            <a:ext cx="291672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1.3 Value Norm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15"/>
          <p:cNvSpPr/>
          <p:nvPr/>
        </p:nvSpPr>
        <p:spPr>
          <a:xfrm>
            <a:off x="8544343" y="3826442"/>
            <a:ext cx="2916720" cy="332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对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5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个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Value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头做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Running Mean/Std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归一化。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算力：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+5%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；显著提升训练稳定性。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7"/>
          <p:cNvSpPr/>
          <p:nvPr/>
        </p:nvSpPr>
        <p:spPr>
          <a:xfrm>
            <a:off x="2395800" y="4928760"/>
            <a:ext cx="738792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5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未来展望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工程优化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工程侧优先减少冗余计算，把有限算力换成更高吞吐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Rounded Rectangle 7"/>
          <p:cNvSpPr/>
          <p:nvPr/>
        </p:nvSpPr>
        <p:spPr>
          <a:xfrm>
            <a:off x="868680" y="1508760"/>
            <a:ext cx="10469520" cy="10512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8"/>
          <p:cNvSpPr/>
          <p:nvPr/>
        </p:nvSpPr>
        <p:spPr>
          <a:xfrm>
            <a:off x="1143000" y="171000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共享编码器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9"/>
          <p:cNvSpPr/>
          <p:nvPr/>
        </p:nvSpPr>
        <p:spPr>
          <a:xfrm>
            <a:off x="2880360" y="172836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5 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类实体先共享底层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Encoder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，再分支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0"/>
          <p:cNvSpPr/>
          <p:nvPr/>
        </p:nvSpPr>
        <p:spPr>
          <a:xfrm>
            <a:off x="7315200" y="172836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参数量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-40%</a:t>
            </a: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，推理速度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1.5×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ounded Rectangle 11"/>
          <p:cNvSpPr/>
          <p:nvPr/>
        </p:nvSpPr>
        <p:spPr>
          <a:xfrm>
            <a:off x="868680" y="2834640"/>
            <a:ext cx="10469520" cy="10512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12"/>
          <p:cNvSpPr/>
          <p:nvPr/>
        </p:nvSpPr>
        <p:spPr>
          <a:xfrm>
            <a:off x="1143000" y="303588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PER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13"/>
          <p:cNvSpPr/>
          <p:nvPr/>
        </p:nvSpPr>
        <p:spPr>
          <a:xfrm>
            <a:off x="2880360" y="305424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按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TD-Error 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优先采样高价值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transition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14"/>
          <p:cNvSpPr/>
          <p:nvPr/>
        </p:nvSpPr>
        <p:spPr>
          <a:xfrm>
            <a:off x="7315200" y="305424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算力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+10%</a:t>
            </a: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，样本效率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+30-50%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ounded Rectangle 15"/>
          <p:cNvSpPr/>
          <p:nvPr/>
        </p:nvSpPr>
        <p:spPr>
          <a:xfrm>
            <a:off x="868680" y="4160520"/>
            <a:ext cx="10469520" cy="10512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16"/>
          <p:cNvSpPr/>
          <p:nvPr/>
        </p:nvSpPr>
        <p:spPr>
          <a:xfrm>
            <a:off x="1143000" y="436176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动态 </a:t>
            </a:r>
            <a:r>
              <a:rPr lang="en-US" sz="15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Batching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17"/>
          <p:cNvSpPr/>
          <p:nvPr/>
        </p:nvSpPr>
        <p:spPr>
          <a:xfrm>
            <a:off x="2880360" y="438012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按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LSTM 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序列长度动态组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batch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8"/>
          <p:cNvSpPr/>
          <p:nvPr/>
        </p:nvSpPr>
        <p:spPr>
          <a:xfrm>
            <a:off x="7315200" y="438012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GPU </a:t>
            </a:r>
            <a:r>
              <a:rPr lang="zh-CN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利用率 </a:t>
            </a:r>
            <a:r>
              <a:rPr lang="en-US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+20%</a:t>
            </a:r>
            <a:r>
              <a:rPr lang="zh-CN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，训练速度 </a:t>
            </a:r>
            <a:r>
              <a:rPr lang="en-US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+30%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50" b="1">
                <a:solidFill>
                  <a:srgbClr val="F5FAFF"/>
                </a:solidFill>
                <a:latin typeface="Microsoft YaHei"/>
              </a:rPr>
              <a:t>对象、位置、价值信号可迁移到多目标决策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0469880" cy="1417320"/>
          </a:xfrm>
          <a:prstGeom prst="roundRect">
            <a:avLst/>
          </a:prstGeom>
          <a:solidFill>
            <a:srgbClr val="061E3A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15568" y="1618488"/>
            <a:ext cx="2057400" cy="1024128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728216"/>
            <a:ext cx="180136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0E5FF"/>
                </a:solidFill>
                <a:latin typeface="Microsoft YaHei"/>
              </a:rPr>
              <a:t>推荐系统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1965960"/>
            <a:ext cx="685800" cy="987552"/>
          </a:xfrm>
          <a:prstGeom prst="roundRect">
            <a:avLst/>
          </a:prstGeom>
          <a:solidFill>
            <a:srgbClr val="10233D"/>
          </a:solidFill>
          <a:ln>
            <a:solidFill>
              <a:srgbClr val="5E7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08176" y="2093976"/>
            <a:ext cx="457200" cy="16459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08176" y="2331720"/>
            <a:ext cx="457200" cy="164592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08176" y="2569464"/>
            <a:ext cx="457200" cy="164592"/>
          </a:xfrm>
          <a:prstGeom prst="roundRect">
            <a:avLst/>
          </a:prstGeom>
          <a:solidFill>
            <a:srgbClr val="65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39" y="2020824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1">
                <a:solidFill>
                  <a:srgbClr val="F5FAFF"/>
                </a:solidFill>
                <a:latin typeface="Microsoft YaHei"/>
              </a:rPr>
              <a:t>多目标排序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39" y="231343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CTR / 停留时长 / 转化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39" y="257860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用户 × 物品 × 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6002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Microsoft YaHei"/>
              </a:rPr>
              <a:t>推荐系统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618488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AFF"/>
                </a:solidFill>
                <a:latin typeface="Microsoft YaHei"/>
              </a:rPr>
              <a:t>排序本质上也是多目标取舍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194767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多价值头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47672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CTR / 停留 / 转化等目标分解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194560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对象编码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194560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用户、物品、上下文分通道建模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2441448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位置编码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441448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时间戳与列表位置共同影响决策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8562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短视频推荐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0848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商品排序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3134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信息流召回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5420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广告排序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456432"/>
            <a:ext cx="10469880" cy="1417320"/>
          </a:xfrm>
          <a:prstGeom prst="roundRect">
            <a:avLst/>
          </a:prstGeom>
          <a:solidFill>
            <a:srgbClr val="061E3A"/>
          </a:solidFill>
          <a:ln w="17780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tyle_crop_waymo_2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657600"/>
            <a:ext cx="2057400" cy="102412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115568" y="4370832"/>
            <a:ext cx="2057400" cy="310896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25295" y="4453128"/>
            <a:ext cx="1837943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F5FAFF"/>
                </a:solidFill>
                <a:latin typeface="Microsoft YaHei"/>
              </a:rPr>
              <a:t>道路参与者与安全约束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5568" y="3657600"/>
            <a:ext cx="2057400" cy="1024128"/>
          </a:xfrm>
          <a:prstGeom prst="rect">
            <a:avLst/>
          </a:prstGeom>
          <a:noFill/>
          <a:ln w="12700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363931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65F0B4"/>
                </a:solidFill>
                <a:latin typeface="Microsoft YaHei"/>
              </a:rPr>
              <a:t>自动驾驶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65760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AFF"/>
                </a:solidFill>
                <a:latin typeface="Microsoft YaHei"/>
              </a:rPr>
              <a:t>从动作合法到安全可执行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3986783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对象通道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986783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自车、他车、行人、道路元素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4233671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双重位置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4233671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相对距离与全局道路坐标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6432" y="4480559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安全约束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4480559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过滤不可执行或高风险动作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8953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5F0B4"/>
                </a:solidFill>
                <a:latin typeface="Microsoft YaHei"/>
              </a:rPr>
              <a:t>城市 NOA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1239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5F0B4"/>
                </a:solidFill>
                <a:latin typeface="Microsoft YaHei"/>
              </a:rPr>
              <a:t>高速 L4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3525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5F0B4"/>
                </a:solidFill>
                <a:latin typeface="Microsoft YaHei"/>
              </a:rPr>
              <a:t>RoboTaxi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5811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5F0B4"/>
                </a:solidFill>
                <a:latin typeface="Microsoft YaHei"/>
              </a:rPr>
              <a:t>仿真评估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833872"/>
            <a:ext cx="8686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50" b="1">
                <a:solidFill>
                  <a:srgbClr val="F5FAFF"/>
                </a:solidFill>
                <a:latin typeface="Microsoft YaHei"/>
              </a:rPr>
              <a:t>风险约束与稳定控制适合复用多目标价值建模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0469880" cy="1417320"/>
          </a:xfrm>
          <a:prstGeom prst="roundRect">
            <a:avLst/>
          </a:prstGeom>
          <a:solidFill>
            <a:srgbClr val="061E3A"/>
          </a:solidFill>
          <a:ln w="1778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yle_crop_trading_20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1618488"/>
            <a:ext cx="2057400" cy="10241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15568" y="2331720"/>
            <a:ext cx="2057400" cy="310896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5" y="2414016"/>
            <a:ext cx="1837943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F5FAFF"/>
                </a:solidFill>
                <a:latin typeface="Microsoft YaHei"/>
              </a:rPr>
              <a:t>收益、风险与回撤并存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568" y="1618488"/>
            <a:ext cx="2057400" cy="1024128"/>
          </a:xfrm>
          <a:prstGeom prst="rect">
            <a:avLst/>
          </a:prstGeom>
          <a:noFill/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002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B84D"/>
                </a:solidFill>
                <a:latin typeface="Microsoft YaHei"/>
              </a:rPr>
              <a:t>量化交易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18488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AFF"/>
                </a:solidFill>
                <a:latin typeface="Microsoft YaHei"/>
              </a:rPr>
              <a:t>面向不同市场状态的策略演化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94767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多目标价值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947672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收益、风险、回撤分项评估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194560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历史采样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194560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用不同市场阶段模拟对手分布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441448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熵退火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441448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前期探索，后期收敛到稳定策略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562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B84D"/>
                </a:solidFill>
                <a:latin typeface="Microsoft YaHei"/>
              </a:rPr>
              <a:t>做市策略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848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B84D"/>
                </a:solidFill>
                <a:latin typeface="Microsoft YaHei"/>
              </a:rPr>
              <a:t>风控执行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134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B84D"/>
                </a:solidFill>
                <a:latin typeface="Microsoft YaHei"/>
              </a:rPr>
              <a:t>资产配置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420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B84D"/>
                </a:solidFill>
                <a:latin typeface="Microsoft YaHei"/>
              </a:rPr>
              <a:t>市场仿真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456432"/>
            <a:ext cx="10469880" cy="1417320"/>
          </a:xfrm>
          <a:prstGeom prst="roundRect">
            <a:avLst/>
          </a:prstGeom>
          <a:solidFill>
            <a:srgbClr val="061E3A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tyle_crop_industry_robot_200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3657600"/>
            <a:ext cx="2057400" cy="102412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115568" y="4370832"/>
            <a:ext cx="2057400" cy="310896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25295" y="4453128"/>
            <a:ext cx="1837943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F5FAFF"/>
                </a:solidFill>
                <a:latin typeface="Microsoft YaHei"/>
              </a:rPr>
              <a:t>设备状态与工艺目标耦合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5568" y="3657600"/>
            <a:ext cx="2057400" cy="102412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63931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Microsoft YaHei"/>
              </a:rPr>
              <a:t>工业控制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65760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AFF"/>
                </a:solidFill>
                <a:latin typeface="Microsoft YaHei"/>
              </a:rPr>
              <a:t>安全边界下的连续优化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6432" y="3986783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数值分桶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986783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温度、压力、流量阶段化表示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4233671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价值分组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233671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能耗、质量、设备寿命分项诊断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4480559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兜底规则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480559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异常状态下优先保证可控与安全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8953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智能电网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1239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化工反应釜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3525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半导体制造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5811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工艺调参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8686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50" b="1">
                <a:solidFill>
                  <a:srgbClr val="F5FAFF"/>
                </a:solidFill>
                <a:latin typeface="Microsoft YaHei"/>
              </a:rPr>
              <a:t>合法动作与多目标价值对齐是机器人和 RLHF 的共性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0469880" cy="1417320"/>
          </a:xfrm>
          <a:prstGeom prst="roundRect">
            <a:avLst/>
          </a:prstGeom>
          <a:solidFill>
            <a:srgbClr val="061E3A"/>
          </a:solidFill>
          <a:ln w="17780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yle_crop_robot_arm_2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618488"/>
            <a:ext cx="2057400" cy="10241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15568" y="2331720"/>
            <a:ext cx="2057400" cy="310896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5" y="2414016"/>
            <a:ext cx="1837943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F5FAFF"/>
                </a:solidFill>
                <a:latin typeface="Microsoft YaHei"/>
              </a:rPr>
              <a:t>目标、障碍与动作安全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568" y="1618488"/>
            <a:ext cx="2057400" cy="1024128"/>
          </a:xfrm>
          <a:prstGeom prst="rect">
            <a:avLst/>
          </a:prstGeom>
          <a:noFill/>
          <a:ln w="12700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002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65F0B4"/>
                </a:solidFill>
                <a:latin typeface="Microsoft YaHei"/>
              </a:rPr>
              <a:t>机器人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18488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AFF"/>
                </a:solidFill>
                <a:latin typeface="Microsoft YaHei"/>
              </a:rPr>
              <a:t>组合动作需要安全过滤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94767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对象编码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947672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自身、障碍物、目标物分离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194560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组合动作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194560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离散技能 + 连续控制参数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441448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441448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越界或异常动作回退到安全动作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562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5F0B4"/>
                </a:solidFill>
                <a:latin typeface="Microsoft YaHei"/>
              </a:rPr>
              <a:t>机械臂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848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5F0B4"/>
                </a:solidFill>
                <a:latin typeface="Microsoft YaHei"/>
              </a:rPr>
              <a:t>足式机器人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134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5F0B4"/>
                </a:solidFill>
                <a:latin typeface="Microsoft YaHei"/>
              </a:rPr>
              <a:t>四旋翼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420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5F0B4"/>
                </a:solidFill>
                <a:latin typeface="Microsoft YaHei"/>
              </a:rPr>
              <a:t>移动抓取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456432"/>
            <a:ext cx="10469880" cy="1417320"/>
          </a:xfrm>
          <a:prstGeom prst="roundRect">
            <a:avLst/>
          </a:prstGeom>
          <a:solidFill>
            <a:srgbClr val="061E3A"/>
          </a:solidFill>
          <a:ln w="1778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5568" y="3657600"/>
            <a:ext cx="2057400" cy="1024128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3584" y="3767328"/>
            <a:ext cx="180136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7C5CFF"/>
                </a:solidFill>
                <a:latin typeface="Microsoft YaHei"/>
              </a:rPr>
              <a:t>RLHF 对齐闭环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98448" y="4096512"/>
            <a:ext cx="74980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4160520"/>
            <a:ext cx="74980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Prompt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04288" y="4096512"/>
            <a:ext cx="74980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04288" y="4160520"/>
            <a:ext cx="74980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04288" y="4599432"/>
            <a:ext cx="74980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04288" y="4663440"/>
            <a:ext cx="74980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Feedback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98448" y="4599432"/>
            <a:ext cx="74980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98448" y="4663440"/>
            <a:ext cx="74980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Value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048256" y="4233672"/>
            <a:ext cx="256032" cy="0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79191" y="4370832"/>
            <a:ext cx="0" cy="228600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048256" y="4736592"/>
            <a:ext cx="256032" cy="0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673352" y="4370832"/>
            <a:ext cx="0" cy="228600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429000" y="363931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C5CFF"/>
                </a:solidFill>
                <a:latin typeface="Microsoft YaHei"/>
              </a:rPr>
              <a:t>RLHF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365760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AFF"/>
                </a:solidFill>
                <a:latin typeface="Microsoft YaHei"/>
              </a:rPr>
              <a:t>价值头可对应多维对齐目标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6432" y="3986783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多价值头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3986783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Helpfulness / Safety / Honesty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4233671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KL 监控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233671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限制策略偏离初始模型过远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56432" y="4480559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诊断体系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4480559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分别观察各目标收益与冲突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38953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C5CFF"/>
                </a:solidFill>
                <a:latin typeface="Microsoft YaHei"/>
              </a:rPr>
              <a:t>大模型对齐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1239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C5CFF"/>
                </a:solidFill>
                <a:latin typeface="Microsoft YaHei"/>
              </a:rPr>
              <a:t>人类反馈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3525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C5CFF"/>
                </a:solidFill>
                <a:latin typeface="Microsoft YaHei"/>
              </a:rPr>
              <a:t>安全约束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5811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C5CFF"/>
                </a:solidFill>
                <a:latin typeface="Microsoft YaHei"/>
              </a:rPr>
              <a:t>偏好学习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833872"/>
            <a:ext cx="8686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50" b="1">
                <a:solidFill>
                  <a:srgbClr val="F5FAFF"/>
                </a:solidFill>
                <a:latin typeface="Microsoft YaHei"/>
              </a:rPr>
              <a:t>对抗场景迁移重点：对手建模、历史采样与安全兜底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0469880" cy="1417320"/>
          </a:xfrm>
          <a:prstGeom prst="roundRect">
            <a:avLst/>
          </a:prstGeom>
          <a:solidFill>
            <a:srgbClr val="061E3A"/>
          </a:solidFill>
          <a:ln w="1778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yle_crop_esports_20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1618488"/>
            <a:ext cx="2057400" cy="10241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15568" y="2331720"/>
            <a:ext cx="2057400" cy="310896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5" y="2414016"/>
            <a:ext cx="1837943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F5FAFF"/>
                </a:solidFill>
                <a:latin typeface="Microsoft YaHei"/>
              </a:rPr>
              <a:t>自博弈与历史策略对抗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568" y="1618488"/>
            <a:ext cx="2057400" cy="1024128"/>
          </a:xfrm>
          <a:prstGeom prst="rect">
            <a:avLst/>
          </a:prstGeom>
          <a:noFill/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002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B84D"/>
                </a:solidFill>
                <a:latin typeface="Microsoft YaHei"/>
              </a:rPr>
              <a:t>游戏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18488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AFF"/>
                </a:solidFill>
                <a:latin typeface="Microsoft YaHei"/>
              </a:rPr>
              <a:t>从 1v1 推塔扩展到多类型对抗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94767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Selfplay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947672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通过历史模型缓解策略遗忘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194560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数值分桶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194560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血量、弹药、技能 CD 等阶段信号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441448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零和奖励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441448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目标天然对抗，适合差分反馈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562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B84D"/>
                </a:solidFill>
                <a:latin typeface="Microsoft YaHei"/>
              </a:rPr>
              <a:t>MOBA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848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B84D"/>
                </a:solidFill>
                <a:latin typeface="Microsoft YaHei"/>
              </a:rPr>
              <a:t>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134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B84D"/>
                </a:solidFill>
                <a:latin typeface="Microsoft YaHei"/>
              </a:rPr>
              <a:t>FPS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42032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B84D"/>
                </a:solidFill>
                <a:latin typeface="Microsoft YaHei"/>
              </a:rPr>
              <a:t>赛事陪练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456432"/>
            <a:ext cx="10469880" cy="1417320"/>
          </a:xfrm>
          <a:prstGeom prst="roundRect">
            <a:avLst/>
          </a:prstGeom>
          <a:solidFill>
            <a:srgbClr val="061E3A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tyle_crop_cyber_200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3657600"/>
            <a:ext cx="2057400" cy="102412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115568" y="4370832"/>
            <a:ext cx="2057400" cy="310896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25295" y="4453128"/>
            <a:ext cx="1837943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F5FAFF"/>
                </a:solidFill>
                <a:latin typeface="Microsoft YaHei"/>
              </a:rPr>
              <a:t>正常与异常流量的持续对抗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5568" y="3657600"/>
            <a:ext cx="2057400" cy="1024128"/>
          </a:xfrm>
          <a:prstGeom prst="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63931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Microsoft YaHei"/>
              </a:rPr>
              <a:t>网络安全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65760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F5FAFF"/>
                </a:solidFill>
                <a:latin typeface="Microsoft YaHei"/>
              </a:rPr>
              <a:t>检测器也需要避免低收益策略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6432" y="3986783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友敌编码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986783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正常流量与异常流量分通道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4233671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时序拓扑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233671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IP、服务、连接关系联合建模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4480559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1">
                <a:solidFill>
                  <a:srgbClr val="F5FAFF"/>
                </a:solidFill>
                <a:latin typeface="Microsoft YaHei"/>
              </a:rPr>
              <a:t>防摆烂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480559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C9D8EF"/>
                </a:solidFill>
                <a:latin typeface="Microsoft YaHei"/>
              </a:rPr>
              <a:t>避免模型长期输出“无异常”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8953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入侵检测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1239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APT 识别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3525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欺诈交易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581144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  <a:latin typeface="Microsoft YaHei"/>
              </a:rPr>
              <a:t>攻防仿真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8686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Picture 1" descr="image3.jpe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1" name="Picture 2" descr="image4.png"/>
          <p:cNvPicPr/>
          <p:nvPr/>
        </p:nvPicPr>
        <p:blipFill>
          <a:blip r:embed="rId3"/>
          <a:stretch/>
        </p:blipFill>
        <p:spPr>
          <a:xfrm>
            <a:off x="9308520" y="32904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2" name="TextBox 3"/>
          <p:cNvSpPr/>
          <p:nvPr/>
        </p:nvSpPr>
        <p:spPr>
          <a:xfrm>
            <a:off x="868680" y="132588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Tencent AI Arena Global Open Competition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Box 4"/>
          <p:cNvSpPr/>
          <p:nvPr/>
        </p:nvSpPr>
        <p:spPr>
          <a:xfrm>
            <a:off x="868680" y="1920240"/>
            <a:ext cx="3108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THANKS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Rectangle 5"/>
          <p:cNvSpPr/>
          <p:nvPr/>
        </p:nvSpPr>
        <p:spPr>
          <a:xfrm>
            <a:off x="896040" y="2670120"/>
            <a:ext cx="2697120" cy="3168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5" name="TextBox 6"/>
          <p:cNvSpPr/>
          <p:nvPr/>
        </p:nvSpPr>
        <p:spPr>
          <a:xfrm>
            <a:off x="868680" y="294444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2026 </a:t>
            </a:r>
            <a:r>
              <a:rPr lang="zh-CN" sz="13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腾讯开悟人工智能全球公开赛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Rounded Rectangle 7"/>
          <p:cNvSpPr/>
          <p:nvPr/>
        </p:nvSpPr>
        <p:spPr>
          <a:xfrm>
            <a:off x="868680" y="4160520"/>
            <a:ext cx="3977280" cy="6580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7" name="TextBox 8"/>
          <p:cNvSpPr/>
          <p:nvPr/>
        </p:nvSpPr>
        <p:spPr>
          <a:xfrm>
            <a:off x="1097280" y="4408920"/>
            <a:ext cx="3520080" cy="16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FedExing · T2600875 ·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郭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鸿毅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周德诺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古天豪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2163</Words>
  <Application>Microsoft Office PowerPoint</Application>
  <PresentationFormat>宽屏</PresentationFormat>
  <Paragraphs>382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方正粗黑宋简体</vt:lpstr>
      <vt:lpstr>微软雅黑</vt:lpstr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郭鸿毅</dc:creator>
  <dc:description>generated using python-pptx</dc:description>
  <cp:lastModifiedBy>悬 翊</cp:lastModifiedBy>
  <cp:revision>16</cp:revision>
  <dcterms:created xsi:type="dcterms:W3CDTF">2013-01-27T09:14:00Z</dcterms:created>
  <dcterms:modified xsi:type="dcterms:W3CDTF">2026-06-04T12:12:46Z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8F213B30628F49D89CD7DF8CA24C2253_12</vt:lpwstr>
  </property>
  <property fmtid="{D5CDD505-2E9C-101B-9397-08002B2CF9AE}" pid="3" name="KSOProductBuildVer">
    <vt:lpwstr>2052-12.1.0.26895</vt:lpwstr>
  </property>
  <property fmtid="{D5CDD505-2E9C-101B-9397-08002B2CF9AE}" pid="4" name="MSIP_Label_a618d1e0-f5d7-4da7-8ddd-3b83021a2c85_ActionId">
    <vt:lpwstr>88eb3e2c-d3a9-4521-bce2-d3ebd7fd66f4</vt:lpwstr>
  </property>
  <property fmtid="{D5CDD505-2E9C-101B-9397-08002B2CF9AE}" pid="5" name="MSIP_Label_a618d1e0-f5d7-4da7-8ddd-3b83021a2c85_ContentBits">
    <vt:lpwstr>0</vt:lpwstr>
  </property>
  <property fmtid="{D5CDD505-2E9C-101B-9397-08002B2CF9AE}" pid="6" name="MSIP_Label_a618d1e0-f5d7-4da7-8ddd-3b83021a2c85_Enabled">
    <vt:lpwstr>true</vt:lpwstr>
  </property>
  <property fmtid="{D5CDD505-2E9C-101B-9397-08002B2CF9AE}" pid="7" name="MSIP_Label_a618d1e0-f5d7-4da7-8ddd-3b83021a2c85_Method">
    <vt:lpwstr>Standard</vt:lpwstr>
  </property>
  <property fmtid="{D5CDD505-2E9C-101B-9397-08002B2CF9AE}" pid="8" name="MSIP_Label_a618d1e0-f5d7-4da7-8ddd-3b83021a2c85_Name">
    <vt:lpwstr>Private</vt:lpwstr>
  </property>
  <property fmtid="{D5CDD505-2E9C-101B-9397-08002B2CF9AE}" pid="9" name="MSIP_Label_a618d1e0-f5d7-4da7-8ddd-3b83021a2c85_SetDate">
    <vt:lpwstr>2026-06-04T00:48:01Z</vt:lpwstr>
  </property>
  <property fmtid="{D5CDD505-2E9C-101B-9397-08002B2CF9AE}" pid="10" name="MSIP_Label_a618d1e0-f5d7-4da7-8ddd-3b83021a2c85_SiteId">
    <vt:lpwstr>ae323139-093a-4d2a-81a6-5d334bcd9019</vt:lpwstr>
  </property>
  <property fmtid="{D5CDD505-2E9C-101B-9397-08002B2CF9AE}" pid="11" name="MSIP_Label_a618d1e0-f5d7-4da7-8ddd-3b83021a2c85_Tag">
    <vt:lpwstr>10, 3, 0, 1</vt:lpwstr>
  </property>
  <property fmtid="{D5CDD505-2E9C-101B-9397-08002B2CF9AE}" pid="12" name="Notes">
    <vt:i4>1</vt:i4>
  </property>
  <property fmtid="{D5CDD505-2E9C-101B-9397-08002B2CF9AE}" pid="13" name="PresentationFormat">
    <vt:lpwstr>宽屏</vt:lpwstr>
  </property>
  <property fmtid="{D5CDD505-2E9C-101B-9397-08002B2CF9AE}" pid="14" name="Slides">
    <vt:i4>23</vt:i4>
  </property>
</Properties>
</file>