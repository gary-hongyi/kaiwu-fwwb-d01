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29184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" y="987552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DCCE8"/>
                </a:solidFill>
                <a:latin typeface="Microsoft YaHei"/>
              </a:rPr>
              <a:t>2026 腾讯开悟人工智能全球公开赛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5FAFF"/>
                </a:solidFill>
                <a:latin typeface="Microsoft YaHei"/>
              </a:rPr>
              <a:t>线下答辩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11680"/>
            <a:ext cx="4114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Microsoft YaHei"/>
              </a:rPr>
              <a:t>智能体决策算法 · 中部赛区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542032"/>
            <a:ext cx="3063240" cy="274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2880360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Microsoft YaHei"/>
              </a:rPr>
              <a:t>赛道信息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80360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D01-智能体决策算法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3209544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Microsoft YaHei"/>
              </a:rPr>
              <a:t>答辩团队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209544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FedExing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3538727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Microsoft YaHei"/>
              </a:rPr>
              <a:t>团队编号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538727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T2600875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867911"/>
            <a:ext cx="713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ADCCE8"/>
                </a:solidFill>
                <a:latin typeface="Microsoft YaHei"/>
              </a:rPr>
              <a:t>演讲人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67911"/>
            <a:ext cx="3566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郭鸿毅 · 周德诺 · 古天豪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4892040"/>
            <a:ext cx="3337560" cy="585216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0992" y="5029200"/>
            <a:ext cx="2889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让智能体识别角色、理解局势，并把策略学习聚焦到“率先推塔”。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四段式讲清：赛题、算法、创新、落地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536192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70078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E5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177393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Microsoft YaHei"/>
              </a:rPr>
              <a:t>赛题理解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249424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Microsoft YaHei"/>
              </a:rPr>
              <a:t>从绝悟发展与赛题目标出发，明确智能体应学会什么。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536192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700784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7C5CFF"/>
                </a:solidFill>
                <a:latin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3488" y="1773936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Microsoft YaHei"/>
              </a:rPr>
              <a:t>算法设计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3488" y="2249424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Microsoft YaHei"/>
              </a:rPr>
              <a:t>用网络、PPO、特征、奖励、工程五层构成训练闭环。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950208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41148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C6FF4E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8528" y="418795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Microsoft YaHei"/>
              </a:rPr>
              <a:t>创新挖掘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8528" y="4663440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Microsoft YaHei"/>
              </a:rPr>
              <a:t>解释每个设计为什么能提高样本效率和训练稳定性。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3950208"/>
            <a:ext cx="4709160" cy="15087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28816" y="41148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BE4A"/>
                </a:solidFill>
                <a:latin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418795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AFF"/>
                </a:solidFill>
                <a:latin typeface="Microsoft YaHei"/>
              </a:rPr>
              <a:t>未来展望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3488" y="4663440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ADCCE8"/>
                </a:solidFill>
                <a:latin typeface="Microsoft YaHei"/>
              </a:rPr>
              <a:t>给出可继续优化的算法/工程路线与泛化应用。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41848" y="2286000"/>
            <a:ext cx="6858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73552" y="3044952"/>
            <a:ext cx="0" cy="905256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641848" y="4700016"/>
            <a:ext cx="6858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赛题理解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绝悟从模仿学习走向自博弈与通用智能体基座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161288" y="2267712"/>
            <a:ext cx="9674352" cy="0"/>
          </a:xfrm>
          <a:prstGeom prst="line">
            <a:avLst/>
          </a:prstGeom>
          <a:ln w="1524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41248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926079"/>
            <a:ext cx="1298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监督学习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64408"/>
            <a:ext cx="129844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复刻职业操作
跻身顶尖业余</a:t>
            </a:r>
          </a:p>
        </p:txBody>
      </p:sp>
      <p:sp>
        <p:nvSpPr>
          <p:cNvPr id="14" name="Oval 13"/>
          <p:cNvSpPr/>
          <p:nvPr/>
        </p:nvSpPr>
        <p:spPr>
          <a:xfrm>
            <a:off x="2962656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2020824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2019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78608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926079"/>
            <a:ext cx="1298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自博弈强化学习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64408"/>
            <a:ext cx="129844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3 个月完成
1v1 → 5v5 进阶</a:t>
            </a:r>
          </a:p>
        </p:txBody>
      </p:sp>
      <p:sp>
        <p:nvSpPr>
          <p:cNvPr id="19" name="Oval 18"/>
          <p:cNvSpPr/>
          <p:nvPr/>
        </p:nvSpPr>
        <p:spPr>
          <a:xfrm>
            <a:off x="5084064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38927" y="2020824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2020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0016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4607" y="2926079"/>
            <a:ext cx="1298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全英雄开放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7" y="3264408"/>
            <a:ext cx="129844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高难模式
胜率 96.2%</a:t>
            </a:r>
          </a:p>
        </p:txBody>
      </p:sp>
      <p:sp>
        <p:nvSpPr>
          <p:cNvPr id="24" name="Oval 23"/>
          <p:cNvSpPr/>
          <p:nvPr/>
        </p:nvSpPr>
        <p:spPr>
          <a:xfrm>
            <a:off x="7205471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5" y="2020824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2021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21423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86015" y="2926079"/>
            <a:ext cx="1298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BP + 全局博弈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5" y="3264408"/>
            <a:ext cx="129844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BP 胜率测算
临场动态调策</a:t>
            </a:r>
          </a:p>
        </p:txBody>
      </p:sp>
      <p:sp>
        <p:nvSpPr>
          <p:cNvPr id="29" name="Oval 28"/>
          <p:cNvSpPr/>
          <p:nvPr/>
        </p:nvSpPr>
        <p:spPr>
          <a:xfrm>
            <a:off x="9326880" y="1828800"/>
            <a:ext cx="621792" cy="621792"/>
          </a:xfrm>
          <a:prstGeom prst="ellipse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81744" y="2020824"/>
            <a:ext cx="5120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>
                <a:solidFill>
                  <a:srgbClr val="00E5FF"/>
                </a:solidFill>
                <a:latin typeface="Microsoft YaHei"/>
              </a:rPr>
              <a:t>2021+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2832" y="2788920"/>
            <a:ext cx="1627632" cy="11430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2926079"/>
            <a:ext cx="12984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0ADFF"/>
                </a:solidFill>
                <a:latin typeface="Microsoft YaHei"/>
              </a:rPr>
              <a:t>跨场景基座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7424" y="3264408"/>
            <a:ext cx="1298448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F5FAFF"/>
                </a:solidFill>
                <a:latin typeface="Microsoft YaHei"/>
              </a:rPr>
              <a:t>从游戏到产业
多智能体泛化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9848" y="497433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C6FF4E"/>
                </a:solidFill>
                <a:latin typeface="Microsoft YaHei"/>
              </a:rPr>
              <a:t>96.2%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9848" y="53218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Microsoft YaHei"/>
              </a:rPr>
              <a:t>2020 高难模式胜率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63240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0" y="497433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00E5FF"/>
                </a:solidFill>
                <a:latin typeface="Microsoft YaHei"/>
              </a:rPr>
              <a:t>3个月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3218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Microsoft YaHei"/>
              </a:rPr>
              <a:t>从 1v1 到 5v5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93792" y="4864608"/>
            <a:ext cx="1828800" cy="786384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30952" y="4974336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7C5CFF"/>
                </a:solidFill>
                <a:latin typeface="Microsoft YaHei"/>
              </a:rPr>
              <a:t>BP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0952" y="532180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F5FAFF"/>
                </a:solidFill>
                <a:latin typeface="Microsoft YaHei"/>
              </a:rPr>
              <a:t>临场动态决策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52360" y="4800600"/>
            <a:ext cx="363931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62672" y="496519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Microsoft YaHei"/>
              </a:rPr>
              <a:t>答辩切入点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2672" y="5248656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AFF"/>
                </a:solidFill>
                <a:latin typeface="Microsoft YaHei"/>
              </a:rPr>
              <a:t>本项目聚焦在算力受限场景下，如何让智能体更快形成“角色感知 + 推塔导向”的有效策略。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赛题理解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核心目标不是“会动”，而是围绕推塔目标形成可迁移策略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325880"/>
            <a:ext cx="10607040" cy="9144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5727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  <a:latin typeface="Microsoft YaHei"/>
              </a:rPr>
              <a:t>训练目标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499616"/>
            <a:ext cx="87325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5FAFF"/>
                </a:solidFill>
                <a:latin typeface="Microsoft YaHei"/>
              </a:rPr>
              <a:t>让 agent 在训练中逐渐感知英雄身份、理解游戏特性，并把操作选择收敛到“率先推掉敌方第一座塔”。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基本操作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218688"/>
            <a:ext cx="282549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Microsoft YaHei"/>
              </a:rPr>
              <a:t>开局走中、保持距离、减少受控与被击、残血撤退、跟随兵线进塔。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8620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进阶博弈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218688"/>
            <a:ext cx="282549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Microsoft YaHei"/>
              </a:rPr>
              <a:t>技能连招、释放时机、拿血包、打野怪、越塔强杀、塔外磨塔、硬推塔。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2743200"/>
            <a:ext cx="3154680" cy="13258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862072"/>
            <a:ext cx="28254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现实约束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218688"/>
            <a:ext cx="2825496" cy="7589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06192F"/>
                </a:solidFill>
                <a:latin typeface="Microsoft YaHei"/>
              </a:rPr>
              <a:t>算力与时间有限，设计必须提升训练效率，并平衡效果、稳定性与可复现。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23160" y="4069080"/>
            <a:ext cx="0" cy="82296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8" y="4069080"/>
            <a:ext cx="0" cy="82296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784080" y="4069080"/>
            <a:ext cx="0" cy="822960"/>
          </a:xfrm>
          <a:prstGeom prst="line">
            <a:avLst/>
          </a:prstGeom>
          <a:ln w="17780">
            <a:solidFill>
              <a:srgbClr val="FF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011680" y="4892040"/>
            <a:ext cx="8138160" cy="749808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0" y="5102352"/>
            <a:ext cx="7589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6FF4E"/>
                </a:solidFill>
                <a:latin typeface="Microsoft YaHei"/>
              </a:rPr>
              <a:t>设计原则：把先验知识写进观测、动作偏置、奖励分组和训练工程，而不是只堆训练轮次。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五层闭环把 PPO 从“能训练”推进到“可诊断、可恢复、可扩展”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359152" y="1892808"/>
            <a:ext cx="3712464" cy="1170432"/>
          </a:xfrm>
          <a:prstGeom prst="line">
            <a:avLst/>
          </a:prstGeom>
          <a:ln w="1270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6071616" y="1892808"/>
            <a:ext cx="3465576" cy="1170432"/>
          </a:xfrm>
          <a:prstGeom prst="line">
            <a:avLst/>
          </a:prstGeom>
          <a:ln w="1270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359152" y="3063240"/>
            <a:ext cx="3712464" cy="1673352"/>
          </a:xfrm>
          <a:prstGeom prst="line">
            <a:avLst/>
          </a:prstGeom>
          <a:ln w="12700">
            <a:solidFill>
              <a:srgbClr val="00A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6071616" y="3063240"/>
            <a:ext cx="3465576" cy="1673352"/>
          </a:xfrm>
          <a:prstGeom prst="line">
            <a:avLst/>
          </a:prstGeom>
          <a:ln w="12700">
            <a:solidFill>
              <a:srgbClr val="FFBE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221224" y="3063240"/>
            <a:ext cx="850392" cy="2240280"/>
          </a:xfrm>
          <a:prstGeom prst="line">
            <a:avLst/>
          </a:prstGeom>
          <a:ln w="1270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Hexagon 12"/>
          <p:cNvSpPr/>
          <p:nvPr/>
        </p:nvSpPr>
        <p:spPr>
          <a:xfrm>
            <a:off x="4681728" y="2331720"/>
            <a:ext cx="2788920" cy="1463040"/>
          </a:xfrm>
          <a:prstGeom prst="hexagon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679192"/>
            <a:ext cx="19202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C6FF4E"/>
                </a:solidFill>
                <a:latin typeface="Microsoft YaHei"/>
              </a:rPr>
              <a:t>高效 PPO
智能体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1417320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1554480"/>
            <a:ext cx="25511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E5FF"/>
                </a:solidFill>
                <a:latin typeface="Microsoft YaHei"/>
              </a:rPr>
              <a:t>网络架构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1892808"/>
            <a:ext cx="25511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MLP + LSTM + Multi-Head Output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417320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1" y="1554480"/>
            <a:ext cx="25511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7C5CFF"/>
                </a:solidFill>
                <a:latin typeface="Microsoft YaHei"/>
              </a:rPr>
              <a:t>PPO 核心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1" y="1892808"/>
            <a:ext cx="25511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Clip + 熵正则 + 梯度裁剪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261104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4398264"/>
            <a:ext cx="25511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0ADFF"/>
                </a:solidFill>
                <a:latin typeface="Microsoft YaHei"/>
              </a:rPr>
              <a:t>特征工程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4736592"/>
            <a:ext cx="25511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Obs Builder：位置/数值/实体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261104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7031" y="4398264"/>
            <a:ext cx="25511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FBE4A"/>
                </a:solidFill>
                <a:latin typeface="Microsoft YaHei"/>
              </a:rPr>
              <a:t>奖励设计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4736592"/>
            <a:ext cx="25511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Reward Groups + 零和机制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76472" y="4828032"/>
            <a:ext cx="2880360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41063" y="4965192"/>
            <a:ext cx="255117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C6FF4E"/>
                </a:solidFill>
                <a:latin typeface="Microsoft YaHei"/>
              </a:rPr>
              <a:t>系统工程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41063" y="5303520"/>
            <a:ext cx="2551176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F5FAFF"/>
                </a:solidFill>
                <a:latin typeface="Microsoft YaHei"/>
              </a:rPr>
              <a:t>Workflow + Config + 监控 + 断点恢复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网络架构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实体专属编码 + 时序公共特征 + 多头输出，让策略同时理解对象与目标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1343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Microsoft YaHei"/>
              </a:rPr>
              <a:t>5类实体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66090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英雄 / 小兵 / 塔
子弹 / 河道蟹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30552" y="2807208"/>
            <a:ext cx="356616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87168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5184" y="231343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ADFF"/>
                </a:solidFill>
                <a:latin typeface="Microsoft YaHei"/>
              </a:rPr>
              <a:t>专属 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66090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32–128 维
友敌独立 FC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04488" y="2807208"/>
            <a:ext cx="356616" cy="0"/>
          </a:xfrm>
          <a:prstGeom prst="line">
            <a:avLst/>
          </a:prstGeom>
          <a:ln w="17780">
            <a:solidFill>
              <a:srgbClr val="00A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61104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31343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7C5CFF"/>
                </a:solidFill>
                <a:latin typeface="Microsoft YaHei"/>
              </a:rPr>
              <a:t>时序融合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266090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Concat → LN
LSTM(512) → LN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78424" y="2807208"/>
            <a:ext cx="356616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035040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231343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C6FF4E"/>
                </a:solidFill>
                <a:latin typeface="Microsoft YaHei"/>
              </a:rPr>
              <a:t>公共特征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266090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dim_public
256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52360" y="2807208"/>
            <a:ext cx="356615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808975" y="2148840"/>
            <a:ext cx="1417320" cy="13258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2313432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BE4A"/>
                </a:solidFill>
                <a:latin typeface="Microsoft YaHei"/>
              </a:rPr>
              <a:t>输出头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2660904"/>
            <a:ext cx="11704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0">
                <a:solidFill>
                  <a:srgbClr val="F5FAFF"/>
                </a:solidFill>
                <a:latin typeface="Microsoft YaHei"/>
              </a:rPr>
              <a:t>5 Value 头
6维组合动作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1783080"/>
            <a:ext cx="1783080" cy="19659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1920240"/>
            <a:ext cx="1453895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>
                <a:solidFill>
                  <a:srgbClr val="C6FF4E"/>
                </a:solidFill>
                <a:latin typeface="Microsoft YaHei"/>
              </a:rPr>
              <a:t>动作先验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258568"/>
            <a:ext cx="1453895" cy="1362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F5FAFF"/>
                </a:solidFill>
                <a:latin typeface="Microsoft YaHei"/>
              </a:rPr>
              <a:t>Target Embedding + 动态 Bias：基于血量、距离、存在性在 logits 注入偏好，冷启动更快。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663440"/>
            <a:ext cx="9966960" cy="7132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4168" y="489204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E5FF"/>
                </a:solidFill>
                <a:latin typeface="Microsoft YaHei"/>
              </a:rPr>
              <a:t>关键收益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846320"/>
            <a:ext cx="8458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F5FAFF"/>
                </a:solidFill>
                <a:latin typeface="Microsoft YaHei"/>
              </a:rPr>
              <a:t>友敌语义分离避免参数互相干扰；多任务价值头让 farm / kda / damage / push / state 可分项诊断。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PPO 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PPO 更新被做成有护栏的闭环：限制步长、保留探索、监控崩溃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975104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00E5FF"/>
                </a:solidFill>
                <a:latin typeface="Microsoft YaHei"/>
              </a:rPr>
              <a:t>Clip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350008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ε = 0.2
约束策略更新幅度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18103" y="2432304"/>
            <a:ext cx="4572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75303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1975104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7C5CFF"/>
                </a:solidFill>
                <a:latin typeface="Microsoft YaHei"/>
              </a:rPr>
              <a:t>熵正则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350008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var_beta 0.005 → 0
线性退火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07023" y="2432304"/>
            <a:ext cx="457200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64224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1975104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C6FF4E"/>
                </a:solidFill>
                <a:latin typeface="Microsoft YaHei"/>
              </a:rPr>
              <a:t>梯度护栏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50008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梯度裁剪 + Adam
1e-4 → 5e-5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95944" y="2432304"/>
            <a:ext cx="4572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53143" y="1783080"/>
            <a:ext cx="2331720" cy="129844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5" y="1975104"/>
            <a:ext cx="19933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50" b="1">
                <a:solidFill>
                  <a:srgbClr val="FFBE4A"/>
                </a:solidFill>
                <a:latin typeface="Microsoft YaHei"/>
              </a:rPr>
              <a:t>监控恢复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1" y="2350008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KL 散度 + Adam state
断点续训不重置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" y="3977639"/>
            <a:ext cx="4846320" cy="114300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2062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Microsoft YaHei"/>
              </a:rPr>
              <a:t>多任务优势融合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53712"/>
            <a:ext cx="418795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F5FAFF"/>
                </a:solidFill>
                <a:latin typeface="Microsoft YaHei"/>
              </a:rPr>
              <a:t>5 个 Value 头独立计算 Advantage，再按权重融合，减少单一价值函数对多目标任务的拉扯。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7648" y="3977639"/>
            <a:ext cx="4800600" cy="114300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206240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Microsoft YaHei"/>
              </a:rPr>
              <a:t>训练安全性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65392" y="4553712"/>
            <a:ext cx="409651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F5FAFF"/>
                </a:solidFill>
                <a:latin typeface="Microsoft YaHei"/>
              </a:rPr>
              <a:t>KL 双侧截断 ratio.clamp(0,3)，配合梯度与熵退火监控，提前发现策略崩溃。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Obs Builder 同时保留局部关系、全局地图语义与连续数值细节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64792"/>
            <a:ext cx="2779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双重位置编码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121408"/>
            <a:ext cx="277977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相对位置：41 桶 + 归一化
全局位置：30 桶 + 残差
兼顾局部对位与地图控制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0016" y="1764792"/>
            <a:ext cx="2779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数值分桶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2121408"/>
            <a:ext cx="277977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HP / EP / Money / CD
离散桶 + 比例值 + 边界
保留阶段语义与连续信息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645920"/>
            <a:ext cx="310896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764792"/>
            <a:ext cx="2779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维度组织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7" y="2121408"/>
            <a:ext cx="277977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英雄特征约 270 维
总特征约 1500 维
含行为 / 技能CD / buff / 位置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4434840"/>
            <a:ext cx="9555480" cy="86868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72768" y="471830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Microsoft YaHei"/>
              </a:rPr>
              <a:t>设计取舍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654296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Microsoft YaHei"/>
              </a:rPr>
              <a:t>特征不是简单堆维度，而是把“距离、阶段、节奏”拆成网络容易学习的稳定信号。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奖励设计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21 项奖励被压缩成 5 组可诊断目标，并通过零和差分对齐对抗任务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5" y="1773936"/>
            <a:ext cx="1335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E5FF"/>
                </a:solidFill>
                <a:latin typeface="Microsoft YaHei"/>
              </a:rPr>
              <a:t>farm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212140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经济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5808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1773936"/>
            <a:ext cx="1335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7C5CFF"/>
                </a:solidFill>
                <a:latin typeface="Microsoft YaHei"/>
              </a:rPr>
              <a:t>kda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12140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战斗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93792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A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8383" y="1773936"/>
            <a:ext cx="1335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ADFF"/>
                </a:solidFill>
                <a:latin typeface="Microsoft YaHei"/>
              </a:rPr>
              <a:t>damage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8383" y="212140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伤害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1773936"/>
            <a:ext cx="1335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6FF4E"/>
                </a:solidFill>
                <a:latin typeface="Microsoft YaHei"/>
              </a:rPr>
              <a:t>push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7" y="212140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推进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59" y="1572768"/>
            <a:ext cx="1664208" cy="102412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74351" y="1773936"/>
            <a:ext cx="13350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BE4A"/>
                </a:solidFill>
                <a:latin typeface="Microsoft YaHei"/>
              </a:rPr>
              <a:t>state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74351" y="2121408"/>
            <a:ext cx="13350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F5FAFF"/>
                </a:solidFill>
                <a:latin typeface="Microsoft YaHei"/>
              </a:rPr>
              <a:t>状态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310128"/>
            <a:ext cx="4846320" cy="12801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17320" y="358444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Microsoft YaHei"/>
              </a:rPr>
              <a:t>零和机制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3502152"/>
            <a:ext cx="32461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FAFF"/>
                </a:solidFill>
                <a:latin typeface="Microsoft YaHei"/>
              </a:rPr>
              <a:t>我方得分 - 敌方得分 = 最终奖励
一阶差分作为本帧奖励增量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310128"/>
            <a:ext cx="4526280" cy="12801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358444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C6FF4E"/>
                </a:solidFill>
                <a:latin typeface="Microsoft YaHei"/>
              </a:rPr>
              <a:t>关键权重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456432"/>
            <a:ext cx="150876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98664" y="3488436"/>
            <a:ext cx="1399031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C6FF4E"/>
                </a:solidFill>
                <a:latin typeface="Microsoft YaHei"/>
              </a:rPr>
              <a:t>tower_hp_point 5.0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3456432"/>
            <a:ext cx="100584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584" y="3488436"/>
            <a:ext cx="8961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00E5FF"/>
                </a:solidFill>
                <a:latin typeface="Microsoft YaHei"/>
              </a:rPr>
              <a:t>win_loss 2.0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43800" y="3913632"/>
            <a:ext cx="114300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3945636"/>
            <a:ext cx="1033271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7C5CFF"/>
                </a:solidFill>
                <a:latin typeface="Microsoft YaHei"/>
              </a:rPr>
              <a:t>hp_point 2.0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7968" y="3913632"/>
            <a:ext cx="100584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2832" y="3945636"/>
            <a:ext cx="8961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FFBE4A"/>
                </a:solidFill>
                <a:latin typeface="Microsoft YaHei"/>
              </a:rPr>
              <a:t>death -1.2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193792"/>
            <a:ext cx="9692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5FAFF"/>
                </a:solidFill>
                <a:latin typeface="Microsoft YaHei"/>
              </a:rPr>
              <a:t>推进目标成为最强信号，战斗与状态奖励服务于推塔，而不是相互抢目标。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算法设计 · 系统工程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训练工程把模型迭代、对手采样、监控和恢复做成稳定流水线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965960"/>
            <a:ext cx="2002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Microsoft YaHei"/>
              </a:rPr>
              <a:t>对手池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304288"/>
            <a:ext cx="2002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85% selfplay
15% common_ai
30% 历史模型采样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08960" y="2633472"/>
            <a:ext cx="457200" cy="0"/>
          </a:xfrm>
          <a:prstGeom prst="line">
            <a:avLst/>
          </a:prstGeom>
          <a:ln w="17780">
            <a:solidFill>
              <a:srgbClr val="00E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965960"/>
            <a:ext cx="2002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Microsoft YaHei"/>
              </a:rPr>
              <a:t>训练循环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304288"/>
            <a:ext cx="2002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PPO 更新
多头价值诊断
合法动作比例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79" y="2633472"/>
            <a:ext cx="457200" cy="0"/>
          </a:xfrm>
          <a:prstGeom prst="line">
            <a:avLst/>
          </a:prstGeom>
          <a:ln w="17780">
            <a:solidFill>
              <a:srgbClr val="7C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79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1" y="1965960"/>
            <a:ext cx="2002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6FF4E"/>
                </a:solidFill>
                <a:latin typeface="Microsoft YaHei"/>
              </a:rPr>
              <a:t>60s 监控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1" y="2304288"/>
            <a:ext cx="2002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value_loss
KL / gradient_norm
var_beta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0" y="2633472"/>
            <a:ext cx="457200" cy="0"/>
          </a:xfrm>
          <a:prstGeom prst="line">
            <a:avLst/>
          </a:prstGeom>
          <a:ln w="17780">
            <a:solidFill>
              <a:srgbClr val="C6FF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3999" y="1828800"/>
            <a:ext cx="2331720" cy="1609344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1" y="1965960"/>
            <a:ext cx="20025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FBE4A"/>
                </a:solidFill>
                <a:latin typeface="Microsoft YaHei"/>
              </a:rPr>
              <a:t>断点恢复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1" y="2304288"/>
            <a:ext cx="2002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Disaster Recovery
崩溃续接
退火进度安全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4440" y="4526280"/>
            <a:ext cx="9674352" cy="822960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9616" y="47914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  <a:latin typeface="Microsoft YaHei"/>
              </a:rPr>
              <a:t>核心亮点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4736592"/>
            <a:ext cx="8046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20" b="1">
                <a:solidFill>
                  <a:srgbClr val="F5FAFF"/>
                </a:solidFill>
                <a:latin typeface="Microsoft YaHei"/>
              </a:rPr>
              <a:t>多任务 Value 头 + 友敌独立编码 + 双重位置编码 + 零和奖励 + Resume 安全退火。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网络架构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网络创新的核心，是把“对谁、在哪里、打谁”写进结构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72768"/>
            <a:ext cx="3310128" cy="214884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691640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友敌独立 FC 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048256"/>
            <a:ext cx="2980944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友方低血量意味着撤退，敌方低血量意味着追击；语义对称但行为相反，共享参数会互相干扰。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572768"/>
            <a:ext cx="3310128" cy="214884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91640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双重位置编码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048256"/>
            <a:ext cx="2980944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相对位置学习对位关系，全局位置学习地图控制；两套语义互补，避免单一编码偏置。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572768"/>
            <a:ext cx="3310128" cy="214884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91640"/>
            <a:ext cx="29809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动态 Target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048256"/>
            <a:ext cx="2980944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在 logits 中加入“血量低 + 距离近”先验偏置，冷启动阶段更容易探索有效攻击对象。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74519" y="4663440"/>
            <a:ext cx="8458200" cy="74980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4910328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BE4A"/>
                </a:solidFill>
                <a:latin typeface="Microsoft YaHei"/>
              </a:rPr>
              <a:t>这一页的判断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855464"/>
            <a:ext cx="6492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0">
                <a:solidFill>
                  <a:srgbClr val="F5FAFF"/>
                </a:solidFill>
                <a:latin typeface="Microsoft YaHei"/>
              </a:rPr>
              <a:t>不是只换网络层，而是减少策略在早期探索中“试错到正确语义”的成本。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PPO 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训练稳定性的创新，在于把崩溃前兆变成可观测信号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508760"/>
            <a:ext cx="3246120" cy="16002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19"/>
            <a:ext cx="29169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1">
                <a:solidFill>
                  <a:srgbClr val="00E5FF"/>
                </a:solidFill>
                <a:latin typeface="Microsoft YaHei"/>
              </a:rPr>
              <a:t>KL + 梯度联合监控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2916936" cy="99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同步观察策略变化幅度与梯度规模，比只看 loss 更早暴露训练崩溃。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508760"/>
            <a:ext cx="3246120" cy="16002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45919"/>
            <a:ext cx="29169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1">
                <a:solidFill>
                  <a:srgbClr val="7C5CFF"/>
                </a:solidFill>
                <a:latin typeface="Microsoft YaHei"/>
              </a:rPr>
              <a:t>Resume 安全熵退火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984248"/>
            <a:ext cx="2916936" cy="99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全局步从 Adam state 读取，断点续训不会重置退火进度，避免破坏已收敛策略。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508760"/>
            <a:ext cx="3246120" cy="16002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19"/>
            <a:ext cx="291693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60" b="1">
                <a:solidFill>
                  <a:srgbClr val="C6FF4E"/>
                </a:solidFill>
                <a:latin typeface="Microsoft YaHei"/>
              </a:rPr>
              <a:t>多任务优势融合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84248"/>
            <a:ext cx="2916936" cy="996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5FAFF"/>
                </a:solidFill>
                <a:latin typeface="Microsoft YaHei"/>
              </a:rPr>
              <a:t>5 个 Value 头独立计算 Advantage 后融合，ratio.clamp(0,3) 防止极端比值。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33856" y="4187952"/>
            <a:ext cx="9930384" cy="98755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4498848"/>
            <a:ext cx="1325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Microsoft YaHei"/>
              </a:rPr>
              <a:t>答辩表达重点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416552"/>
            <a:ext cx="7772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0" b="1">
                <a:solidFill>
                  <a:srgbClr val="F5FAFF"/>
                </a:solidFill>
                <a:latin typeface="Microsoft YaHei"/>
              </a:rPr>
              <a:t>我们没有把 PPO 当黑盒，而是把策略更新、探索退火、梯度健康度和断点恢复都纳入工程闭环。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特征工程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特征创新用“双通道”保留阶段语义和连续细节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417320"/>
            <a:ext cx="1031443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66420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00E5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0934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1">
                <a:solidFill>
                  <a:srgbClr val="00E5FF"/>
                </a:solidFill>
                <a:latin typeface="Microsoft YaHei"/>
              </a:rPr>
              <a:t>数值分桶 + 比例双编码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618488"/>
            <a:ext cx="6199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分桶保留阶段语义，比例保留连续信息；例如血量阈值与百分比同时输入。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34640"/>
            <a:ext cx="1031443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08152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7C5C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02666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1">
                <a:solidFill>
                  <a:srgbClr val="7C5CFF"/>
                </a:solidFill>
                <a:latin typeface="Microsoft YaHei"/>
              </a:rPr>
              <a:t>Money Delta 编码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035808"/>
            <a:ext cx="6199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增量比绝对值更能反映补刀/推塔行为，并保护 0&lt;delta&lt;20 的小增量信号。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251960"/>
            <a:ext cx="10314432" cy="96012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0432" y="4498848"/>
            <a:ext cx="384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C6FF4E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43984"/>
            <a:ext cx="2651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80" b="1">
                <a:solidFill>
                  <a:srgbClr val="C6FF4E"/>
                </a:solidFill>
                <a:latin typeface="Microsoft YaHei"/>
              </a:rPr>
              <a:t>兵线刷新预测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453128"/>
            <a:ext cx="61996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把下一波兵线到达时间作为显式特征，让网络预知节奏、提前布局。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奖励设计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奖励创新把稀疏胜负拆成可学习、可诊断、可反摆烂的信号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481328"/>
            <a:ext cx="324612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0020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多任务分组奖励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56816"/>
            <a:ext cx="291693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21 项原始奖励归为 5 组，对应 5 个独立 Value 头，可定位能力短板。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81328"/>
            <a:ext cx="324612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0020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零和 + 一阶差分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56816"/>
            <a:ext cx="291693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用“我方-敌方”消除绝对值膨胀，只奖励状态变化，不奖励静态占位。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81328"/>
            <a:ext cx="3246120" cy="182880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60020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防摆烂惩罚项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956816"/>
            <a:ext cx="2916936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6192F"/>
                </a:solidFill>
                <a:latin typeface="Microsoft YaHei"/>
              </a:rPr>
              <a:t>base_idle / grass_idle / tower_edge_idle 直接惩罚挂机与局部最优。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1328" y="4370832"/>
            <a:ext cx="9217152" cy="77724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4617720"/>
            <a:ext cx="8641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20" b="1">
                <a:solidFill>
                  <a:srgbClr val="F5FAFF"/>
                </a:solidFill>
                <a:latin typeface="Microsoft YaHei"/>
              </a:rPr>
              <a:t>结果：奖励函数不只是“给分”，而是在引导智能体形成推进节奏。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创新分析 · 系统工程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系统工程创新让训练过程抗遗忘、可恢复、可观测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737360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Microsoft YaHei"/>
              </a:rPr>
              <a:t>Selfplay + 历史采样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075688"/>
            <a:ext cx="296265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F5FAFF"/>
                </a:solidFill>
                <a:latin typeface="Microsoft YaHei"/>
              </a:rPr>
              <a:t>85% 最新模型 + 15% common_ai，且 30% 概率采样历史模型，缓解策略遗忘。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737360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7C5CFF"/>
                </a:solidFill>
                <a:latin typeface="Microsoft YaHei"/>
              </a:rPr>
              <a:t>断点续训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075688"/>
            <a:ext cx="296265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F5FAFF"/>
                </a:solidFill>
                <a:latin typeface="Microsoft YaHei"/>
              </a:rPr>
              <a:t>Disaster Recovery 自动处理崩溃；恢复后接续训练状态和退火进度。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600200"/>
            <a:ext cx="3291840" cy="15727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1737360"/>
            <a:ext cx="296265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6FF4E"/>
                </a:solidFill>
                <a:latin typeface="Microsoft YaHei"/>
              </a:rPr>
              <a:t>全程监控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075688"/>
            <a:ext cx="2962656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F5FAFF"/>
                </a:solidFill>
                <a:latin typeface="Microsoft YaHei"/>
              </a:rPr>
              <a:t>60 秒上报梯度、退火、KL、合法动作比例，支持训练健康度判断。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343400"/>
            <a:ext cx="8549640" cy="841248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21408" y="46177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BE4A"/>
                </a:solidFill>
                <a:latin typeface="Microsoft YaHei"/>
              </a:rPr>
              <a:t>工程价值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90672" y="4562856"/>
            <a:ext cx="6949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5FAFF"/>
                </a:solidFill>
                <a:latin typeface="Microsoft YaHei"/>
              </a:rPr>
              <a:t>在算力有限的赛题中，稳定续训和可诊断比单次训练峰值更重要。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算法优化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后续算法优化优先提升探索效率、对手采样质量与价值尺度稳定性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60020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1.1 ICM / RND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956816"/>
            <a:ext cx="2916936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Microsoft YaHei"/>
              </a:rPr>
              <a:t>内在好奇心为稀疏奖励补探索信号
算力：+30%，速度约 -25%，样本效率 2-3 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160020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1.2 PFSP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56816"/>
            <a:ext cx="2916936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Microsoft YaHei"/>
              </a:rPr>
              <a:t>按历史胜率优先采样“打不过的”模型。
算力：几乎无变化；策略提升更稳定。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81328"/>
            <a:ext cx="3246120" cy="224028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00200"/>
            <a:ext cx="29169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6192F"/>
                </a:solidFill>
                <a:latin typeface="Microsoft YaHei"/>
              </a:rPr>
              <a:t>1.3 Value Norm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956816"/>
            <a:ext cx="2916936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06192F"/>
                </a:solidFill>
                <a:latin typeface="Microsoft YaHei"/>
              </a:rPr>
              <a:t>对 5 个 Value 头做 Running Mean/Std 归一化。
算力：+5%；显著提升训练稳定性。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4709160"/>
            <a:ext cx="7973568" cy="68580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95728" y="4928616"/>
            <a:ext cx="7388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5FAFF"/>
                </a:solidFill>
                <a:latin typeface="Microsoft YaHei"/>
              </a:rPr>
              <a:t>优先级建议：先做 PFSP 与 Value Norm，再评估 ICM/RND 的额外算力收益。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工程优化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工程侧优先减少冗余计算，把有限算力换成更高吞吐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70992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共享编码器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728216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5 类实体先共享底层 Encoder，再分支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2821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20" b="1">
                <a:solidFill>
                  <a:srgbClr val="C6FF4E"/>
                </a:solidFill>
                <a:latin typeface="Microsoft YaHei"/>
              </a:rPr>
              <a:t>参数量 -40%，推理速度 1.5×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834639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03580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7C5CFF"/>
                </a:solidFill>
                <a:latin typeface="Microsoft YaHei"/>
              </a:rPr>
              <a:t>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054096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按 TD-Error 优先采样高价值 transition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5409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20" b="1">
                <a:solidFill>
                  <a:srgbClr val="C6FF4E"/>
                </a:solidFill>
                <a:latin typeface="Microsoft YaHei"/>
              </a:rPr>
              <a:t>算力 +10%，样本效率 +30-50%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160520"/>
            <a:ext cx="10469880" cy="1051560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36168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C6FF4E"/>
                </a:solidFill>
                <a:latin typeface="Microsoft YaHei"/>
              </a:rPr>
              <a:t>动态 Batching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379976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5FAFF"/>
                </a:solidFill>
                <a:latin typeface="Microsoft YaHei"/>
              </a:rPr>
              <a:t>按 LSTM 序列长度动态组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37997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20" b="1">
                <a:solidFill>
                  <a:srgbClr val="00E5FF"/>
                </a:solidFill>
                <a:latin typeface="Microsoft YaHei"/>
              </a:rPr>
              <a:t>GPU 利用率 +20%，训练速度 +30%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核心设计可迁移到推荐系统与自动驾驶的多目标决策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3619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推荐系统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92808"/>
            <a:ext cx="474573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多任务 Value 头 → CTR / 点赞 / 停留时长
友敌独立编码 → 用户 / 物品分开 Embedding
双重位置编码 → 时间戳 + 列表位置
零和差分奖励 → 点击 - 曝光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自动驾驶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8"/>
            <a:ext cx="474573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友敌独立编码 → 自车 / 他车 / 行人分通道
双重位置编码 → 相对距离 + GPS
零和差分奖励 → 安全性 - 激进性
数值分桶 → 速度 / 距离分阶段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5285232"/>
            <a:ext cx="827532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20824" y="5317236"/>
            <a:ext cx="816559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C6FF4E"/>
                </a:solidFill>
                <a:latin typeface="Microsoft YaHei"/>
              </a:rPr>
              <a:t>典型场景：短视频推荐、商品排序、城市 NOA、高速 L4、RoboTaxi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量化交易与工业控制同样需要多目标收益、风险和安全约束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3619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量化交易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92808"/>
            <a:ext cx="474573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多任务 Value 头 → 收益 / 风险 / 回撤
零和差分 → 买入 - 卖出配对奖励
熵退火 → 早期探索、后期稳定
Selfplay + 历史 → 对抗不同市场风格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工业控制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8"/>
            <a:ext cx="474573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多任务 Value 头 → 能耗 / 质量 / 设备寿命
数值分桶 → 温度 / 压力 / 流量分阶段
双重位置编码 → 传感器 + 设备拓扑
防摆烂惩罚 → 避免局部最优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1408" y="5285232"/>
            <a:ext cx="7936992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76272" y="5317236"/>
            <a:ext cx="782726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00E5FF"/>
                </a:solidFill>
                <a:latin typeface="Microsoft YaHei"/>
              </a:rPr>
              <a:t>典型场景：做市策略、智能电网、化工反应釜、半导体制造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机器人与 RLHF 的共同点，是动作安全和多目标价值对齐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3619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机器人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92808"/>
            <a:ext cx="474573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友敌独立编码 → 自身 / 障碍物 / 目标分离
双重位置编码 → 关节相对 + 末端全局位姿
组合动作空间 → 离散技能 + 连续控制参数
Fallback 修复 → 动作安全约束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大模型 RLHF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8"/>
            <a:ext cx="474573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多任务 Value 头 → Helpfulness / Harmlessness / Honesty
友敌独立编码 → 用户 prompt / 系统 prompt
数值分桶 → 文本长度 / 质量分桶
KL 散度监控 → 防止偏离 SFT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64208" y="5285232"/>
            <a:ext cx="886968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19072" y="5317236"/>
            <a:ext cx="875995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C6FF4E"/>
                </a:solidFill>
                <a:latin typeface="Microsoft YaHei"/>
              </a:rPr>
              <a:t>典型场景：机械臂抓取、足式机器人、四旋翼、ChatGPT / Claude 类 RLHF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47472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72" y="393192"/>
            <a:ext cx="24688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0E5FF"/>
                </a:solidFill>
                <a:latin typeface="Microsoft YaHei"/>
              </a:rPr>
              <a:t>未来展望 · 泛化应用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" y="6364224"/>
            <a:ext cx="502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ADCCE8"/>
                </a:solidFill>
                <a:latin typeface="Microsoft YaHe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713232"/>
            <a:ext cx="777240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AFF"/>
                </a:solidFill>
                <a:latin typeface="Microsoft YaHei"/>
              </a:rPr>
              <a:t>对抗类游戏与网络安全是最接近本赛题的迁移方向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438912"/>
            <a:ext cx="36576" cy="493776"/>
          </a:xfrm>
          <a:prstGeom prst="rect">
            <a:avLst/>
          </a:prstGeom>
          <a:solidFill>
            <a:srgbClr val="00A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C6FF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53619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游戏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892808"/>
            <a:ext cx="474573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Selfplay + 历史采样 → FPS / MOBA / RTS
数值分桶 → 血量 / 弹药 / 技能 CD
兵线刷新预测 → 资源刷新类游戏
零和奖励 → 对抗类游戏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3246120"/>
          </a:xfrm>
          <a:prstGeom prst="roundRect">
            <a:avLst/>
          </a:prstGeom>
          <a:solidFill>
            <a:srgbClr val="E1F3FF"/>
          </a:solidFill>
          <a:ln w="14604">
            <a:solidFill>
              <a:srgbClr val="FF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6192F"/>
                </a:solidFill>
                <a:latin typeface="Microsoft YaHei"/>
              </a:rPr>
              <a:t>网络安全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92808"/>
            <a:ext cx="4745736" cy="2679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06192F"/>
                </a:solidFill>
                <a:latin typeface="Microsoft YaHei"/>
              </a:rPr>
              <a:t>友敌独立编码 → 正常流量 / 异常流量
双重位置编码 → 时序 + IP 拓扑
多任务 Value 头 → 准确率 / 召回率 / 误报率
防摆烂惩罚 → 防止检测器一直“无异常”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285232"/>
            <a:ext cx="10012680" cy="256032"/>
          </a:xfrm>
          <a:prstGeom prst="roundRect">
            <a:avLst/>
          </a:prstGeom>
          <a:solidFill>
            <a:srgbClr val="0D2D52"/>
          </a:solidFill>
          <a:ln w="14604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5317236"/>
            <a:ext cx="990295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>
                <a:solidFill>
                  <a:srgbClr val="00E5FF"/>
                </a:solidFill>
                <a:latin typeface="Microsoft YaHei"/>
              </a:rPr>
              <a:t>典型场景：王者荣耀 5v5、星际争霸、Dota 2、Valorant、入侵检测、APT 识别、欺诈交易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329184"/>
            <a:ext cx="2011680" cy="70311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1325880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DCCE8"/>
                </a:solidFill>
                <a:latin typeface="Microsoft YaHei"/>
              </a:rPr>
              <a:t>Tencent AI Arena Global Open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1089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AFF"/>
                </a:solidFill>
                <a:latin typeface="Microsoft YaHei"/>
              </a:rPr>
              <a:t>THANKS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670048"/>
            <a:ext cx="2697480" cy="3200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44368"/>
            <a:ext cx="4297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Microsoft YaHei"/>
              </a:rPr>
              <a:t>2026 腾讯开悟人工智能全球公开赛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160520"/>
            <a:ext cx="3977639" cy="658368"/>
          </a:xfrm>
          <a:prstGeom prst="roundRect">
            <a:avLst/>
          </a:prstGeom>
          <a:solidFill>
            <a:srgbClr val="091E3A"/>
          </a:solidFill>
          <a:ln w="14604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370832"/>
            <a:ext cx="35204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F5FAFF"/>
                </a:solidFill>
                <a:latin typeface="Microsoft YaHei"/>
              </a:rPr>
              <a:t>FedExing · T2600875 · 郭鸿毅 / 周德诺 / 古天豪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